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fadc1c9-d67d-04d0-8783-7b5cbfa18b4f}">
          <p14:sldIdLst>
            <p14:sldId id="256"/>
            <p14:sldId id="257"/>
          </p14:sldIdLst>
        </p14:section>
        <p14:section name="01 Tentang IYKRA" id="{aff50e0c-816d-47ae-d658-df883a4a44ec}">
          <p14:sldIdLst>
            <p14:sldId id="258"/>
            <p14:sldId id="259"/>
          </p14:sldIdLst>
        </p14:section>
        <p14:section name="02 Pendahuluan" id="{bba9c23e-22e5-8cea-5634-8127026b5f9d}">
          <p14:sldIdLst>
            <p14:sldId id="260"/>
            <p14:sldId id="261"/>
            <p14:sldId id="262"/>
            <p14:sldId id="263"/>
          </p14:sldIdLst>
        </p14:section>
        <p14:section name="03 UT AI Research Accelerator" id="{42dea484-479c-a349-0fcd-05507c0102a0}">
          <p14:sldIdLst>
            <p14:sldId id="264"/>
            <p14:sldId id="265"/>
            <p14:sldId id="266"/>
            <p14:sldId id="267"/>
            <p14:sldId id="268"/>
            <p14:sldId id="269"/>
            <p14:sldId id="270"/>
            <p14:sldId id="271"/>
            <p14:sldId id="272"/>
            <p14:sldId id="273"/>
            <p14:sldId id="274"/>
            <p14:sldId id="275"/>
            <p14:sldId id="276"/>
            <p14:sldId id="277"/>
          </p14:sldIdLst>
        </p14:section>
        <p14:section name="04 Investasi" id="{bc0cb130-e60b-fd2f-2e55-a0a286c5b921}">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343B"/>
                </a:solidFill>
                <a:latin typeface="+mn-lt"/>
              </a:defRPr>
            </a:pPr>
            <a:r>
              <a:rPr sz="1300" b="0" i="0" u="none" strike="noStrike">
                <a:solidFill>
                  <a:srgbClr val="13343B"/>
                </a:solidFill>
                <a:latin typeface="+mn-lt"/>
              </a:rPr>
              <a:t>Persentase peneliti (survei global)</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6C757D"/>
            </a:solidFill>
            <a:effectLst/>
          </c:spPr>
          <c:invertIfNegative val="0"/>
          <c:dLbls>
            <c:numFmt formatCode="0&quot;%&quot;"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Menggunakan AI</c:v>
                  </c:pt>
                  <c:pt idx="1">
                    <c:v>AI untuk riset &amp; publikasi</c:v>
                  </c:pt>
                </c:lvl>
              </c:multiLvlStrCache>
            </c:multiLvlStrRef>
          </c:cat>
          <c:val>
            <c:numRef>
              <c:f>Sheet1!$B$2:$B$3</c:f>
              <c:numCache>
                <c:formatCode>General</c:formatCode>
                <c:ptCount val="2"/>
                <c:pt idx="0">
                  <c:v>57</c:v>
                </c:pt>
                <c:pt idx="1">
                  <c:v>45</c:v>
                </c:pt>
              </c:numCache>
            </c:numRef>
          </c:val>
        </c:ser>
        <c:ser>
          <c:idx val="1"/>
          <c:order val="1"/>
          <c:tx>
            <c:strRef>
              <c:f>Sheet1!$C$1</c:f>
              <c:strCache>
                <c:ptCount val="1"/>
                <c:pt idx="0">
                  <c:v>2025</c:v>
                </c:pt>
              </c:strCache>
            </c:strRef>
          </c:tx>
          <c:spPr>
            <a:solidFill>
              <a:srgbClr val="2A9D8F"/>
            </a:solidFill>
            <a:effectLst/>
          </c:spPr>
          <c:invertIfNegative val="0"/>
          <c:dLbls>
            <c:numFmt formatCode="0&quot;%&quot;"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Menggunakan AI</c:v>
                  </c:pt>
                  <c:pt idx="1">
                    <c:v>AI untuk riset &amp; publikasi</c:v>
                  </c:pt>
                </c:lvl>
              </c:multiLvlStrCache>
            </c:multiLvlStrRef>
          </c:cat>
          <c:val>
            <c:numRef>
              <c:f>Sheet1!$C$2:$C$3</c:f>
              <c:numCache>
                <c:formatCode>General</c:formatCode>
                <c:ptCount val="2"/>
                <c:pt idx="0">
                  <c:v>84</c:v>
                </c:pt>
                <c:pt idx="1">
                  <c:v>62</c:v>
                </c:pt>
              </c:numCache>
            </c:numRef>
          </c:val>
        </c:ser>
        <c:dLbls>
          <c:numFmt formatCode="0&quot;%&quot;"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Program ini adalah kelanjutan dari UT AI Career Accelerator, kini difokuskan pada riset akademik. Peserta belajar memakai Claude Code sebagai agen riset yang terhubung ke Zotero (pustaka), Scite (literatur dan konteks sitasi), dan Flourish (visualisasi) melalui MCP, secara produktif, terverifikasi, dan sesuai etika riset.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deck mengikuti proposal UT AI Career Accelerator agar mudah dibandingkan.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diambil dari proposal UT AI Career Accelerator (Januari 2026). Perbarui jika ada data terbaru.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Wiley ExplanAItions 2025, survei 2.430 peneliti (Agustus 2025). Penggunaan AI naik dari 57% (2024) ke 84% (2025); penggunaan untuk tugas riset dan publikasi naik dari 45% ke 62%. 85% merasa lebih efisien. 80% memakai tools umum seperti ChatGPT, hanya 25% pernah mencoba tools khusus riset.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Wiley ExplanAItions 2025: kekhawatiran akurasi/hallucination naik dari 51% ke 64%, privasi dan keamanan dari 47% ke 58%; 57% menyebut kurangnya pedoman dan pelatihan. Walters &amp; Wilder (2023), 'Fabrication and errors in the bibliographic citations generated by ChatGPT', Scientific Reports: 55% sitasi GPT-3.5 dan 18% sitasi GPT-4 fiktif.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Kerangka ini paralel dengan Understand–Apply–Solve–Reflect pada program karier, disesuaikan untuk siklus riset. Tahap VERIFY sengaja dibuat eksplisit karena risiko terbesar AI dalam riset adalah sumber dan angka yang tidak terverifikasi.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Strukturnya sejajar dengan program karier: assessment, fondasi, aplikasi, output, reporting. Bedanya, aplikasi dilakukan pada proyek riset nyata milik peserta.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adalah agen AI dari Anthropic yang bekerja langsung dengan file, menjalankan kode, dan terhubung ke tools lain melalui Model Context Protocol (MCP). Scite dan Flourish menyediakan connector MCP resmi untuk Claude (Scite membutuhkan langganan premium). Zotero terhubung melalui server MCP open-source yang memakai API lokal Zotero 7 atau Zotero Web API. Tools pendukung dipilih sesuai bidang dan lisensi 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Pembeda utama dari chatbot biasa: Claude Code bekerja di dalam folder proyek riset, menjalankan analisis yang bisa diulang, dan meninggalkan jejak kerja yang mendukung transparansi. Tekankan bahwa peserta non-programmer tetap bisa memakainya dengan instruksi bahasa sehari-hari.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 inti sama untuk semua jalur; kasus, contoh, dan output disesuaikan per jalur. Komposisi peserta per jalur dikonfirmasi bersama 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clinic adalah pembeda utama dari kursus AI umum: peserta membawa proyek riset sendiri dan mendapat umpan balik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butir untuk empat dimensi. Butir pengetahuan dan aplikasi disusun dalam dua versi paralel untuk baseline dan endline.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1 menyamakan fondasi. Modul integritas ditempatkan di awal, sebelum toolkit, agar praktik yang benar terbentuk sejak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sesi live (alur riset dan demo) ditambah clinic kelompok kecil per bidang. Tahap VERIFY disorot karena di sinilah AI paling sering menyesatkan.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Inti stack: Claude Code + Scite + Zotero + Flourish; tools lain ditambahkan sesuai bidang. Smart Citations Scite menunjukkan apakah sebuah paper dikutip untuk mendukung atau membantah, sehingga verifikasi bukan sekadar mengecek keberadaan sumber. Prinsipnya: AI boleh mempercepat setiap tahap, tetapi kolom kanan selalu dikerjakan oleh peneliti.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kasus untuk clinic, seluruhnya dijalankan dari satu folder proyek di Claude Code. Verifikasi dilakukan di setiap langkah: cek DOI dan Smart Citations Scite, baca ulang sampel artikel, dan cocokkan angka grafik dengan tabel. Keputusan inklusi dan interpretasi tetap milik peneliti.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3 setara dengan Career Preparation pada program karier: mengubah pengalaman menjadi output yang bernilai, di sini berupa output riset dan dokumen integritas.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COPE Position Statement 'Authorship and AI tools' (2023): AI tidak dapat dicantumkan sebagai penulis; penggunaan AI harus diungkapkan. Penerbit besar seperti Springer Nature dan Elsevier menerapkan prinsip serupa. Cek kebijakan terbaru jurnal target sebelum sesi.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dan frekuensi laporan dapat diselaraskan dengan kebutuhan LPPM 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Usulan cakupan 300 peserta adalah asumsi awal untuk diskusi; research clinic membutuhkan kelompok kecil sehingga skalanya lebih kecil dari program karier (1.000 mahasiswa). Nilai investasi sengaja belum dicantumkan. Catatan biaya: langganan Claude dan Scite Premium belum termasuk dan perlu diputuskan (disediakan UT atau oleh peserta); Zotero dan akun Flourish dasar gratis.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Usulkan pilot kecil terlebih dahulu untuk menguji materi dan mengukur dampak sebelum skala penuh.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5120640" cy="109728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
        <p:nvSpPr>
          <p:cNvPr id="4" name="Text 0"/>
          <p:cNvSpPr/>
          <p:nvPr/>
        </p:nvSpPr>
        <p:spPr>
          <a:xfrm>
            <a:off x="548640" y="4663440"/>
            <a:ext cx="6400800" cy="274320"/>
          </a:xfrm>
          <a:prstGeom prst="rect">
            <a:avLst/>
          </a:prstGeom>
          <a:noFill/>
          <a:ln/>
        </p:spPr>
        <p:txBody>
          <a:bodyPr wrap="square" lIns="0" tIns="0" rIns="0" bIns="0" rtlCol="0" anchor="ctr"/>
          <a:lstStyle/>
          <a:p>
            <a:pPr indent="0" marL="0">
              <a:buNone/>
            </a:pPr>
            <a:r>
              <a:rPr lang="en-US" sz="1000" dirty="0">
                <a:solidFill>
                  <a:schemeClr val="bg2"/>
                </a:solidFill>
              </a:rPr>
              <a:t>© 2026 PT Pusat Inovasi Nusantara (IYKRA). Confidential and proprietary.</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1005840"/>
          </a:xfrm>
          <a:prstGeom prst="rect">
            <a:avLst/>
          </a:prstGeom>
          <a:noFill/>
          <a:ln/>
        </p:spPr>
        <p:txBody>
          <a:bodyPr wrap="square" rtlCol="0"/>
          <a:lstStyle>
            <a:lvl1pPr algn="l" indent="0" marL="0">
              <a:buNone/>
              <a:defRPr lang="en-US" sz="60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title" hasCustomPrompt="1"/>
          </p:nvPr>
        </p:nvSpPr>
        <p:spPr>
          <a:xfrm>
            <a:off x="548640" y="2148840"/>
            <a:ext cx="804672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017520"/>
            <a:ext cx="73152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4663440"/>
            <a:ext cx="6400800" cy="274320"/>
          </a:xfrm>
          <a:prstGeom prst="rect">
            <a:avLst/>
          </a:prstGeom>
          <a:noFill/>
          <a:ln/>
        </p:spPr>
        <p:txBody>
          <a:bodyPr wrap="square" lIns="0" tIns="0" rIns="0" bIns="0" rtlCol="0" anchor="ctr"/>
          <a:lstStyle/>
          <a:p>
            <a:pPr indent="0" marL="0">
              <a:buNone/>
            </a:pPr>
            <a:r>
              <a:rPr lang="en-US" sz="1000" dirty="0">
                <a:solidFill>
                  <a:schemeClr val="bg2"/>
                </a:solidFill>
              </a:rPr>
              <a:t>© 2026 PT Pusat Inovasi Nusantara (IYKRA). Confidential and proprietary.</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691640"/>
            <a:ext cx="8046720" cy="54864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
        <p:nvSpPr>
          <p:cNvPr id="4" name="Text 0"/>
          <p:cNvSpPr/>
          <p:nvPr/>
        </p:nvSpPr>
        <p:spPr>
          <a:xfrm>
            <a:off x="548640" y="4663440"/>
            <a:ext cx="6400800" cy="274320"/>
          </a:xfrm>
          <a:prstGeom prst="rect">
            <a:avLst/>
          </a:prstGeom>
          <a:noFill/>
          <a:ln/>
        </p:spPr>
        <p:txBody>
          <a:bodyPr wrap="square" lIns="0" tIns="0" rIns="0" bIns="0" rtlCol="0" anchor="ctr"/>
          <a:lstStyle/>
          <a:p>
            <a:pPr indent="0" marL="0">
              <a:buNone/>
            </a:pPr>
            <a:r>
              <a:rPr lang="en-US" sz="1000" dirty="0">
                <a:solidFill>
                  <a:schemeClr val="bg2"/>
                </a:solidFill>
              </a:rPr>
              <a:t>© 2026 PT Pusat Inovasi Nusantara (IYKRA). Confidential and proprietary.</a:t>
            </a:r>
            <a:endParaRPr lang="en-US" sz="1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rtlCol="0"/>
          <a:lstStyle>
            <a:lvl1pPr algn="l" indent="0" marL="0">
              <a:buNone/>
              <a:defRPr lang="en-US" sz="1100" b="1" spc="1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457200" y="470916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 2026 PT Pusat Inovasi Nusantara (IYKRA). Confidential and proprietary.</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5.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5.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5.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371600"/>
          </a:xfrm>
          <a:prstGeom prst="rect">
            <a:avLst/>
          </a:prstGeom>
          <a:noFill/>
          <a:ln/>
        </p:spPr>
        <p:txBody>
          <a:bodyPr wrap="square" lIns="0" tIns="0" rIns="0" bIns="0" rtlCol="0" anchor="b"/>
          <a:lstStyle/>
          <a:p>
            <a:pPr algn="l" indent="0" marL="0">
              <a:buNone/>
            </a:pPr>
            <a:r>
              <a:rPr lang="en-US" sz="4000" b="1" dirty="0">
                <a:solidFill>
                  <a:schemeClr val="bg1"/>
                </a:solidFill>
              </a:rPr>
              <a:t>AI Research Accelerator</a:t>
            </a:r>
            <a:endParaRPr lang="en-US" sz="4000" dirty="0"/>
          </a:p>
        </p:txBody>
      </p:sp>
      <p:sp>
        <p:nvSpPr>
          <p:cNvPr id="3" name="Text 0"/>
          <p:cNvSpPr/>
          <p:nvPr>
            <p:ph idx="101" type="body" hasCustomPrompt="1"/>
          </p:nvPr>
        </p:nvSpPr>
        <p:spPr>
          <a:xfrm>
            <a:off x="548640" y="2743200"/>
            <a:ext cx="5120640" cy="1097280"/>
          </a:xfrm>
          <a:prstGeom prst="rect">
            <a:avLst/>
          </a:prstGeom>
          <a:noFill/>
          <a:ln/>
        </p:spPr>
        <p:txBody>
          <a:bodyPr wrap="square" lIns="0" tIns="0" rIns="0" bIns="0" rtlCol="0" anchor="t"/>
          <a:lstStyle/>
          <a:p>
            <a:pPr algn="l" indent="0" marL="0">
              <a:buNone/>
            </a:pPr>
            <a:r>
              <a:rPr lang="en-US" sz="1800" b="1" dirty="0">
                <a:solidFill>
                  <a:schemeClr val="accent1"/>
                </a:solidFill>
              </a:rPr>
              <a:t>Dari Literasi AI menuju Dampak Riset</a:t>
            </a:r>
            <a:endParaRPr lang="en-US" sz="1800" dirty="0"/>
          </a:p>
          <a:p>
            <a:pPr algn="l" indent="0" marL="0">
              <a:buNone/>
            </a:pPr>
            <a:r>
              <a:rPr lang="en-US" sz="1600" dirty="0">
                <a:solidFill>
                  <a:schemeClr val="bg1"/>
                </a:solidFill>
              </a:rPr>
              <a:t>Riset akademik dengan Claude Code, Zotero, Scite, dan Flourish</a:t>
            </a:r>
            <a:endParaRPr lang="en-US" sz="1800" dirty="0"/>
          </a:p>
          <a:p>
            <a:pPr algn="l" indent="0" marL="0">
              <a:buNone/>
            </a:pPr>
            <a:r>
              <a:rPr lang="en-US" sz="1400" dirty="0">
                <a:solidFill>
                  <a:schemeClr val="bg2"/>
                </a:solidFill>
              </a:rPr>
              <a:t>Untuk dosen, peneliti, dan mahasiswa pascasarjana Universitas Terbuka · Oktober 2026</a:t>
            </a:r>
            <a:endParaRPr lang="en-US" sz="1800" dirty="0"/>
          </a:p>
        </p:txBody>
      </p:sp>
      <p:sp>
        <p:nvSpPr>
          <p:cNvPr id="4" name="Cover motif FaMagnifyingGlass circle"/>
          <p:cNvSpPr/>
          <p:nvPr/>
        </p:nvSpPr>
        <p:spPr>
          <a:xfrm>
            <a:off x="6537960" y="914400"/>
            <a:ext cx="914400" cy="914400"/>
          </a:xfrm>
          <a:prstGeom prst="ellipse">
            <a:avLst/>
          </a:prstGeom>
          <a:solidFill>
            <a:schemeClr val="accent1"/>
          </a:solidFill>
          <a:ln/>
        </p:spPr>
      </p:sp>
      <p:pic>
        <p:nvPicPr>
          <p:cNvPr id="5" name="Cover motif FaMagnifyingGlass icon" descr="Cover motif FaMagnifyingGlass">    </p:cNvPr>
          <p:cNvPicPr>
            <a:picLocks noChangeAspect="1"/>
          </p:cNvPicPr>
          <p:nvPr/>
        </p:nvPicPr>
        <p:blipFill>
          <a:blip r:embed="rId1"/>
          <a:stretch>
            <a:fillRect/>
          </a:stretch>
        </p:blipFill>
        <p:spPr>
          <a:xfrm>
            <a:off x="6766560" y="1143000"/>
            <a:ext cx="457200" cy="457200"/>
          </a:xfrm>
          <a:prstGeom prst="rect">
            <a:avLst/>
          </a:prstGeom>
        </p:spPr>
      </p:pic>
      <p:sp>
        <p:nvSpPr>
          <p:cNvPr id="6" name="Cover motif FaBookOpen circle"/>
          <p:cNvSpPr/>
          <p:nvPr/>
        </p:nvSpPr>
        <p:spPr>
          <a:xfrm>
            <a:off x="7635240" y="1600200"/>
            <a:ext cx="914400" cy="914400"/>
          </a:xfrm>
          <a:prstGeom prst="ellipse">
            <a:avLst/>
          </a:prstGeom>
          <a:solidFill>
            <a:schemeClr val="accent1"/>
          </a:solidFill>
          <a:ln/>
        </p:spPr>
      </p:sp>
      <p:pic>
        <p:nvPicPr>
          <p:cNvPr id="7" name="Cover motif FaBookOpen icon" descr="Cover motif FaBookOpen">    </p:cNvPr>
          <p:cNvPicPr>
            <a:picLocks noChangeAspect="1"/>
          </p:cNvPicPr>
          <p:nvPr/>
        </p:nvPicPr>
        <p:blipFill>
          <a:blip r:embed="rId2"/>
          <a:stretch>
            <a:fillRect/>
          </a:stretch>
        </p:blipFill>
        <p:spPr>
          <a:xfrm>
            <a:off x="7863840" y="1828800"/>
            <a:ext cx="457200" cy="457200"/>
          </a:xfrm>
          <a:prstGeom prst="rect">
            <a:avLst/>
          </a:prstGeom>
        </p:spPr>
      </p:pic>
      <p:sp>
        <p:nvSpPr>
          <p:cNvPr id="8" name="Cover motif FaChartColumn circle"/>
          <p:cNvSpPr/>
          <p:nvPr/>
        </p:nvSpPr>
        <p:spPr>
          <a:xfrm>
            <a:off x="6537960" y="2286000"/>
            <a:ext cx="914400" cy="914400"/>
          </a:xfrm>
          <a:prstGeom prst="ellipse">
            <a:avLst/>
          </a:prstGeom>
          <a:solidFill>
            <a:schemeClr val="accent1"/>
          </a:solidFill>
          <a:ln/>
        </p:spPr>
      </p:sp>
      <p:pic>
        <p:nvPicPr>
          <p:cNvPr id="9" name="Cover motif FaChartColumn icon" descr="Cover motif FaChartColumn">    </p:cNvPr>
          <p:cNvPicPr>
            <a:picLocks noChangeAspect="1"/>
          </p:cNvPicPr>
          <p:nvPr/>
        </p:nvPicPr>
        <p:blipFill>
          <a:blip r:embed="rId3"/>
          <a:stretch>
            <a:fillRect/>
          </a:stretch>
        </p:blipFill>
        <p:spPr>
          <a:xfrm>
            <a:off x="6766560" y="2514600"/>
            <a:ext cx="457200" cy="457200"/>
          </a:xfrm>
          <a:prstGeom prst="rect">
            <a:avLst/>
          </a:prstGeom>
        </p:spPr>
      </p:pic>
      <p:sp>
        <p:nvSpPr>
          <p:cNvPr id="10" name="Cover motif FaPenNib circle"/>
          <p:cNvSpPr/>
          <p:nvPr/>
        </p:nvSpPr>
        <p:spPr>
          <a:xfrm>
            <a:off x="7635240" y="2971800"/>
            <a:ext cx="914400" cy="914400"/>
          </a:xfrm>
          <a:prstGeom prst="ellipse">
            <a:avLst/>
          </a:prstGeom>
          <a:solidFill>
            <a:schemeClr val="accent1"/>
          </a:solidFill>
          <a:ln/>
        </p:spPr>
      </p:sp>
      <p:pic>
        <p:nvPicPr>
          <p:cNvPr id="11" name="Cover motif FaPenNib icon" descr="Cover motif FaPenNib">    </p:cNvPr>
          <p:cNvPicPr>
            <a:picLocks noChangeAspect="1"/>
          </p:cNvPicPr>
          <p:nvPr/>
        </p:nvPicPr>
        <p:blipFill>
          <a:blip r:embed="rId4"/>
          <a:stretch>
            <a:fillRect/>
          </a:stretch>
        </p:blipFill>
        <p:spPr>
          <a:xfrm>
            <a:off x="7863840" y="320040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DAFTAR ISI</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Agenda</a:t>
            </a:r>
            <a:endParaRPr lang="en-US" sz="3000" dirty="0"/>
          </a:p>
        </p:txBody>
      </p:sp>
      <p:sp>
        <p:nvSpPr>
          <p:cNvPr id="4" name="Agenda card 01"/>
          <p:cNvSpPr/>
          <p:nvPr/>
        </p:nvSpPr>
        <p:spPr>
          <a:xfrm>
            <a:off x="457200" y="1325880"/>
            <a:ext cx="4023360" cy="1371600"/>
          </a:xfrm>
          <a:prstGeom prst="roundRect">
            <a:avLst>
              <a:gd name="adj" fmla="val 5333"/>
            </a:avLst>
          </a:prstGeom>
          <a:solidFill>
            <a:schemeClr val="bg2"/>
          </a:solidFill>
          <a:ln/>
        </p:spPr>
      </p:sp>
      <p:sp>
        <p:nvSpPr>
          <p:cNvPr id="5" name="Text 3"/>
          <p:cNvSpPr txBox="1"/>
          <p:nvPr/>
        </p:nvSpPr>
        <p:spPr>
          <a:xfrm>
            <a:off x="685800" y="1554480"/>
            <a:ext cx="82296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01</a:t>
            </a:r>
            <a:endParaRPr lang="en-US" sz="3200" dirty="0"/>
          </a:p>
        </p:txBody>
      </p:sp>
      <p:sp>
        <p:nvSpPr>
          <p:cNvPr id="6" name="Text 4"/>
          <p:cNvSpPr txBox="1"/>
          <p:nvPr/>
        </p:nvSpPr>
        <p:spPr>
          <a:xfrm>
            <a:off x="1600200" y="1554480"/>
            <a:ext cx="2697480" cy="365760"/>
          </a:xfrm>
          <a:prstGeom prst="rect">
            <a:avLst/>
          </a:prstGeom>
          <a:noFill/>
          <a:ln/>
        </p:spPr>
        <p:txBody>
          <a:bodyPr wrap="square" lIns="0" tIns="0" rIns="0" bIns="0" rtlCol="0" anchor="t"/>
          <a:lstStyle/>
          <a:p>
            <a:pPr indent="0" marL="0">
              <a:buNone/>
            </a:pPr>
            <a:r>
              <a:rPr lang="en-US" sz="1800" b="1" dirty="0">
                <a:solidFill>
                  <a:schemeClr val="tx2"/>
                </a:solidFill>
              </a:rPr>
              <a:t>Tentang IYKRA</a:t>
            </a:r>
            <a:endParaRPr lang="en-US" sz="1800" dirty="0"/>
          </a:p>
        </p:txBody>
      </p:sp>
      <p:sp>
        <p:nvSpPr>
          <p:cNvPr id="7" name="Text 5"/>
          <p:cNvSpPr txBox="1"/>
          <p:nvPr/>
        </p:nvSpPr>
        <p:spPr>
          <a:xfrm>
            <a:off x="1600200" y="1947672"/>
            <a:ext cx="2697480" cy="640080"/>
          </a:xfrm>
          <a:prstGeom prst="rect">
            <a:avLst/>
          </a:prstGeom>
          <a:noFill/>
          <a:ln/>
        </p:spPr>
        <p:txBody>
          <a:bodyPr wrap="square" lIns="0" tIns="0" rIns="0" bIns="0" rtlCol="0" anchor="t"/>
          <a:lstStyle/>
          <a:p>
            <a:pPr indent="0" marL="0">
              <a:buNone/>
            </a:pPr>
            <a:r>
              <a:rPr lang="en-US" sz="1400" dirty="0">
                <a:solidFill>
                  <a:schemeClr val="tx1"/>
                </a:solidFill>
              </a:rPr>
              <a:t>Kapabilitas dan pengalaman kami dalam AI dan pengembangan talenta</a:t>
            </a:r>
            <a:endParaRPr lang="en-US" sz="1400" dirty="0"/>
          </a:p>
        </p:txBody>
      </p:sp>
      <p:sp>
        <p:nvSpPr>
          <p:cNvPr id="8" name="Agenda card 02"/>
          <p:cNvSpPr/>
          <p:nvPr/>
        </p:nvSpPr>
        <p:spPr>
          <a:xfrm>
            <a:off x="4663440" y="1325880"/>
            <a:ext cx="4023360" cy="1371600"/>
          </a:xfrm>
          <a:prstGeom prst="roundRect">
            <a:avLst>
              <a:gd name="adj" fmla="val 5333"/>
            </a:avLst>
          </a:prstGeom>
          <a:solidFill>
            <a:schemeClr val="bg2"/>
          </a:solidFill>
          <a:ln/>
        </p:spPr>
      </p:sp>
      <p:sp>
        <p:nvSpPr>
          <p:cNvPr id="9" name="Text 7"/>
          <p:cNvSpPr txBox="1"/>
          <p:nvPr/>
        </p:nvSpPr>
        <p:spPr>
          <a:xfrm>
            <a:off x="4892040" y="1554480"/>
            <a:ext cx="82296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02</a:t>
            </a:r>
            <a:endParaRPr lang="en-US" sz="3200" dirty="0"/>
          </a:p>
        </p:txBody>
      </p:sp>
      <p:sp>
        <p:nvSpPr>
          <p:cNvPr id="10" name="Text 8"/>
          <p:cNvSpPr txBox="1"/>
          <p:nvPr/>
        </p:nvSpPr>
        <p:spPr>
          <a:xfrm>
            <a:off x="5806440" y="1554480"/>
            <a:ext cx="2697480" cy="365760"/>
          </a:xfrm>
          <a:prstGeom prst="rect">
            <a:avLst/>
          </a:prstGeom>
          <a:noFill/>
          <a:ln/>
        </p:spPr>
        <p:txBody>
          <a:bodyPr wrap="square" lIns="0" tIns="0" rIns="0" bIns="0" rtlCol="0" anchor="t"/>
          <a:lstStyle/>
          <a:p>
            <a:pPr indent="0" marL="0">
              <a:buNone/>
            </a:pPr>
            <a:r>
              <a:rPr lang="en-US" sz="1800" b="1" dirty="0">
                <a:solidFill>
                  <a:schemeClr val="tx2"/>
                </a:solidFill>
              </a:rPr>
              <a:t>Pendahuluan</a:t>
            </a:r>
            <a:endParaRPr lang="en-US" sz="1800" dirty="0"/>
          </a:p>
        </p:txBody>
      </p:sp>
      <p:sp>
        <p:nvSpPr>
          <p:cNvPr id="11" name="Text 9"/>
          <p:cNvSpPr txBox="1"/>
          <p:nvPr/>
        </p:nvSpPr>
        <p:spPr>
          <a:xfrm>
            <a:off x="5806440" y="1947672"/>
            <a:ext cx="2697480" cy="640080"/>
          </a:xfrm>
          <a:prstGeom prst="rect">
            <a:avLst/>
          </a:prstGeom>
          <a:noFill/>
          <a:ln/>
        </p:spPr>
        <p:txBody>
          <a:bodyPr wrap="square" lIns="0" tIns="0" rIns="0" bIns="0" rtlCol="0" anchor="t"/>
          <a:lstStyle/>
          <a:p>
            <a:pPr indent="0" marL="0">
              <a:buNone/>
            </a:pPr>
            <a:r>
              <a:rPr lang="en-US" sz="1400" dirty="0">
                <a:solidFill>
                  <a:schemeClr val="tx1"/>
                </a:solidFill>
              </a:rPr>
              <a:t>AI mengubah cara riset dilakukan, dan kesiapan peneliti tertinggal</a:t>
            </a:r>
            <a:endParaRPr lang="en-US" sz="1400" dirty="0"/>
          </a:p>
        </p:txBody>
      </p:sp>
      <p:sp>
        <p:nvSpPr>
          <p:cNvPr id="12" name="Agenda card 03"/>
          <p:cNvSpPr/>
          <p:nvPr/>
        </p:nvSpPr>
        <p:spPr>
          <a:xfrm>
            <a:off x="457200" y="2926080"/>
            <a:ext cx="4023360" cy="1371600"/>
          </a:xfrm>
          <a:prstGeom prst="roundRect">
            <a:avLst>
              <a:gd name="adj" fmla="val 5333"/>
            </a:avLst>
          </a:prstGeom>
          <a:solidFill>
            <a:schemeClr val="bg2"/>
          </a:solidFill>
          <a:ln/>
        </p:spPr>
      </p:sp>
      <p:sp>
        <p:nvSpPr>
          <p:cNvPr id="13" name="Text 11"/>
          <p:cNvSpPr txBox="1"/>
          <p:nvPr/>
        </p:nvSpPr>
        <p:spPr>
          <a:xfrm>
            <a:off x="685800" y="3154680"/>
            <a:ext cx="82296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03</a:t>
            </a:r>
            <a:endParaRPr lang="en-US" sz="3200" dirty="0"/>
          </a:p>
        </p:txBody>
      </p:sp>
      <p:sp>
        <p:nvSpPr>
          <p:cNvPr id="14" name="Text 12"/>
          <p:cNvSpPr txBox="1"/>
          <p:nvPr/>
        </p:nvSpPr>
        <p:spPr>
          <a:xfrm>
            <a:off x="1600200" y="3154680"/>
            <a:ext cx="2697480" cy="365760"/>
          </a:xfrm>
          <a:prstGeom prst="rect">
            <a:avLst/>
          </a:prstGeom>
          <a:noFill/>
          <a:ln/>
        </p:spPr>
        <p:txBody>
          <a:bodyPr wrap="square" lIns="0" tIns="0" rIns="0" bIns="0" rtlCol="0" anchor="t"/>
          <a:lstStyle/>
          <a:p>
            <a:pPr indent="0" marL="0">
              <a:buNone/>
            </a:pPr>
            <a:r>
              <a:rPr lang="en-US" sz="1800" b="1" dirty="0">
                <a:solidFill>
                  <a:schemeClr val="tx2"/>
                </a:solidFill>
              </a:rPr>
              <a:t>UT AI Research Accelerator</a:t>
            </a:r>
            <a:endParaRPr lang="en-US" sz="1800" dirty="0"/>
          </a:p>
        </p:txBody>
      </p:sp>
      <p:sp>
        <p:nvSpPr>
          <p:cNvPr id="15" name="Text 13"/>
          <p:cNvSpPr txBox="1"/>
          <p:nvPr/>
        </p:nvSpPr>
        <p:spPr>
          <a:xfrm>
            <a:off x="1600200" y="3547872"/>
            <a:ext cx="2697480" cy="640080"/>
          </a:xfrm>
          <a:prstGeom prst="rect">
            <a:avLst/>
          </a:prstGeom>
          <a:noFill/>
          <a:ln/>
        </p:spPr>
        <p:txBody>
          <a:bodyPr wrap="square" lIns="0" tIns="0" rIns="0" bIns="0" rtlCol="0" anchor="t"/>
          <a:lstStyle/>
          <a:p>
            <a:pPr indent="0" marL="0">
              <a:buNone/>
            </a:pPr>
            <a:r>
              <a:rPr lang="en-US" sz="1400" dirty="0">
                <a:solidFill>
                  <a:schemeClr val="tx1"/>
                </a:solidFill>
              </a:rPr>
              <a:t>Program dari literasi AI hingga output riset siap publikasi</a:t>
            </a:r>
            <a:endParaRPr lang="en-US" sz="1400" dirty="0"/>
          </a:p>
        </p:txBody>
      </p:sp>
      <p:sp>
        <p:nvSpPr>
          <p:cNvPr id="16" name="Agenda card 04"/>
          <p:cNvSpPr/>
          <p:nvPr/>
        </p:nvSpPr>
        <p:spPr>
          <a:xfrm>
            <a:off x="4663440" y="2926080"/>
            <a:ext cx="4023360" cy="1371600"/>
          </a:xfrm>
          <a:prstGeom prst="roundRect">
            <a:avLst>
              <a:gd name="adj" fmla="val 5333"/>
            </a:avLst>
          </a:prstGeom>
          <a:solidFill>
            <a:schemeClr val="bg2"/>
          </a:solidFill>
          <a:ln/>
        </p:spPr>
      </p:sp>
      <p:sp>
        <p:nvSpPr>
          <p:cNvPr id="17" name="Text 15"/>
          <p:cNvSpPr txBox="1"/>
          <p:nvPr/>
        </p:nvSpPr>
        <p:spPr>
          <a:xfrm>
            <a:off x="4892040" y="3154680"/>
            <a:ext cx="82296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04</a:t>
            </a:r>
            <a:endParaRPr lang="en-US" sz="3200" dirty="0"/>
          </a:p>
        </p:txBody>
      </p:sp>
      <p:sp>
        <p:nvSpPr>
          <p:cNvPr id="18" name="Text 16"/>
          <p:cNvSpPr txBox="1"/>
          <p:nvPr/>
        </p:nvSpPr>
        <p:spPr>
          <a:xfrm>
            <a:off x="5806440" y="3154680"/>
            <a:ext cx="2697480" cy="365760"/>
          </a:xfrm>
          <a:prstGeom prst="rect">
            <a:avLst/>
          </a:prstGeom>
          <a:noFill/>
          <a:ln/>
        </p:spPr>
        <p:txBody>
          <a:bodyPr wrap="square" lIns="0" tIns="0" rIns="0" bIns="0" rtlCol="0" anchor="t"/>
          <a:lstStyle/>
          <a:p>
            <a:pPr indent="0" marL="0">
              <a:buNone/>
            </a:pPr>
            <a:r>
              <a:rPr lang="en-US" sz="1800" b="1" dirty="0">
                <a:solidFill>
                  <a:schemeClr val="tx2"/>
                </a:solidFill>
              </a:rPr>
              <a:t>Investasi</a:t>
            </a:r>
            <a:endParaRPr lang="en-US" sz="1800" dirty="0"/>
          </a:p>
        </p:txBody>
      </p:sp>
      <p:sp>
        <p:nvSpPr>
          <p:cNvPr id="19" name="Text 17"/>
          <p:cNvSpPr txBox="1"/>
          <p:nvPr/>
        </p:nvSpPr>
        <p:spPr>
          <a:xfrm>
            <a:off x="5806440" y="3547872"/>
            <a:ext cx="2697480" cy="640080"/>
          </a:xfrm>
          <a:prstGeom prst="rect">
            <a:avLst/>
          </a:prstGeom>
          <a:noFill/>
          <a:ln/>
        </p:spPr>
        <p:txBody>
          <a:bodyPr wrap="square" lIns="0" tIns="0" rIns="0" bIns="0" rtlCol="0" anchor="t"/>
          <a:lstStyle/>
          <a:p>
            <a:pPr indent="0" marL="0">
              <a:buNone/>
            </a:pPr>
            <a:r>
              <a:rPr lang="en-US" sz="1400" dirty="0">
                <a:solidFill>
                  <a:schemeClr val="tx1"/>
                </a:solidFill>
              </a:rPr>
              <a:t>Skema implementasi dan cakupan program</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1005840"/>
          </a:xfrm>
          <a:prstGeom prst="rect">
            <a:avLst/>
          </a:prstGeom>
          <a:noFill/>
          <a:ln/>
        </p:spPr>
        <p:txBody>
          <a:bodyPr wrap="square" lIns="0" tIns="0" rIns="0" bIns="0"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01</a:t>
            </a:r>
            <a:endParaRPr lang="en-US" sz="6000" dirty="0"/>
          </a:p>
        </p:txBody>
      </p:sp>
      <p:sp>
        <p:nvSpPr>
          <p:cNvPr id="3" name="Text 0"/>
          <p:cNvSpPr/>
          <p:nvPr>
            <p:ph idx="101" type="title" hasCustomPrompt="1"/>
          </p:nvPr>
        </p:nvSpPr>
        <p:spPr>
          <a:xfrm>
            <a:off x="548640" y="2148840"/>
            <a:ext cx="8046720" cy="822960"/>
          </a:xfrm>
          <a:prstGeom prst="rect">
            <a:avLst/>
          </a:prstGeom>
          <a:noFill/>
          <a:ln/>
        </p:spPr>
        <p:txBody>
          <a:bodyPr wrap="square" lIns="0" tIns="0" rIns="0" bIns="0" rtlCol="0" anchor="t"/>
          <a:lstStyle/>
          <a:p>
            <a:pPr algn="l" indent="0" marL="0">
              <a:buNone/>
            </a:pPr>
            <a:r>
              <a:rPr lang="en-US" sz="3600" b="1" dirty="0">
                <a:solidFill>
                  <a:schemeClr val="bg1"/>
                </a:solidFill>
              </a:rPr>
              <a:t>Tentang IYKRA</a:t>
            </a:r>
            <a:endParaRPr lang="en-US" sz="3600" dirty="0"/>
          </a:p>
        </p:txBody>
      </p:sp>
      <p:sp>
        <p:nvSpPr>
          <p:cNvPr id="4" name="Text 0"/>
          <p:cNvSpPr/>
          <p:nvPr>
            <p:ph idx="102" type="body" hasCustomPrompt="1"/>
          </p:nvPr>
        </p:nvSpPr>
        <p:spPr>
          <a:xfrm>
            <a:off x="548640" y="3017520"/>
            <a:ext cx="7315200" cy="822960"/>
          </a:xfrm>
          <a:prstGeom prst="rect">
            <a:avLst/>
          </a:prstGeom>
          <a:noFill/>
          <a:ln/>
        </p:spPr>
        <p:txBody>
          <a:bodyPr wrap="square" lIns="0" tIns="0" rIns="0" bIns="0" rtlCol="0" anchor="t"/>
          <a:lstStyle/>
          <a:p>
            <a:pPr algn="l" indent="0" marL="0">
              <a:buNone/>
            </a:pPr>
            <a:r>
              <a:rPr lang="en-US" sz="1800" dirty="0">
                <a:solidFill>
                  <a:schemeClr val="bg2"/>
                </a:solidFill>
              </a:rPr>
              <a:t>Data, AI, dan pengembangan talenta, selalu dimulai dari kapabilitas manusia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01 · TENTANG IYKRA</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9 Tahun Membangun Talenta Data dan AI</a:t>
            </a:r>
            <a:endParaRPr lang="en-US" sz="3000" dirty="0"/>
          </a:p>
        </p:txBody>
      </p:sp>
      <p:sp>
        <p:nvSpPr>
          <p:cNvPr id="4" name="Text 2"/>
          <p:cNvSpPr txBox="1"/>
          <p:nvPr/>
        </p:nvSpPr>
        <p:spPr>
          <a:xfrm>
            <a:off x="457200" y="1280160"/>
            <a:ext cx="3840480" cy="1005840"/>
          </a:xfrm>
          <a:prstGeom prst="rect">
            <a:avLst/>
          </a:prstGeom>
          <a:noFill/>
          <a:ln/>
        </p:spPr>
        <p:txBody>
          <a:bodyPr wrap="square" lIns="0" tIns="0" rIns="0" bIns="0" rtlCol="0" anchor="t"/>
          <a:lstStyle/>
          <a:p>
            <a:pPr indent="0" marL="0">
              <a:buNone/>
            </a:pPr>
            <a:r>
              <a:rPr lang="en-US" sz="1500" dirty="0">
                <a:solidFill>
                  <a:schemeClr val="tx1"/>
                </a:solidFill>
              </a:rPr>
              <a:t>IYKRA adalah mitra solusi data, AI, dan teknologi yang membantu organisasi mengubah data menjadi insight, solusi digital, dan dampak bisnis yang terukur.</a:t>
            </a:r>
            <a:endParaRPr lang="en-US" sz="1500" dirty="0"/>
          </a:p>
        </p:txBody>
      </p:sp>
      <p:sp>
        <p:nvSpPr>
          <p:cNvPr id="5" name="Capability dot 1"/>
          <p:cNvSpPr/>
          <p:nvPr/>
        </p:nvSpPr>
        <p:spPr>
          <a:xfrm>
            <a:off x="457200" y="2468880"/>
            <a:ext cx="164592" cy="164592"/>
          </a:xfrm>
          <a:prstGeom prst="ellipse">
            <a:avLst/>
          </a:prstGeom>
          <a:solidFill>
            <a:schemeClr val="accent2"/>
          </a:solidFill>
          <a:ln/>
        </p:spPr>
      </p:sp>
      <p:sp>
        <p:nvSpPr>
          <p:cNvPr id="6" name="Text 4"/>
          <p:cNvSpPr txBox="1"/>
          <p:nvPr/>
        </p:nvSpPr>
        <p:spPr>
          <a:xfrm>
            <a:off x="777240" y="2377440"/>
            <a:ext cx="3566160" cy="347472"/>
          </a:xfrm>
          <a:prstGeom prst="rect">
            <a:avLst/>
          </a:prstGeom>
          <a:noFill/>
          <a:ln/>
        </p:spPr>
        <p:txBody>
          <a:bodyPr wrap="square" lIns="0" tIns="0" rIns="0" bIns="0" rtlCol="0" anchor="ctr"/>
          <a:lstStyle/>
          <a:p>
            <a:pPr indent="0" marL="0">
              <a:buNone/>
            </a:pPr>
            <a:r>
              <a:rPr lang="en-US" sz="1400" dirty="0">
                <a:solidFill>
                  <a:schemeClr val="tx1"/>
                </a:solidFill>
              </a:rPr>
              <a:t>Business &amp; AI Advisory</a:t>
            </a:r>
            <a:endParaRPr lang="en-US" sz="1400" dirty="0"/>
          </a:p>
        </p:txBody>
      </p:sp>
      <p:sp>
        <p:nvSpPr>
          <p:cNvPr id="7" name="Capability dot 2"/>
          <p:cNvSpPr/>
          <p:nvPr/>
        </p:nvSpPr>
        <p:spPr>
          <a:xfrm>
            <a:off x="457200" y="2898648"/>
            <a:ext cx="164592" cy="164592"/>
          </a:xfrm>
          <a:prstGeom prst="ellipse">
            <a:avLst/>
          </a:prstGeom>
          <a:solidFill>
            <a:schemeClr val="accent2"/>
          </a:solidFill>
          <a:ln/>
        </p:spPr>
      </p:sp>
      <p:sp>
        <p:nvSpPr>
          <p:cNvPr id="8" name="Text 6"/>
          <p:cNvSpPr txBox="1"/>
          <p:nvPr/>
        </p:nvSpPr>
        <p:spPr>
          <a:xfrm>
            <a:off x="777240" y="2807208"/>
            <a:ext cx="3566160" cy="347472"/>
          </a:xfrm>
          <a:prstGeom prst="rect">
            <a:avLst/>
          </a:prstGeom>
          <a:noFill/>
          <a:ln/>
        </p:spPr>
        <p:txBody>
          <a:bodyPr wrap="square" lIns="0" tIns="0" rIns="0" bIns="0" rtlCol="0" anchor="ctr"/>
          <a:lstStyle/>
          <a:p>
            <a:pPr indent="0" marL="0">
              <a:buNone/>
            </a:pPr>
            <a:r>
              <a:rPr lang="en-US" sz="1400" dirty="0">
                <a:solidFill>
                  <a:schemeClr val="tx1"/>
                </a:solidFill>
              </a:rPr>
              <a:t>Data &amp; AI Solution Delivery</a:t>
            </a:r>
            <a:endParaRPr lang="en-US" sz="1400" dirty="0"/>
          </a:p>
        </p:txBody>
      </p:sp>
      <p:sp>
        <p:nvSpPr>
          <p:cNvPr id="9" name="Capability dot 3"/>
          <p:cNvSpPr/>
          <p:nvPr/>
        </p:nvSpPr>
        <p:spPr>
          <a:xfrm>
            <a:off x="457200" y="3328416"/>
            <a:ext cx="164592" cy="164592"/>
          </a:xfrm>
          <a:prstGeom prst="ellipse">
            <a:avLst/>
          </a:prstGeom>
          <a:solidFill>
            <a:schemeClr val="accent2"/>
          </a:solidFill>
          <a:ln/>
        </p:spPr>
      </p:sp>
      <p:sp>
        <p:nvSpPr>
          <p:cNvPr id="10" name="Text 8"/>
          <p:cNvSpPr txBox="1"/>
          <p:nvPr/>
        </p:nvSpPr>
        <p:spPr>
          <a:xfrm>
            <a:off x="777240" y="3236976"/>
            <a:ext cx="3566160" cy="347472"/>
          </a:xfrm>
          <a:prstGeom prst="rect">
            <a:avLst/>
          </a:prstGeom>
          <a:noFill/>
          <a:ln/>
        </p:spPr>
        <p:txBody>
          <a:bodyPr wrap="square" lIns="0" tIns="0" rIns="0" bIns="0" rtlCol="0" anchor="ctr"/>
          <a:lstStyle/>
          <a:p>
            <a:pPr indent="0" marL="0">
              <a:buNone/>
            </a:pPr>
            <a:r>
              <a:rPr lang="en-US" sz="1400" dirty="0">
                <a:solidFill>
                  <a:schemeClr val="tx1"/>
                </a:solidFill>
              </a:rPr>
              <a:t>People &amp; Capability Development</a:t>
            </a:r>
            <a:endParaRPr lang="en-US" sz="1400" dirty="0"/>
          </a:p>
        </p:txBody>
      </p:sp>
      <p:sp>
        <p:nvSpPr>
          <p:cNvPr id="11" name="Capability dot 4"/>
          <p:cNvSpPr/>
          <p:nvPr/>
        </p:nvSpPr>
        <p:spPr>
          <a:xfrm>
            <a:off x="457200" y="3758184"/>
            <a:ext cx="164592" cy="164592"/>
          </a:xfrm>
          <a:prstGeom prst="ellipse">
            <a:avLst/>
          </a:prstGeom>
          <a:solidFill>
            <a:schemeClr val="accent2"/>
          </a:solidFill>
          <a:ln/>
        </p:spPr>
      </p:sp>
      <p:sp>
        <p:nvSpPr>
          <p:cNvPr id="12" name="Text 10"/>
          <p:cNvSpPr txBox="1"/>
          <p:nvPr/>
        </p:nvSpPr>
        <p:spPr>
          <a:xfrm>
            <a:off x="777240" y="3666744"/>
            <a:ext cx="3566160" cy="347472"/>
          </a:xfrm>
          <a:prstGeom prst="rect">
            <a:avLst/>
          </a:prstGeom>
          <a:noFill/>
          <a:ln/>
        </p:spPr>
        <p:txBody>
          <a:bodyPr wrap="square" lIns="0" tIns="0" rIns="0" bIns="0" rtlCol="0" anchor="ctr"/>
          <a:lstStyle/>
          <a:p>
            <a:pPr indent="0" marL="0">
              <a:buNone/>
            </a:pPr>
            <a:r>
              <a:rPr lang="en-US" sz="1400" dirty="0">
                <a:solidFill>
                  <a:schemeClr val="tx1"/>
                </a:solidFill>
              </a:rPr>
              <a:t>Managed Service &amp; Talent Support</a:t>
            </a:r>
            <a:endParaRPr lang="en-US" sz="1400" dirty="0"/>
          </a:p>
        </p:txBody>
      </p:sp>
      <p:sp>
        <p:nvSpPr>
          <p:cNvPr id="13" name="Capability dot 5"/>
          <p:cNvSpPr/>
          <p:nvPr/>
        </p:nvSpPr>
        <p:spPr>
          <a:xfrm>
            <a:off x="457200" y="4187952"/>
            <a:ext cx="164592" cy="164592"/>
          </a:xfrm>
          <a:prstGeom prst="ellipse">
            <a:avLst/>
          </a:prstGeom>
          <a:solidFill>
            <a:schemeClr val="accent2"/>
          </a:solidFill>
          <a:ln/>
        </p:spPr>
      </p:sp>
      <p:sp>
        <p:nvSpPr>
          <p:cNvPr id="14" name="Text 12"/>
          <p:cNvSpPr txBox="1"/>
          <p:nvPr/>
        </p:nvSpPr>
        <p:spPr>
          <a:xfrm>
            <a:off x="777240" y="4096512"/>
            <a:ext cx="3566160" cy="347472"/>
          </a:xfrm>
          <a:prstGeom prst="rect">
            <a:avLst/>
          </a:prstGeom>
          <a:noFill/>
          <a:ln/>
        </p:spPr>
        <p:txBody>
          <a:bodyPr wrap="square" lIns="0" tIns="0" rIns="0" bIns="0" rtlCol="0" anchor="ctr"/>
          <a:lstStyle/>
          <a:p>
            <a:pPr indent="0" marL="0">
              <a:buNone/>
            </a:pPr>
            <a:r>
              <a:rPr lang="en-US" sz="1400" dirty="0">
                <a:solidFill>
                  <a:schemeClr val="tx1"/>
                </a:solidFill>
              </a:rPr>
              <a:t>AI Product Innovation</a:t>
            </a:r>
            <a:endParaRPr lang="en-US" sz="1400" dirty="0"/>
          </a:p>
        </p:txBody>
      </p:sp>
      <p:sp>
        <p:nvSpPr>
          <p:cNvPr id="15" name="Stat card Tahun beroperasi"/>
          <p:cNvSpPr/>
          <p:nvPr/>
        </p:nvSpPr>
        <p:spPr>
          <a:xfrm>
            <a:off x="4663440" y="1280160"/>
            <a:ext cx="1874520" cy="1463040"/>
          </a:xfrm>
          <a:prstGeom prst="roundRect">
            <a:avLst>
              <a:gd name="adj" fmla="val 5000"/>
            </a:avLst>
          </a:prstGeom>
          <a:solidFill>
            <a:schemeClr val="bg2"/>
          </a:solidFill>
          <a:ln/>
        </p:spPr>
      </p:sp>
      <p:sp>
        <p:nvSpPr>
          <p:cNvPr id="16" name="Text 14"/>
          <p:cNvSpPr txBox="1"/>
          <p:nvPr/>
        </p:nvSpPr>
        <p:spPr>
          <a:xfrm>
            <a:off x="4846320" y="1508760"/>
            <a:ext cx="1554480" cy="6858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9+</a:t>
            </a:r>
            <a:endParaRPr lang="en-US" sz="3600" dirty="0"/>
          </a:p>
        </p:txBody>
      </p:sp>
      <p:sp>
        <p:nvSpPr>
          <p:cNvPr id="17" name="Text 15"/>
          <p:cNvSpPr txBox="1"/>
          <p:nvPr/>
        </p:nvSpPr>
        <p:spPr>
          <a:xfrm>
            <a:off x="4846320" y="2194560"/>
            <a:ext cx="1554480" cy="411480"/>
          </a:xfrm>
          <a:prstGeom prst="rect">
            <a:avLst/>
          </a:prstGeom>
          <a:noFill/>
          <a:ln/>
        </p:spPr>
        <p:txBody>
          <a:bodyPr wrap="square" lIns="0" tIns="0" rIns="0" bIns="0" rtlCol="0" anchor="t"/>
          <a:lstStyle/>
          <a:p>
            <a:pPr indent="0" marL="0">
              <a:buNone/>
            </a:pPr>
            <a:r>
              <a:rPr lang="en-US" sz="1400" dirty="0">
                <a:solidFill>
                  <a:schemeClr val="tx1"/>
                </a:solidFill>
              </a:rPr>
              <a:t>Tahun beroperasi</a:t>
            </a:r>
            <a:endParaRPr lang="en-US" sz="1400" dirty="0"/>
          </a:p>
        </p:txBody>
      </p:sp>
      <p:sp>
        <p:nvSpPr>
          <p:cNvPr id="18" name="Stat card Klien enterprise"/>
          <p:cNvSpPr/>
          <p:nvPr/>
        </p:nvSpPr>
        <p:spPr>
          <a:xfrm>
            <a:off x="6720840" y="1280160"/>
            <a:ext cx="1874520" cy="1463040"/>
          </a:xfrm>
          <a:prstGeom prst="roundRect">
            <a:avLst>
              <a:gd name="adj" fmla="val 5000"/>
            </a:avLst>
          </a:prstGeom>
          <a:solidFill>
            <a:schemeClr val="bg2"/>
          </a:solidFill>
          <a:ln/>
        </p:spPr>
      </p:sp>
      <p:sp>
        <p:nvSpPr>
          <p:cNvPr id="19" name="Text 17"/>
          <p:cNvSpPr txBox="1"/>
          <p:nvPr/>
        </p:nvSpPr>
        <p:spPr>
          <a:xfrm>
            <a:off x="6903720" y="1508760"/>
            <a:ext cx="1554480" cy="6858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90+</a:t>
            </a:r>
            <a:endParaRPr lang="en-US" sz="3600" dirty="0"/>
          </a:p>
        </p:txBody>
      </p:sp>
      <p:sp>
        <p:nvSpPr>
          <p:cNvPr id="20" name="Text 18"/>
          <p:cNvSpPr txBox="1"/>
          <p:nvPr/>
        </p:nvSpPr>
        <p:spPr>
          <a:xfrm>
            <a:off x="6903720" y="2194560"/>
            <a:ext cx="1554480" cy="411480"/>
          </a:xfrm>
          <a:prstGeom prst="rect">
            <a:avLst/>
          </a:prstGeom>
          <a:noFill/>
          <a:ln/>
        </p:spPr>
        <p:txBody>
          <a:bodyPr wrap="square" lIns="0" tIns="0" rIns="0" bIns="0" rtlCol="0" anchor="t"/>
          <a:lstStyle/>
          <a:p>
            <a:pPr indent="0" marL="0">
              <a:buNone/>
            </a:pPr>
            <a:r>
              <a:rPr lang="en-US" sz="1400" dirty="0">
                <a:solidFill>
                  <a:schemeClr val="tx1"/>
                </a:solidFill>
              </a:rPr>
              <a:t>Klien enterprise</a:t>
            </a:r>
            <a:endParaRPr lang="en-US" sz="1400" dirty="0"/>
          </a:p>
        </p:txBody>
      </p:sp>
      <p:sp>
        <p:nvSpPr>
          <p:cNvPr id="21" name="Stat card Proyek"/>
          <p:cNvSpPr/>
          <p:nvPr/>
        </p:nvSpPr>
        <p:spPr>
          <a:xfrm>
            <a:off x="4663440" y="2926080"/>
            <a:ext cx="1874520" cy="1463040"/>
          </a:xfrm>
          <a:prstGeom prst="roundRect">
            <a:avLst>
              <a:gd name="adj" fmla="val 5000"/>
            </a:avLst>
          </a:prstGeom>
          <a:solidFill>
            <a:schemeClr val="bg2"/>
          </a:solidFill>
          <a:ln/>
        </p:spPr>
      </p:sp>
      <p:sp>
        <p:nvSpPr>
          <p:cNvPr id="22" name="Text 20"/>
          <p:cNvSpPr txBox="1"/>
          <p:nvPr/>
        </p:nvSpPr>
        <p:spPr>
          <a:xfrm>
            <a:off x="4846320" y="3154680"/>
            <a:ext cx="1554480" cy="6858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150+</a:t>
            </a:r>
            <a:endParaRPr lang="en-US" sz="3600" dirty="0"/>
          </a:p>
        </p:txBody>
      </p:sp>
      <p:sp>
        <p:nvSpPr>
          <p:cNvPr id="23" name="Text 21"/>
          <p:cNvSpPr txBox="1"/>
          <p:nvPr/>
        </p:nvSpPr>
        <p:spPr>
          <a:xfrm>
            <a:off x="4846320" y="3840480"/>
            <a:ext cx="1554480" cy="411480"/>
          </a:xfrm>
          <a:prstGeom prst="rect">
            <a:avLst/>
          </a:prstGeom>
          <a:noFill/>
          <a:ln/>
        </p:spPr>
        <p:txBody>
          <a:bodyPr wrap="square" lIns="0" tIns="0" rIns="0" bIns="0" rtlCol="0" anchor="t"/>
          <a:lstStyle/>
          <a:p>
            <a:pPr indent="0" marL="0">
              <a:buNone/>
            </a:pPr>
            <a:r>
              <a:rPr lang="en-US" sz="1400" dirty="0">
                <a:solidFill>
                  <a:schemeClr val="tx1"/>
                </a:solidFill>
              </a:rPr>
              <a:t>Proyek</a:t>
            </a:r>
            <a:endParaRPr lang="en-US" sz="1400" dirty="0"/>
          </a:p>
        </p:txBody>
      </p:sp>
      <p:sp>
        <p:nvSpPr>
          <p:cNvPr id="24" name="Stat card Talenta dikembangkan"/>
          <p:cNvSpPr/>
          <p:nvPr/>
        </p:nvSpPr>
        <p:spPr>
          <a:xfrm>
            <a:off x="6720840" y="2926080"/>
            <a:ext cx="1874520" cy="1463040"/>
          </a:xfrm>
          <a:prstGeom prst="roundRect">
            <a:avLst>
              <a:gd name="adj" fmla="val 5000"/>
            </a:avLst>
          </a:prstGeom>
          <a:solidFill>
            <a:schemeClr val="bg2"/>
          </a:solidFill>
          <a:ln/>
        </p:spPr>
      </p:sp>
      <p:sp>
        <p:nvSpPr>
          <p:cNvPr id="25" name="Text 23"/>
          <p:cNvSpPr txBox="1"/>
          <p:nvPr/>
        </p:nvSpPr>
        <p:spPr>
          <a:xfrm>
            <a:off x="6903720" y="3154680"/>
            <a:ext cx="1554480" cy="6858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4.500+</a:t>
            </a:r>
            <a:endParaRPr lang="en-US" sz="3600" dirty="0"/>
          </a:p>
        </p:txBody>
      </p:sp>
      <p:sp>
        <p:nvSpPr>
          <p:cNvPr id="26" name="Text 24"/>
          <p:cNvSpPr txBox="1"/>
          <p:nvPr/>
        </p:nvSpPr>
        <p:spPr>
          <a:xfrm>
            <a:off x="6903720" y="3840480"/>
            <a:ext cx="1554480" cy="411480"/>
          </a:xfrm>
          <a:prstGeom prst="rect">
            <a:avLst/>
          </a:prstGeom>
          <a:noFill/>
          <a:ln/>
        </p:spPr>
        <p:txBody>
          <a:bodyPr wrap="square" lIns="0" tIns="0" rIns="0" bIns="0" rtlCol="0" anchor="t"/>
          <a:lstStyle/>
          <a:p>
            <a:pPr indent="0" marL="0">
              <a:buNone/>
            </a:pPr>
            <a:r>
              <a:rPr lang="en-US" sz="1400" dirty="0">
                <a:solidFill>
                  <a:schemeClr val="tx1"/>
                </a:solidFill>
              </a:rPr>
              <a:t>Talenta dikembangkan</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1005840"/>
          </a:xfrm>
          <a:prstGeom prst="rect">
            <a:avLst/>
          </a:prstGeom>
          <a:noFill/>
          <a:ln/>
        </p:spPr>
        <p:txBody>
          <a:bodyPr wrap="square" lIns="0" tIns="0" rIns="0" bIns="0"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02</a:t>
            </a:r>
            <a:endParaRPr lang="en-US" sz="6000" dirty="0"/>
          </a:p>
        </p:txBody>
      </p:sp>
      <p:sp>
        <p:nvSpPr>
          <p:cNvPr id="3" name="Text 0"/>
          <p:cNvSpPr/>
          <p:nvPr>
            <p:ph idx="101" type="title" hasCustomPrompt="1"/>
          </p:nvPr>
        </p:nvSpPr>
        <p:spPr>
          <a:xfrm>
            <a:off x="548640" y="2148840"/>
            <a:ext cx="8046720" cy="822960"/>
          </a:xfrm>
          <a:prstGeom prst="rect">
            <a:avLst/>
          </a:prstGeom>
          <a:noFill/>
          <a:ln/>
        </p:spPr>
        <p:txBody>
          <a:bodyPr wrap="square" lIns="0" tIns="0" rIns="0" bIns="0" rtlCol="0" anchor="t"/>
          <a:lstStyle/>
          <a:p>
            <a:pPr algn="l" indent="0" marL="0">
              <a:buNone/>
            </a:pPr>
            <a:r>
              <a:rPr lang="en-US" sz="3600" b="1" dirty="0">
                <a:solidFill>
                  <a:schemeClr val="bg1"/>
                </a:solidFill>
              </a:rPr>
              <a:t>Pendahuluan</a:t>
            </a:r>
            <a:endParaRPr lang="en-US" sz="3600" dirty="0"/>
          </a:p>
        </p:txBody>
      </p:sp>
      <p:sp>
        <p:nvSpPr>
          <p:cNvPr id="4" name="Text 0"/>
          <p:cNvSpPr/>
          <p:nvPr>
            <p:ph idx="102" type="body" hasCustomPrompt="1"/>
          </p:nvPr>
        </p:nvSpPr>
        <p:spPr>
          <a:xfrm>
            <a:off x="548640" y="3017520"/>
            <a:ext cx="7315200" cy="822960"/>
          </a:xfrm>
          <a:prstGeom prst="rect">
            <a:avLst/>
          </a:prstGeom>
          <a:noFill/>
          <a:ln/>
        </p:spPr>
        <p:txBody>
          <a:bodyPr wrap="square" lIns="0" tIns="0" rIns="0" bIns="0" rtlCol="0" anchor="t"/>
          <a:lstStyle/>
          <a:p>
            <a:pPr algn="l" indent="0" marL="0">
              <a:buNone/>
            </a:pPr>
            <a:r>
              <a:rPr lang="en-US" sz="1800" dirty="0">
                <a:solidFill>
                  <a:schemeClr val="bg2"/>
                </a:solidFill>
              </a:rPr>
              <a:t>AI sudah masuk ke setiap tahap riset, tetapi kesiapan peneliti belum mengikuti</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02 · PENDAHULUAN</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Adopsi AI di Kalangan Peneliti Melonjak</a:t>
            </a:r>
            <a:endParaRPr lang="en-US" sz="3000" dirty="0"/>
          </a:p>
        </p:txBody>
      </p:sp>
      <p:graphicFrame>
        <p:nvGraphicFramePr>
          <p:cNvPr id="4" name="Chart AI adoption 2024 vs 2025" descr=""/>
          <p:cNvGraphicFramePr/>
          <p:nvPr/>
        </p:nvGraphicFramePr>
        <p:xfrm>
          <a:off x="457200" y="1234440"/>
          <a:ext cx="4572000" cy="3246120"/>
        </p:xfrm>
        <a:graphic xmlns:a="http://schemas.openxmlformats.org/drawingml/2006/main">
          <a:graphicData uri="http://schemas.openxmlformats.org/drawingml/2006/chart">
            <c:chart xmlns:c="http://schemas.openxmlformats.org/drawingml/2006/chart" r:id="rId1"/>
          </a:graphicData>
        </a:graphic>
      </p:graphicFrame>
      <p:sp>
        <p:nvSpPr>
          <p:cNvPr id="5" name="Callout efficiency"/>
          <p:cNvSpPr/>
          <p:nvPr/>
        </p:nvSpPr>
        <p:spPr>
          <a:xfrm>
            <a:off x="5349240" y="1234440"/>
            <a:ext cx="3337560" cy="1508760"/>
          </a:xfrm>
          <a:prstGeom prst="roundRect">
            <a:avLst>
              <a:gd name="adj" fmla="val 4848"/>
            </a:avLst>
          </a:prstGeom>
          <a:solidFill>
            <a:schemeClr val="bg2"/>
          </a:solidFill>
          <a:ln/>
        </p:spPr>
      </p:sp>
      <p:sp>
        <p:nvSpPr>
          <p:cNvPr id="6" name="Text 3"/>
          <p:cNvSpPr txBox="1"/>
          <p:nvPr/>
        </p:nvSpPr>
        <p:spPr>
          <a:xfrm>
            <a:off x="5577840" y="1371600"/>
            <a:ext cx="292608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85%</a:t>
            </a:r>
            <a:endParaRPr lang="en-US" sz="3600" dirty="0"/>
          </a:p>
        </p:txBody>
      </p:sp>
      <p:sp>
        <p:nvSpPr>
          <p:cNvPr id="7" name="Text 4"/>
          <p:cNvSpPr txBox="1"/>
          <p:nvPr/>
        </p:nvSpPr>
        <p:spPr>
          <a:xfrm>
            <a:off x="5577840" y="2011680"/>
            <a:ext cx="2926080" cy="640080"/>
          </a:xfrm>
          <a:prstGeom prst="rect">
            <a:avLst/>
          </a:prstGeom>
          <a:noFill/>
          <a:ln/>
        </p:spPr>
        <p:txBody>
          <a:bodyPr wrap="square" lIns="0" tIns="0" rIns="0" bIns="0" rtlCol="0" anchor="t"/>
          <a:lstStyle/>
          <a:p>
            <a:pPr indent="0" marL="0">
              <a:buNone/>
            </a:pPr>
            <a:r>
              <a:rPr lang="en-US" sz="1400" dirty="0">
                <a:solidFill>
                  <a:schemeClr val="tx1"/>
                </a:solidFill>
              </a:rPr>
              <a:t>peneliti merasa AI meningkatkan efisiensi kerja mereka</a:t>
            </a:r>
            <a:endParaRPr lang="en-US" sz="1400" dirty="0"/>
          </a:p>
        </p:txBody>
      </p:sp>
      <p:sp>
        <p:nvSpPr>
          <p:cNvPr id="8" name="Callout specialised tools"/>
          <p:cNvSpPr/>
          <p:nvPr/>
        </p:nvSpPr>
        <p:spPr>
          <a:xfrm>
            <a:off x="5349240" y="2926080"/>
            <a:ext cx="3337560" cy="1554480"/>
          </a:xfrm>
          <a:prstGeom prst="roundRect">
            <a:avLst>
              <a:gd name="adj" fmla="val 4706"/>
            </a:avLst>
          </a:prstGeom>
          <a:solidFill>
            <a:schemeClr val="bg2"/>
          </a:solidFill>
          <a:ln/>
        </p:spPr>
      </p:sp>
      <p:sp>
        <p:nvSpPr>
          <p:cNvPr id="9" name="Text 6"/>
          <p:cNvSpPr txBox="1"/>
          <p:nvPr/>
        </p:nvSpPr>
        <p:spPr>
          <a:xfrm>
            <a:off x="5577840" y="3063240"/>
            <a:ext cx="29260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25%</a:t>
            </a:r>
            <a:endParaRPr lang="en-US" sz="3600" dirty="0"/>
          </a:p>
        </p:txBody>
      </p:sp>
      <p:sp>
        <p:nvSpPr>
          <p:cNvPr id="10" name="Text 7"/>
          <p:cNvSpPr txBox="1"/>
          <p:nvPr/>
        </p:nvSpPr>
        <p:spPr>
          <a:xfrm>
            <a:off x="5577840" y="3703320"/>
            <a:ext cx="2926080" cy="731520"/>
          </a:xfrm>
          <a:prstGeom prst="rect">
            <a:avLst/>
          </a:prstGeom>
          <a:noFill/>
          <a:ln/>
        </p:spPr>
        <p:txBody>
          <a:bodyPr wrap="square" lIns="0" tIns="0" rIns="0" bIns="0" rtlCol="0" anchor="t"/>
          <a:lstStyle/>
          <a:p>
            <a:pPr indent="0" marL="0">
              <a:buNone/>
            </a:pPr>
            <a:r>
              <a:rPr lang="en-US" sz="1400" dirty="0">
                <a:solidFill>
                  <a:schemeClr val="tx1"/>
                </a:solidFill>
              </a:rPr>
              <a:t>yang pernah mencoba tools AI khusus riset; 80% masih memakai chatbot umum</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02 · PENDAHULUAN</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Adopsi Cepat, Kesiapan Tertinggal</a:t>
            </a:r>
            <a:endParaRPr lang="en-US" sz="3000" dirty="0"/>
          </a:p>
        </p:txBody>
      </p:sp>
      <p:sp>
        <p:nvSpPr>
          <p:cNvPr id="4" name="Gap card 1"/>
          <p:cNvSpPr/>
          <p:nvPr/>
        </p:nvSpPr>
        <p:spPr>
          <a:xfrm>
            <a:off x="457200" y="1280160"/>
            <a:ext cx="1920240" cy="2331720"/>
          </a:xfrm>
          <a:prstGeom prst="roundRect">
            <a:avLst>
              <a:gd name="adj" fmla="val 3810"/>
            </a:avLst>
          </a:prstGeom>
          <a:solidFill>
            <a:schemeClr val="bg2"/>
          </a:solidFill>
          <a:ln/>
        </p:spPr>
      </p:sp>
      <p:sp>
        <p:nvSpPr>
          <p:cNvPr id="5" name="Gap 1 circle"/>
          <p:cNvSpPr/>
          <p:nvPr/>
        </p:nvSpPr>
        <p:spPr>
          <a:xfrm>
            <a:off x="640080" y="1463040"/>
            <a:ext cx="548640" cy="548640"/>
          </a:xfrm>
          <a:prstGeom prst="ellipse">
            <a:avLst/>
          </a:prstGeom>
          <a:solidFill>
            <a:schemeClr val="accent3"/>
          </a:solidFill>
          <a:ln/>
        </p:spPr>
      </p:sp>
      <p:pic>
        <p:nvPicPr>
          <p:cNvPr id="6" name="Gap 1 icon" descr="Gap 1">    </p:cNvPr>
          <p:cNvPicPr>
            <a:picLocks noChangeAspect="1"/>
          </p:cNvPicPr>
          <p:nvPr/>
        </p:nvPicPr>
        <p:blipFill>
          <a:blip r:embed="rId1"/>
          <a:stretch>
            <a:fillRect/>
          </a:stretch>
        </p:blipFill>
        <p:spPr>
          <a:xfrm>
            <a:off x="777240" y="1600200"/>
            <a:ext cx="274320" cy="274320"/>
          </a:xfrm>
          <a:prstGeom prst="rect">
            <a:avLst/>
          </a:prstGeom>
        </p:spPr>
      </p:pic>
      <p:sp>
        <p:nvSpPr>
          <p:cNvPr id="7" name="Text 4"/>
          <p:cNvSpPr txBox="1"/>
          <p:nvPr/>
        </p:nvSpPr>
        <p:spPr>
          <a:xfrm>
            <a:off x="640080" y="2103120"/>
            <a:ext cx="1600200" cy="59436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64%</a:t>
            </a:r>
            <a:endParaRPr lang="en-US" sz="3200" dirty="0"/>
          </a:p>
        </p:txBody>
      </p:sp>
      <p:sp>
        <p:nvSpPr>
          <p:cNvPr id="8" name="Text 5"/>
          <p:cNvSpPr txBox="1"/>
          <p:nvPr/>
        </p:nvSpPr>
        <p:spPr>
          <a:xfrm>
            <a:off x="640080" y="2697480"/>
            <a:ext cx="1600200" cy="868680"/>
          </a:xfrm>
          <a:prstGeom prst="rect">
            <a:avLst/>
          </a:prstGeom>
          <a:noFill/>
          <a:ln/>
        </p:spPr>
        <p:txBody>
          <a:bodyPr wrap="square" lIns="0" tIns="0" rIns="0" bIns="0" rtlCol="0" anchor="t"/>
          <a:lstStyle/>
          <a:p>
            <a:pPr indent="0" marL="0">
              <a:buNone/>
            </a:pPr>
            <a:r>
              <a:rPr lang="en-US" sz="1400" dirty="0">
                <a:solidFill>
                  <a:schemeClr val="tx1"/>
                </a:solidFill>
              </a:rPr>
              <a:t>khawatir soal akurasi dan hallucination AI</a:t>
            </a:r>
            <a:endParaRPr lang="en-US" sz="1400" dirty="0"/>
          </a:p>
        </p:txBody>
      </p:sp>
      <p:sp>
        <p:nvSpPr>
          <p:cNvPr id="9" name="Gap card 2"/>
          <p:cNvSpPr/>
          <p:nvPr/>
        </p:nvSpPr>
        <p:spPr>
          <a:xfrm>
            <a:off x="2560320" y="1280160"/>
            <a:ext cx="1920240" cy="2331720"/>
          </a:xfrm>
          <a:prstGeom prst="roundRect">
            <a:avLst>
              <a:gd name="adj" fmla="val 3810"/>
            </a:avLst>
          </a:prstGeom>
          <a:solidFill>
            <a:schemeClr val="bg2"/>
          </a:solidFill>
          <a:ln/>
        </p:spPr>
      </p:sp>
      <p:sp>
        <p:nvSpPr>
          <p:cNvPr id="10" name="Gap 2 circle"/>
          <p:cNvSpPr/>
          <p:nvPr/>
        </p:nvSpPr>
        <p:spPr>
          <a:xfrm>
            <a:off x="2743200" y="1463040"/>
            <a:ext cx="548640" cy="548640"/>
          </a:xfrm>
          <a:prstGeom prst="ellipse">
            <a:avLst/>
          </a:prstGeom>
          <a:solidFill>
            <a:schemeClr val="accent3"/>
          </a:solidFill>
          <a:ln/>
        </p:spPr>
      </p:sp>
      <p:pic>
        <p:nvPicPr>
          <p:cNvPr id="11" name="Gap 2 icon" descr="Gap 2">    </p:cNvPr>
          <p:cNvPicPr>
            <a:picLocks noChangeAspect="1"/>
          </p:cNvPicPr>
          <p:nvPr/>
        </p:nvPicPr>
        <p:blipFill>
          <a:blip r:embed="rId2"/>
          <a:stretch>
            <a:fillRect/>
          </a:stretch>
        </p:blipFill>
        <p:spPr>
          <a:xfrm>
            <a:off x="2880360" y="1600200"/>
            <a:ext cx="274320" cy="274320"/>
          </a:xfrm>
          <a:prstGeom prst="rect">
            <a:avLst/>
          </a:prstGeom>
        </p:spPr>
      </p:pic>
      <p:sp>
        <p:nvSpPr>
          <p:cNvPr id="12" name="Text 8"/>
          <p:cNvSpPr txBox="1"/>
          <p:nvPr/>
        </p:nvSpPr>
        <p:spPr>
          <a:xfrm>
            <a:off x="2743200" y="2103120"/>
            <a:ext cx="1600200" cy="59436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58%</a:t>
            </a:r>
            <a:endParaRPr lang="en-US" sz="3200" dirty="0"/>
          </a:p>
        </p:txBody>
      </p:sp>
      <p:sp>
        <p:nvSpPr>
          <p:cNvPr id="13" name="Text 9"/>
          <p:cNvSpPr txBox="1"/>
          <p:nvPr/>
        </p:nvSpPr>
        <p:spPr>
          <a:xfrm>
            <a:off x="2743200" y="2697480"/>
            <a:ext cx="1600200" cy="868680"/>
          </a:xfrm>
          <a:prstGeom prst="rect">
            <a:avLst/>
          </a:prstGeom>
          <a:noFill/>
          <a:ln/>
        </p:spPr>
        <p:txBody>
          <a:bodyPr wrap="square" lIns="0" tIns="0" rIns="0" bIns="0" rtlCol="0" anchor="t"/>
          <a:lstStyle/>
          <a:p>
            <a:pPr indent="0" marL="0">
              <a:buNone/>
            </a:pPr>
            <a:r>
              <a:rPr lang="en-US" sz="1400" dirty="0">
                <a:solidFill>
                  <a:schemeClr val="tx1"/>
                </a:solidFill>
              </a:rPr>
              <a:t>khawatir soal privasi dan keamanan data</a:t>
            </a:r>
            <a:endParaRPr lang="en-US" sz="1400" dirty="0"/>
          </a:p>
        </p:txBody>
      </p:sp>
      <p:sp>
        <p:nvSpPr>
          <p:cNvPr id="14" name="Gap card 3"/>
          <p:cNvSpPr/>
          <p:nvPr/>
        </p:nvSpPr>
        <p:spPr>
          <a:xfrm>
            <a:off x="4663440" y="1280160"/>
            <a:ext cx="1920240" cy="2331720"/>
          </a:xfrm>
          <a:prstGeom prst="roundRect">
            <a:avLst>
              <a:gd name="adj" fmla="val 3810"/>
            </a:avLst>
          </a:prstGeom>
          <a:solidFill>
            <a:schemeClr val="bg2"/>
          </a:solidFill>
          <a:ln/>
        </p:spPr>
      </p:sp>
      <p:sp>
        <p:nvSpPr>
          <p:cNvPr id="15" name="Gap 3 circle"/>
          <p:cNvSpPr/>
          <p:nvPr/>
        </p:nvSpPr>
        <p:spPr>
          <a:xfrm>
            <a:off x="4846320" y="1463040"/>
            <a:ext cx="548640" cy="548640"/>
          </a:xfrm>
          <a:prstGeom prst="ellipse">
            <a:avLst/>
          </a:prstGeom>
          <a:solidFill>
            <a:schemeClr val="accent1"/>
          </a:solidFill>
          <a:ln/>
        </p:spPr>
      </p:sp>
      <p:pic>
        <p:nvPicPr>
          <p:cNvPr id="16" name="Gap 3 icon" descr="Gap 3">    </p:cNvPr>
          <p:cNvPicPr>
            <a:picLocks noChangeAspect="1"/>
          </p:cNvPicPr>
          <p:nvPr/>
        </p:nvPicPr>
        <p:blipFill>
          <a:blip r:embed="rId3"/>
          <a:stretch>
            <a:fillRect/>
          </a:stretch>
        </p:blipFill>
        <p:spPr>
          <a:xfrm>
            <a:off x="4983480" y="1600200"/>
            <a:ext cx="274320" cy="274320"/>
          </a:xfrm>
          <a:prstGeom prst="rect">
            <a:avLst/>
          </a:prstGeom>
        </p:spPr>
      </p:pic>
      <p:sp>
        <p:nvSpPr>
          <p:cNvPr id="17" name="Text 12"/>
          <p:cNvSpPr txBox="1"/>
          <p:nvPr/>
        </p:nvSpPr>
        <p:spPr>
          <a:xfrm>
            <a:off x="4846320" y="2103120"/>
            <a:ext cx="1600200" cy="59436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57%</a:t>
            </a:r>
            <a:endParaRPr lang="en-US" sz="3200" dirty="0"/>
          </a:p>
        </p:txBody>
      </p:sp>
      <p:sp>
        <p:nvSpPr>
          <p:cNvPr id="18" name="Text 13"/>
          <p:cNvSpPr txBox="1"/>
          <p:nvPr/>
        </p:nvSpPr>
        <p:spPr>
          <a:xfrm>
            <a:off x="4846320" y="2697480"/>
            <a:ext cx="1600200" cy="868680"/>
          </a:xfrm>
          <a:prstGeom prst="rect">
            <a:avLst/>
          </a:prstGeom>
          <a:noFill/>
          <a:ln/>
        </p:spPr>
        <p:txBody>
          <a:bodyPr wrap="square" lIns="0" tIns="0" rIns="0" bIns="0" rtlCol="0" anchor="t"/>
          <a:lstStyle/>
          <a:p>
            <a:pPr indent="0" marL="0">
              <a:buNone/>
            </a:pPr>
            <a:r>
              <a:rPr lang="en-US" sz="1400" dirty="0">
                <a:solidFill>
                  <a:schemeClr val="tx1"/>
                </a:solidFill>
              </a:rPr>
              <a:t>menyebut kurangnya pedoman dan pelatihan sebagai hambatan utama</a:t>
            </a:r>
            <a:endParaRPr lang="en-US" sz="1400" dirty="0"/>
          </a:p>
        </p:txBody>
      </p:sp>
      <p:sp>
        <p:nvSpPr>
          <p:cNvPr id="19" name="Gap card 4"/>
          <p:cNvSpPr/>
          <p:nvPr/>
        </p:nvSpPr>
        <p:spPr>
          <a:xfrm>
            <a:off x="6766560" y="1280160"/>
            <a:ext cx="1920240" cy="2331720"/>
          </a:xfrm>
          <a:prstGeom prst="roundRect">
            <a:avLst>
              <a:gd name="adj" fmla="val 3810"/>
            </a:avLst>
          </a:prstGeom>
          <a:solidFill>
            <a:schemeClr val="bg2"/>
          </a:solidFill>
          <a:ln/>
        </p:spPr>
      </p:sp>
      <p:sp>
        <p:nvSpPr>
          <p:cNvPr id="20" name="Gap 4 circle"/>
          <p:cNvSpPr/>
          <p:nvPr/>
        </p:nvSpPr>
        <p:spPr>
          <a:xfrm>
            <a:off x="6949440" y="1463040"/>
            <a:ext cx="548640" cy="548640"/>
          </a:xfrm>
          <a:prstGeom prst="ellipse">
            <a:avLst/>
          </a:prstGeom>
          <a:solidFill>
            <a:schemeClr val="accent1"/>
          </a:solidFill>
          <a:ln/>
        </p:spPr>
      </p:sp>
      <p:pic>
        <p:nvPicPr>
          <p:cNvPr id="21" name="Gap 4 icon" descr="Gap 4">    </p:cNvPr>
          <p:cNvPicPr>
            <a:picLocks noChangeAspect="1"/>
          </p:cNvPicPr>
          <p:nvPr/>
        </p:nvPicPr>
        <p:blipFill>
          <a:blip r:embed="rId4"/>
          <a:stretch>
            <a:fillRect/>
          </a:stretch>
        </p:blipFill>
        <p:spPr>
          <a:xfrm>
            <a:off x="7086600" y="1600200"/>
            <a:ext cx="274320" cy="274320"/>
          </a:xfrm>
          <a:prstGeom prst="rect">
            <a:avLst/>
          </a:prstGeom>
        </p:spPr>
      </p:pic>
      <p:sp>
        <p:nvSpPr>
          <p:cNvPr id="22" name="Text 16"/>
          <p:cNvSpPr txBox="1"/>
          <p:nvPr/>
        </p:nvSpPr>
        <p:spPr>
          <a:xfrm>
            <a:off x="6949440" y="2103120"/>
            <a:ext cx="1600200" cy="59436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55%</a:t>
            </a:r>
            <a:endParaRPr lang="en-US" sz="3200" dirty="0"/>
          </a:p>
        </p:txBody>
      </p:sp>
      <p:sp>
        <p:nvSpPr>
          <p:cNvPr id="23" name="Text 17"/>
          <p:cNvSpPr txBox="1"/>
          <p:nvPr/>
        </p:nvSpPr>
        <p:spPr>
          <a:xfrm>
            <a:off x="6949440" y="2697480"/>
            <a:ext cx="1600200" cy="868680"/>
          </a:xfrm>
          <a:prstGeom prst="rect">
            <a:avLst/>
          </a:prstGeom>
          <a:noFill/>
          <a:ln/>
        </p:spPr>
        <p:txBody>
          <a:bodyPr wrap="square" lIns="0" tIns="0" rIns="0" bIns="0" rtlCol="0" anchor="t"/>
          <a:lstStyle/>
          <a:p>
            <a:pPr indent="0" marL="0">
              <a:buNone/>
            </a:pPr>
            <a:r>
              <a:rPr lang="en-US" sz="1400" dirty="0">
                <a:solidFill>
                  <a:schemeClr val="tx1"/>
                </a:solidFill>
              </a:rPr>
              <a:t>sitasi buatan GPT-3.5 terbukti fiktif (GPT-4: 18%)</a:t>
            </a:r>
            <a:endParaRPr lang="en-US" sz="1400" dirty="0"/>
          </a:p>
        </p:txBody>
      </p:sp>
      <p:sp>
        <p:nvSpPr>
          <p:cNvPr id="24" name="Text 18"/>
          <p:cNvSpPr txBox="1"/>
          <p:nvPr/>
        </p:nvSpPr>
        <p:spPr>
          <a:xfrm>
            <a:off x="457200" y="3794760"/>
            <a:ext cx="8229600" cy="548640"/>
          </a:xfrm>
          <a:prstGeom prst="rect">
            <a:avLst/>
          </a:prstGeom>
          <a:noFill/>
          <a:ln/>
        </p:spPr>
        <p:txBody>
          <a:bodyPr wrap="square" lIns="0" tIns="0" rIns="0" bIns="0" rtlCol="0" anchor="t"/>
          <a:lstStyle/>
          <a:p>
            <a:pPr indent="0" marL="0">
              <a:buNone/>
            </a:pPr>
            <a:r>
              <a:rPr lang="en-US" sz="1500" b="1" dirty="0">
                <a:solidFill>
                  <a:schemeClr val="tx2"/>
                </a:solidFill>
              </a:rPr>
              <a:t>Artinya: </a:t>
            </a:r>
            <a:pPr indent="0" marL="0">
              <a:buNone/>
            </a:pPr>
            <a:r>
              <a:rPr lang="en-US" sz="1500" dirty="0">
                <a:solidFill>
                  <a:schemeClr val="tx1"/>
                </a:solidFill>
              </a:rPr>
              <a:t>kebutuhannya bukan sekadar akses ke AI, melainkan kemampuan memakai AI secara benar, terverifikasi, dan sesuai etika riset.</a:t>
            </a:r>
            <a:endParaRPr lang="en-US" sz="1500" dirty="0"/>
          </a:p>
        </p:txBody>
      </p:sp>
      <p:sp>
        <p:nvSpPr>
          <p:cNvPr id="25" name="Text 19"/>
          <p:cNvSpPr txBox="1"/>
          <p:nvPr/>
        </p:nvSpPr>
        <p:spPr>
          <a:xfrm>
            <a:off x="457200" y="4389120"/>
            <a:ext cx="8229600" cy="256032"/>
          </a:xfrm>
          <a:prstGeom prst="rect">
            <a:avLst/>
          </a:prstGeom>
          <a:noFill/>
          <a:ln/>
        </p:spPr>
        <p:txBody>
          <a:bodyPr wrap="square" lIns="0" tIns="0" rIns="0" bIns="0" rtlCol="0" anchor="t"/>
          <a:lstStyle/>
          <a:p>
            <a:pPr indent="0" marL="0">
              <a:buNone/>
            </a:pPr>
            <a:r>
              <a:rPr lang="en-US" sz="1000" dirty="0">
                <a:solidFill>
                  <a:schemeClr val="accent6"/>
                </a:solidFill>
              </a:rPr>
              <a:t>Sumber: Wiley ExplanAItions 2025; Walters &amp; Wilder (2023), Scientific Reports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02 · PENDAHULUAN</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Dari Pengguna AI menjadi Peneliti AI-Ready</a:t>
            </a:r>
            <a:endParaRPr lang="en-US" sz="3000" dirty="0"/>
          </a:p>
        </p:txBody>
      </p:sp>
      <p:sp>
        <p:nvSpPr>
          <p:cNvPr id="4" name="Framework card UNDERSTAND"/>
          <p:cNvSpPr/>
          <p:nvPr/>
        </p:nvSpPr>
        <p:spPr>
          <a:xfrm>
            <a:off x="457200" y="1325880"/>
            <a:ext cx="1920240" cy="3017520"/>
          </a:xfrm>
          <a:prstGeom prst="roundRect">
            <a:avLst>
              <a:gd name="adj" fmla="val 3810"/>
            </a:avLst>
          </a:prstGeom>
          <a:solidFill>
            <a:schemeClr val="bg2"/>
          </a:solidFill>
          <a:ln/>
        </p:spPr>
      </p:sp>
      <p:sp>
        <p:nvSpPr>
          <p:cNvPr id="5" name="Framework UNDERSTAND circle"/>
          <p:cNvSpPr/>
          <p:nvPr/>
        </p:nvSpPr>
        <p:spPr>
          <a:xfrm>
            <a:off x="640080" y="1508760"/>
            <a:ext cx="640080" cy="640080"/>
          </a:xfrm>
          <a:prstGeom prst="ellipse">
            <a:avLst/>
          </a:prstGeom>
          <a:solidFill>
            <a:schemeClr val="tx2"/>
          </a:solidFill>
          <a:ln/>
        </p:spPr>
      </p:sp>
      <p:pic>
        <p:nvPicPr>
          <p:cNvPr id="6" name="Framework UNDERSTAND icon" descr="Framework UNDERSTAND">    </p:cNvPr>
          <p:cNvPicPr>
            <a:picLocks noChangeAspect="1"/>
          </p:cNvPicPr>
          <p:nvPr/>
        </p:nvPicPr>
        <p:blipFill>
          <a:blip r:embed="rId1"/>
          <a:stretch>
            <a:fillRect/>
          </a:stretch>
        </p:blipFill>
        <p:spPr>
          <a:xfrm>
            <a:off x="800100" y="1668780"/>
            <a:ext cx="320040" cy="320040"/>
          </a:xfrm>
          <a:prstGeom prst="rect">
            <a:avLst/>
          </a:prstGeom>
        </p:spPr>
      </p:pic>
      <p:sp>
        <p:nvSpPr>
          <p:cNvPr id="7" name="Text 4"/>
          <p:cNvSpPr txBox="1"/>
          <p:nvPr/>
        </p:nvSpPr>
        <p:spPr>
          <a:xfrm>
            <a:off x="1463040" y="16002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01</a:t>
            </a:r>
            <a:endParaRPr lang="en-US" sz="2400" dirty="0"/>
          </a:p>
        </p:txBody>
      </p:sp>
      <p:sp>
        <p:nvSpPr>
          <p:cNvPr id="8" name="Text 5"/>
          <p:cNvSpPr txBox="1"/>
          <p:nvPr/>
        </p:nvSpPr>
        <p:spPr>
          <a:xfrm>
            <a:off x="640080" y="2331720"/>
            <a:ext cx="1600200" cy="365760"/>
          </a:xfrm>
          <a:prstGeom prst="rect">
            <a:avLst/>
          </a:prstGeom>
          <a:noFill/>
          <a:ln/>
        </p:spPr>
        <p:txBody>
          <a:bodyPr wrap="square" lIns="0" tIns="0" rIns="0" bIns="0" rtlCol="0" anchor="t"/>
          <a:lstStyle/>
          <a:p>
            <a:pPr indent="0" marL="0">
              <a:buNone/>
            </a:pPr>
            <a:r>
              <a:rPr lang="en-US" sz="1700" b="1" dirty="0">
                <a:solidFill>
                  <a:schemeClr val="tx2"/>
                </a:solidFill>
              </a:rPr>
              <a:t>UNDERSTAND</a:t>
            </a:r>
            <a:endParaRPr lang="en-US" sz="1700" dirty="0"/>
          </a:p>
        </p:txBody>
      </p:sp>
      <p:sp>
        <p:nvSpPr>
          <p:cNvPr id="9" name="Text 6"/>
          <p:cNvSpPr txBox="1"/>
          <p:nvPr/>
        </p:nvSpPr>
        <p:spPr>
          <a:xfrm>
            <a:off x="640080" y="2743200"/>
            <a:ext cx="1600200" cy="1463040"/>
          </a:xfrm>
          <a:prstGeom prst="rect">
            <a:avLst/>
          </a:prstGeom>
          <a:noFill/>
          <a:ln/>
        </p:spPr>
        <p:txBody>
          <a:bodyPr wrap="square" lIns="0" tIns="0" rIns="0" bIns="0" rtlCol="0" anchor="t"/>
          <a:lstStyle/>
          <a:p>
            <a:pPr indent="0" marL="0">
              <a:buNone/>
            </a:pPr>
            <a:r>
              <a:rPr lang="en-US" sz="1400" dirty="0">
                <a:solidFill>
                  <a:schemeClr val="tx1"/>
                </a:solidFill>
              </a:rPr>
              <a:t>Memahami cara kerja AI, batasannya, dan kebijakan penggunaannya dalam riset</a:t>
            </a:r>
            <a:endParaRPr lang="en-US" sz="1400" dirty="0"/>
          </a:p>
        </p:txBody>
      </p:sp>
      <p:sp>
        <p:nvSpPr>
          <p:cNvPr id="10" name="Framework card APPLY"/>
          <p:cNvSpPr/>
          <p:nvPr/>
        </p:nvSpPr>
        <p:spPr>
          <a:xfrm>
            <a:off x="2560320" y="1325880"/>
            <a:ext cx="1920240" cy="3017520"/>
          </a:xfrm>
          <a:prstGeom prst="roundRect">
            <a:avLst>
              <a:gd name="adj" fmla="val 3810"/>
            </a:avLst>
          </a:prstGeom>
          <a:solidFill>
            <a:schemeClr val="bg2"/>
          </a:solidFill>
          <a:ln/>
        </p:spPr>
      </p:sp>
      <p:sp>
        <p:nvSpPr>
          <p:cNvPr id="11" name="Framework APPLY circle"/>
          <p:cNvSpPr/>
          <p:nvPr/>
        </p:nvSpPr>
        <p:spPr>
          <a:xfrm>
            <a:off x="2743200" y="1508760"/>
            <a:ext cx="640080" cy="640080"/>
          </a:xfrm>
          <a:prstGeom prst="ellipse">
            <a:avLst/>
          </a:prstGeom>
          <a:solidFill>
            <a:schemeClr val="tx2"/>
          </a:solidFill>
          <a:ln/>
        </p:spPr>
      </p:sp>
      <p:pic>
        <p:nvPicPr>
          <p:cNvPr id="12" name="Framework APPLY icon" descr="Framework APPLY">    </p:cNvPr>
          <p:cNvPicPr>
            <a:picLocks noChangeAspect="1"/>
          </p:cNvPicPr>
          <p:nvPr/>
        </p:nvPicPr>
        <p:blipFill>
          <a:blip r:embed="rId2"/>
          <a:stretch>
            <a:fillRect/>
          </a:stretch>
        </p:blipFill>
        <p:spPr>
          <a:xfrm>
            <a:off x="2903220" y="1668780"/>
            <a:ext cx="320040" cy="320040"/>
          </a:xfrm>
          <a:prstGeom prst="rect">
            <a:avLst/>
          </a:prstGeom>
        </p:spPr>
      </p:pic>
      <p:sp>
        <p:nvSpPr>
          <p:cNvPr id="13" name="Text 9"/>
          <p:cNvSpPr txBox="1"/>
          <p:nvPr/>
        </p:nvSpPr>
        <p:spPr>
          <a:xfrm>
            <a:off x="3566160" y="16002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02</a:t>
            </a:r>
            <a:endParaRPr lang="en-US" sz="2400" dirty="0"/>
          </a:p>
        </p:txBody>
      </p:sp>
      <p:sp>
        <p:nvSpPr>
          <p:cNvPr id="14" name="Text 10"/>
          <p:cNvSpPr txBox="1"/>
          <p:nvPr/>
        </p:nvSpPr>
        <p:spPr>
          <a:xfrm>
            <a:off x="2743200" y="2331720"/>
            <a:ext cx="1600200" cy="365760"/>
          </a:xfrm>
          <a:prstGeom prst="rect">
            <a:avLst/>
          </a:prstGeom>
          <a:noFill/>
          <a:ln/>
        </p:spPr>
        <p:txBody>
          <a:bodyPr wrap="square" lIns="0" tIns="0" rIns="0" bIns="0" rtlCol="0" anchor="t"/>
          <a:lstStyle/>
          <a:p>
            <a:pPr indent="0" marL="0">
              <a:buNone/>
            </a:pPr>
            <a:r>
              <a:rPr lang="en-US" sz="1700" b="1" dirty="0">
                <a:solidFill>
                  <a:schemeClr val="tx2"/>
                </a:solidFill>
              </a:rPr>
              <a:t>APPLY</a:t>
            </a:r>
            <a:endParaRPr lang="en-US" sz="1700" dirty="0"/>
          </a:p>
        </p:txBody>
      </p:sp>
      <p:sp>
        <p:nvSpPr>
          <p:cNvPr id="15" name="Text 11"/>
          <p:cNvSpPr txBox="1"/>
          <p:nvPr/>
        </p:nvSpPr>
        <p:spPr>
          <a:xfrm>
            <a:off x="2743200" y="2743200"/>
            <a:ext cx="1600200" cy="1463040"/>
          </a:xfrm>
          <a:prstGeom prst="rect">
            <a:avLst/>
          </a:prstGeom>
          <a:noFill/>
          <a:ln/>
        </p:spPr>
        <p:txBody>
          <a:bodyPr wrap="square" lIns="0" tIns="0" rIns="0" bIns="0" rtlCol="0" anchor="t"/>
          <a:lstStyle/>
          <a:p>
            <a:pPr indent="0" marL="0">
              <a:buNone/>
            </a:pPr>
            <a:r>
              <a:rPr lang="en-US" sz="1400" dirty="0">
                <a:solidFill>
                  <a:schemeClr val="tx1"/>
                </a:solidFill>
              </a:rPr>
              <a:t>Menggunakan tools AI yang tepat di setiap tahap riset</a:t>
            </a:r>
            <a:endParaRPr lang="en-US" sz="1400" dirty="0"/>
          </a:p>
        </p:txBody>
      </p:sp>
      <p:sp>
        <p:nvSpPr>
          <p:cNvPr id="16" name="Framework card VERIFY"/>
          <p:cNvSpPr/>
          <p:nvPr/>
        </p:nvSpPr>
        <p:spPr>
          <a:xfrm>
            <a:off x="4663440" y="1325880"/>
            <a:ext cx="1920240" cy="3017520"/>
          </a:xfrm>
          <a:prstGeom prst="roundRect">
            <a:avLst>
              <a:gd name="adj" fmla="val 3810"/>
            </a:avLst>
          </a:prstGeom>
          <a:solidFill>
            <a:schemeClr val="bg2"/>
          </a:solidFill>
          <a:ln/>
        </p:spPr>
      </p:sp>
      <p:sp>
        <p:nvSpPr>
          <p:cNvPr id="17" name="Framework VERIFY circle"/>
          <p:cNvSpPr/>
          <p:nvPr/>
        </p:nvSpPr>
        <p:spPr>
          <a:xfrm>
            <a:off x="4846320" y="1508760"/>
            <a:ext cx="640080" cy="640080"/>
          </a:xfrm>
          <a:prstGeom prst="ellipse">
            <a:avLst/>
          </a:prstGeom>
          <a:solidFill>
            <a:schemeClr val="tx2"/>
          </a:solidFill>
          <a:ln/>
        </p:spPr>
      </p:sp>
      <p:pic>
        <p:nvPicPr>
          <p:cNvPr id="18" name="Framework VERIFY icon" descr="Framework VERIFY">    </p:cNvPr>
          <p:cNvPicPr>
            <a:picLocks noChangeAspect="1"/>
          </p:cNvPicPr>
          <p:nvPr/>
        </p:nvPicPr>
        <p:blipFill>
          <a:blip r:embed="rId3"/>
          <a:stretch>
            <a:fillRect/>
          </a:stretch>
        </p:blipFill>
        <p:spPr>
          <a:xfrm>
            <a:off x="5006340" y="1668780"/>
            <a:ext cx="320040" cy="320040"/>
          </a:xfrm>
          <a:prstGeom prst="rect">
            <a:avLst/>
          </a:prstGeom>
        </p:spPr>
      </p:pic>
      <p:sp>
        <p:nvSpPr>
          <p:cNvPr id="19" name="Text 14"/>
          <p:cNvSpPr txBox="1"/>
          <p:nvPr/>
        </p:nvSpPr>
        <p:spPr>
          <a:xfrm>
            <a:off x="5669280" y="16002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03</a:t>
            </a:r>
            <a:endParaRPr lang="en-US" sz="2400" dirty="0"/>
          </a:p>
        </p:txBody>
      </p:sp>
      <p:sp>
        <p:nvSpPr>
          <p:cNvPr id="20" name="Text 15"/>
          <p:cNvSpPr txBox="1"/>
          <p:nvPr/>
        </p:nvSpPr>
        <p:spPr>
          <a:xfrm>
            <a:off x="4846320" y="2331720"/>
            <a:ext cx="1600200" cy="365760"/>
          </a:xfrm>
          <a:prstGeom prst="rect">
            <a:avLst/>
          </a:prstGeom>
          <a:noFill/>
          <a:ln/>
        </p:spPr>
        <p:txBody>
          <a:bodyPr wrap="square" lIns="0" tIns="0" rIns="0" bIns="0" rtlCol="0" anchor="t"/>
          <a:lstStyle/>
          <a:p>
            <a:pPr indent="0" marL="0">
              <a:buNone/>
            </a:pPr>
            <a:r>
              <a:rPr lang="en-US" sz="1700" b="1" dirty="0">
                <a:solidFill>
                  <a:schemeClr val="tx2"/>
                </a:solidFill>
              </a:rPr>
              <a:t>VERIFY</a:t>
            </a:r>
            <a:endParaRPr lang="en-US" sz="1700" dirty="0"/>
          </a:p>
        </p:txBody>
      </p:sp>
      <p:sp>
        <p:nvSpPr>
          <p:cNvPr id="21" name="Text 16"/>
          <p:cNvSpPr txBox="1"/>
          <p:nvPr/>
        </p:nvSpPr>
        <p:spPr>
          <a:xfrm>
            <a:off x="4846320" y="2743200"/>
            <a:ext cx="1600200" cy="1463040"/>
          </a:xfrm>
          <a:prstGeom prst="rect">
            <a:avLst/>
          </a:prstGeom>
          <a:noFill/>
          <a:ln/>
        </p:spPr>
        <p:txBody>
          <a:bodyPr wrap="square" lIns="0" tIns="0" rIns="0" bIns="0" rtlCol="0" anchor="t"/>
          <a:lstStyle/>
          <a:p>
            <a:pPr indent="0" marL="0">
              <a:buNone/>
            </a:pPr>
            <a:r>
              <a:rPr lang="en-US" sz="1400" dirty="0">
                <a:solidFill>
                  <a:schemeClr val="tx1"/>
                </a:solidFill>
              </a:rPr>
              <a:t>Memvalidasi sumber, data, dan hasil analisis dari AI</a:t>
            </a:r>
            <a:endParaRPr lang="en-US" sz="1400" dirty="0"/>
          </a:p>
        </p:txBody>
      </p:sp>
      <p:sp>
        <p:nvSpPr>
          <p:cNvPr id="22" name="Framework card PUBLISH"/>
          <p:cNvSpPr/>
          <p:nvPr/>
        </p:nvSpPr>
        <p:spPr>
          <a:xfrm>
            <a:off x="6766560" y="1325880"/>
            <a:ext cx="1920240" cy="3017520"/>
          </a:xfrm>
          <a:prstGeom prst="roundRect">
            <a:avLst>
              <a:gd name="adj" fmla="val 3810"/>
            </a:avLst>
          </a:prstGeom>
          <a:solidFill>
            <a:schemeClr val="bg2"/>
          </a:solidFill>
          <a:ln/>
        </p:spPr>
      </p:sp>
      <p:sp>
        <p:nvSpPr>
          <p:cNvPr id="23" name="Framework PUBLISH circle"/>
          <p:cNvSpPr/>
          <p:nvPr/>
        </p:nvSpPr>
        <p:spPr>
          <a:xfrm>
            <a:off x="6949440" y="1508760"/>
            <a:ext cx="640080" cy="640080"/>
          </a:xfrm>
          <a:prstGeom prst="ellipse">
            <a:avLst/>
          </a:prstGeom>
          <a:solidFill>
            <a:schemeClr val="tx2"/>
          </a:solidFill>
          <a:ln/>
        </p:spPr>
      </p:sp>
      <p:pic>
        <p:nvPicPr>
          <p:cNvPr id="24" name="Framework PUBLISH icon" descr="Framework PUBLISH">    </p:cNvPr>
          <p:cNvPicPr>
            <a:picLocks noChangeAspect="1"/>
          </p:cNvPicPr>
          <p:nvPr/>
        </p:nvPicPr>
        <p:blipFill>
          <a:blip r:embed="rId4"/>
          <a:stretch>
            <a:fillRect/>
          </a:stretch>
        </p:blipFill>
        <p:spPr>
          <a:xfrm>
            <a:off x="7109460" y="1668780"/>
            <a:ext cx="320040" cy="320040"/>
          </a:xfrm>
          <a:prstGeom prst="rect">
            <a:avLst/>
          </a:prstGeom>
        </p:spPr>
      </p:pic>
      <p:sp>
        <p:nvSpPr>
          <p:cNvPr id="25" name="Text 19"/>
          <p:cNvSpPr txBox="1"/>
          <p:nvPr/>
        </p:nvSpPr>
        <p:spPr>
          <a:xfrm>
            <a:off x="7772400" y="16002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04</a:t>
            </a:r>
            <a:endParaRPr lang="en-US" sz="2400" dirty="0"/>
          </a:p>
        </p:txBody>
      </p:sp>
      <p:sp>
        <p:nvSpPr>
          <p:cNvPr id="26" name="Text 20"/>
          <p:cNvSpPr txBox="1"/>
          <p:nvPr/>
        </p:nvSpPr>
        <p:spPr>
          <a:xfrm>
            <a:off x="6949440" y="2331720"/>
            <a:ext cx="1600200" cy="365760"/>
          </a:xfrm>
          <a:prstGeom prst="rect">
            <a:avLst/>
          </a:prstGeom>
          <a:noFill/>
          <a:ln/>
        </p:spPr>
        <p:txBody>
          <a:bodyPr wrap="square" lIns="0" tIns="0" rIns="0" bIns="0" rtlCol="0" anchor="t"/>
          <a:lstStyle/>
          <a:p>
            <a:pPr indent="0" marL="0">
              <a:buNone/>
            </a:pPr>
            <a:r>
              <a:rPr lang="en-US" sz="1700" b="1" dirty="0">
                <a:solidFill>
                  <a:schemeClr val="tx2"/>
                </a:solidFill>
              </a:rPr>
              <a:t>PUBLISH</a:t>
            </a:r>
            <a:endParaRPr lang="en-US" sz="1700" dirty="0"/>
          </a:p>
        </p:txBody>
      </p:sp>
      <p:sp>
        <p:nvSpPr>
          <p:cNvPr id="27" name="Text 21"/>
          <p:cNvSpPr txBox="1"/>
          <p:nvPr/>
        </p:nvSpPr>
        <p:spPr>
          <a:xfrm>
            <a:off x="6949440" y="2743200"/>
            <a:ext cx="1600200" cy="1463040"/>
          </a:xfrm>
          <a:prstGeom prst="rect">
            <a:avLst/>
          </a:prstGeom>
          <a:noFill/>
          <a:ln/>
        </p:spPr>
        <p:txBody>
          <a:bodyPr wrap="square" lIns="0" tIns="0" rIns="0" bIns="0" rtlCol="0" anchor="t"/>
          <a:lstStyle/>
          <a:p>
            <a:pPr indent="0" marL="0">
              <a:buNone/>
            </a:pPr>
            <a:r>
              <a:rPr lang="en-US" sz="1400" dirty="0">
                <a:solidFill>
                  <a:schemeClr val="tx1"/>
                </a:solidFill>
              </a:rPr>
              <a:t>Menghasilkan output riset yang transparan dan siap publikasi</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1005840"/>
          </a:xfrm>
          <a:prstGeom prst="rect">
            <a:avLst/>
          </a:prstGeom>
          <a:noFill/>
          <a:ln/>
        </p:spPr>
        <p:txBody>
          <a:bodyPr wrap="square" lIns="0" tIns="0" rIns="0" bIns="0"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03</a:t>
            </a:r>
            <a:endParaRPr lang="en-US" sz="6000" dirty="0"/>
          </a:p>
        </p:txBody>
      </p:sp>
      <p:sp>
        <p:nvSpPr>
          <p:cNvPr id="3" name="Text 0"/>
          <p:cNvSpPr/>
          <p:nvPr>
            <p:ph idx="101" type="title" hasCustomPrompt="1"/>
          </p:nvPr>
        </p:nvSpPr>
        <p:spPr>
          <a:xfrm>
            <a:off x="548640" y="2148840"/>
            <a:ext cx="8046720" cy="822960"/>
          </a:xfrm>
          <a:prstGeom prst="rect">
            <a:avLst/>
          </a:prstGeom>
          <a:noFill/>
          <a:ln/>
        </p:spPr>
        <p:txBody>
          <a:bodyPr wrap="square" lIns="0" tIns="0" rIns="0" bIns="0" rtlCol="0" anchor="t"/>
          <a:lstStyle/>
          <a:p>
            <a:pPr algn="l" indent="0" marL="0">
              <a:buNone/>
            </a:pPr>
            <a:r>
              <a:rPr lang="en-US" sz="3600" b="1" dirty="0">
                <a:solidFill>
                  <a:schemeClr val="bg1"/>
                </a:solidFill>
              </a:rPr>
              <a:t>UT AI Research Accelerator</a:t>
            </a:r>
            <a:endParaRPr lang="en-US" sz="3600" dirty="0"/>
          </a:p>
        </p:txBody>
      </p:sp>
      <p:sp>
        <p:nvSpPr>
          <p:cNvPr id="4" name="Text 0"/>
          <p:cNvSpPr/>
          <p:nvPr>
            <p:ph idx="102" type="body" hasCustomPrompt="1"/>
          </p:nvPr>
        </p:nvSpPr>
        <p:spPr>
          <a:xfrm>
            <a:off x="548640" y="3017520"/>
            <a:ext cx="7315200" cy="822960"/>
          </a:xfrm>
          <a:prstGeom prst="rect">
            <a:avLst/>
          </a:prstGeom>
          <a:noFill/>
          <a:ln/>
        </p:spPr>
        <p:txBody>
          <a:bodyPr wrap="square" lIns="0" tIns="0" rIns="0" bIns="0" rtlCol="0" anchor="t"/>
          <a:lstStyle/>
          <a:p>
            <a:pPr algn="l" indent="0" marL="0">
              <a:buNone/>
            </a:pPr>
            <a:r>
              <a:rPr lang="en-US" sz="1800" dirty="0">
                <a:solidFill>
                  <a:schemeClr val="bg2"/>
                </a:solidFill>
              </a:rPr>
              <a:t>Program dari literasi AI hingga output riset yang siap publikasi</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PROGRAM OVERVIEW</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Lima Komponen Program</a:t>
            </a:r>
            <a:endParaRPr lang="en-US" sz="3000" dirty="0"/>
          </a:p>
        </p:txBody>
      </p:sp>
      <p:sp>
        <p:nvSpPr>
          <p:cNvPr id="4" name="Component 01 circle"/>
          <p:cNvSpPr/>
          <p:nvPr/>
        </p:nvSpPr>
        <p:spPr>
          <a:xfrm>
            <a:off x="457200" y="1280160"/>
            <a:ext cx="502920" cy="502920"/>
          </a:xfrm>
          <a:prstGeom prst="ellipse">
            <a:avLst/>
          </a:prstGeom>
          <a:solidFill>
            <a:schemeClr val="accent2"/>
          </a:solidFill>
          <a:ln/>
        </p:spPr>
      </p:sp>
      <p:pic>
        <p:nvPicPr>
          <p:cNvPr id="5" name="Component 01 icon" descr="Component 01">    </p:cNvPr>
          <p:cNvPicPr>
            <a:picLocks noChangeAspect="1"/>
          </p:cNvPicPr>
          <p:nvPr/>
        </p:nvPicPr>
        <p:blipFill>
          <a:blip r:embed="rId1"/>
          <a:stretch>
            <a:fillRect/>
          </a:stretch>
        </p:blipFill>
        <p:spPr>
          <a:xfrm>
            <a:off x="582930" y="1405890"/>
            <a:ext cx="251460" cy="251460"/>
          </a:xfrm>
          <a:prstGeom prst="rect">
            <a:avLst/>
          </a:prstGeom>
        </p:spPr>
      </p:pic>
      <p:sp>
        <p:nvSpPr>
          <p:cNvPr id="6" name="Text 3"/>
          <p:cNvSpPr txBox="1"/>
          <p:nvPr/>
        </p:nvSpPr>
        <p:spPr>
          <a:xfrm>
            <a:off x="1143000" y="1325880"/>
            <a:ext cx="4572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7" name="Text 4"/>
          <p:cNvSpPr txBox="1"/>
          <p:nvPr/>
        </p:nvSpPr>
        <p:spPr>
          <a:xfrm>
            <a:off x="1645920" y="1344168"/>
            <a:ext cx="2926080" cy="411480"/>
          </a:xfrm>
          <a:prstGeom prst="rect">
            <a:avLst/>
          </a:prstGeom>
          <a:noFill/>
          <a:ln/>
        </p:spPr>
        <p:txBody>
          <a:bodyPr wrap="square" lIns="0" tIns="0" rIns="0" bIns="0" rtlCol="0" anchor="t"/>
          <a:lstStyle/>
          <a:p>
            <a:pPr indent="0" marL="0">
              <a:buNone/>
            </a:pPr>
            <a:r>
              <a:rPr lang="en-US" sz="1600" b="1" dirty="0">
                <a:solidFill>
                  <a:schemeClr val="tx2"/>
                </a:solidFill>
              </a:rPr>
              <a:t>Research AI Readiness Assessment</a:t>
            </a:r>
            <a:endParaRPr lang="en-US" sz="1600" dirty="0"/>
          </a:p>
        </p:txBody>
      </p:sp>
      <p:sp>
        <p:nvSpPr>
          <p:cNvPr id="8" name="Text 5"/>
          <p:cNvSpPr txBox="1"/>
          <p:nvPr/>
        </p:nvSpPr>
        <p:spPr>
          <a:xfrm>
            <a:off x="4617720" y="1280160"/>
            <a:ext cx="4069080" cy="548640"/>
          </a:xfrm>
          <a:prstGeom prst="rect">
            <a:avLst/>
          </a:prstGeom>
          <a:noFill/>
          <a:ln/>
        </p:spPr>
        <p:txBody>
          <a:bodyPr wrap="square" lIns="0" tIns="0" rIns="0" bIns="0" rtlCol="0" anchor="ctr"/>
          <a:lstStyle/>
          <a:p>
            <a:pPr indent="0" marL="0">
              <a:buNone/>
            </a:pPr>
            <a:r>
              <a:rPr lang="en-US" sz="1400" dirty="0">
                <a:solidFill>
                  <a:schemeClr val="tx1"/>
                </a:solidFill>
              </a:rPr>
              <a:t>Mengukur baseline pengetahuan, penggunaan, dan pemahaman integritas riset terkait AI</a:t>
            </a:r>
            <a:endParaRPr lang="en-US" sz="1400" dirty="0"/>
          </a:p>
        </p:txBody>
      </p:sp>
      <p:sp>
        <p:nvSpPr>
          <p:cNvPr id="9" name="Component 02 circle"/>
          <p:cNvSpPr/>
          <p:nvPr/>
        </p:nvSpPr>
        <p:spPr>
          <a:xfrm>
            <a:off x="457200" y="1947672"/>
            <a:ext cx="502920" cy="502920"/>
          </a:xfrm>
          <a:prstGeom prst="ellipse">
            <a:avLst/>
          </a:prstGeom>
          <a:solidFill>
            <a:schemeClr val="accent2"/>
          </a:solidFill>
          <a:ln/>
        </p:spPr>
      </p:sp>
      <p:pic>
        <p:nvPicPr>
          <p:cNvPr id="10" name="Component 02 icon" descr="Component 02">    </p:cNvPr>
          <p:cNvPicPr>
            <a:picLocks noChangeAspect="1"/>
          </p:cNvPicPr>
          <p:nvPr/>
        </p:nvPicPr>
        <p:blipFill>
          <a:blip r:embed="rId2"/>
          <a:stretch>
            <a:fillRect/>
          </a:stretch>
        </p:blipFill>
        <p:spPr>
          <a:xfrm>
            <a:off x="582930" y="2073402"/>
            <a:ext cx="251460" cy="251460"/>
          </a:xfrm>
          <a:prstGeom prst="rect">
            <a:avLst/>
          </a:prstGeom>
        </p:spPr>
      </p:pic>
      <p:sp>
        <p:nvSpPr>
          <p:cNvPr id="11" name="Text 7"/>
          <p:cNvSpPr txBox="1"/>
          <p:nvPr/>
        </p:nvSpPr>
        <p:spPr>
          <a:xfrm>
            <a:off x="1143000" y="1993392"/>
            <a:ext cx="4572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2" name="Text 8"/>
          <p:cNvSpPr txBox="1"/>
          <p:nvPr/>
        </p:nvSpPr>
        <p:spPr>
          <a:xfrm>
            <a:off x="1645920" y="2011680"/>
            <a:ext cx="2926080" cy="411480"/>
          </a:xfrm>
          <a:prstGeom prst="rect">
            <a:avLst/>
          </a:prstGeom>
          <a:noFill/>
          <a:ln/>
        </p:spPr>
        <p:txBody>
          <a:bodyPr wrap="square" lIns="0" tIns="0" rIns="0" bIns="0" rtlCol="0" anchor="t"/>
          <a:lstStyle/>
          <a:p>
            <a:pPr indent="0" marL="0">
              <a:buNone/>
            </a:pPr>
            <a:r>
              <a:rPr lang="en-US" sz="1600" b="1" dirty="0">
                <a:solidFill>
                  <a:schemeClr val="tx2"/>
                </a:solidFill>
              </a:rPr>
              <a:t>AI Research Foundations</a:t>
            </a:r>
            <a:endParaRPr lang="en-US" sz="1600" dirty="0"/>
          </a:p>
        </p:txBody>
      </p:sp>
      <p:sp>
        <p:nvSpPr>
          <p:cNvPr id="13" name="Text 9"/>
          <p:cNvSpPr txBox="1"/>
          <p:nvPr/>
        </p:nvSpPr>
        <p:spPr>
          <a:xfrm>
            <a:off x="4617720" y="1947672"/>
            <a:ext cx="4069080" cy="548640"/>
          </a:xfrm>
          <a:prstGeom prst="rect">
            <a:avLst/>
          </a:prstGeom>
          <a:noFill/>
          <a:ln/>
        </p:spPr>
        <p:txBody>
          <a:bodyPr wrap="square" lIns="0" tIns="0" rIns="0" bIns="0" rtlCol="0" anchor="ctr"/>
          <a:lstStyle/>
          <a:p>
            <a:pPr indent="0" marL="0">
              <a:buNone/>
            </a:pPr>
            <a:r>
              <a:rPr lang="en-US" sz="1400" dirty="0">
                <a:solidFill>
                  <a:schemeClr val="tx1"/>
                </a:solidFill>
              </a:rPr>
              <a:t>Fondasi AI untuk riset dan setup Claude Code dengan Zotero, Scite, dan Flourish</a:t>
            </a:r>
            <a:endParaRPr lang="en-US" sz="1400" dirty="0"/>
          </a:p>
        </p:txBody>
      </p:sp>
      <p:sp>
        <p:nvSpPr>
          <p:cNvPr id="14" name="Component 03 circle"/>
          <p:cNvSpPr/>
          <p:nvPr/>
        </p:nvSpPr>
        <p:spPr>
          <a:xfrm>
            <a:off x="457200" y="2615184"/>
            <a:ext cx="502920" cy="502920"/>
          </a:xfrm>
          <a:prstGeom prst="ellipse">
            <a:avLst/>
          </a:prstGeom>
          <a:solidFill>
            <a:schemeClr val="accent2"/>
          </a:solidFill>
          <a:ln/>
        </p:spPr>
      </p:sp>
      <p:pic>
        <p:nvPicPr>
          <p:cNvPr id="15" name="Component 03 icon" descr="Component 03">    </p:cNvPr>
          <p:cNvPicPr>
            <a:picLocks noChangeAspect="1"/>
          </p:cNvPicPr>
          <p:nvPr/>
        </p:nvPicPr>
        <p:blipFill>
          <a:blip r:embed="rId3"/>
          <a:stretch>
            <a:fillRect/>
          </a:stretch>
        </p:blipFill>
        <p:spPr>
          <a:xfrm>
            <a:off x="582930" y="2740914"/>
            <a:ext cx="251460" cy="251460"/>
          </a:xfrm>
          <a:prstGeom prst="rect">
            <a:avLst/>
          </a:prstGeom>
        </p:spPr>
      </p:pic>
      <p:sp>
        <p:nvSpPr>
          <p:cNvPr id="16" name="Text 11"/>
          <p:cNvSpPr txBox="1"/>
          <p:nvPr/>
        </p:nvSpPr>
        <p:spPr>
          <a:xfrm>
            <a:off x="1143000" y="2660904"/>
            <a:ext cx="4572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7" name="Text 12"/>
          <p:cNvSpPr txBox="1"/>
          <p:nvPr/>
        </p:nvSpPr>
        <p:spPr>
          <a:xfrm>
            <a:off x="1645920" y="2679192"/>
            <a:ext cx="2926080" cy="411480"/>
          </a:xfrm>
          <a:prstGeom prst="rect">
            <a:avLst/>
          </a:prstGeom>
          <a:noFill/>
          <a:ln/>
        </p:spPr>
        <p:txBody>
          <a:bodyPr wrap="square" lIns="0" tIns="0" rIns="0" bIns="0" rtlCol="0" anchor="t"/>
          <a:lstStyle/>
          <a:p>
            <a:pPr indent="0" marL="0">
              <a:buNone/>
            </a:pPr>
            <a:r>
              <a:rPr lang="en-US" sz="1600" b="1" dirty="0">
                <a:solidFill>
                  <a:schemeClr val="tx2"/>
                </a:solidFill>
              </a:rPr>
              <a:t>AI-Assisted Research Clinic</a:t>
            </a:r>
            <a:endParaRPr lang="en-US" sz="1600" dirty="0"/>
          </a:p>
        </p:txBody>
      </p:sp>
      <p:sp>
        <p:nvSpPr>
          <p:cNvPr id="18" name="Text 13"/>
          <p:cNvSpPr txBox="1"/>
          <p:nvPr/>
        </p:nvSpPr>
        <p:spPr>
          <a:xfrm>
            <a:off x="4617720" y="2615184"/>
            <a:ext cx="4069080" cy="548640"/>
          </a:xfrm>
          <a:prstGeom prst="rect">
            <a:avLst/>
          </a:prstGeom>
          <a:noFill/>
          <a:ln/>
        </p:spPr>
        <p:txBody>
          <a:bodyPr wrap="square" lIns="0" tIns="0" rIns="0" bIns="0" rtlCol="0" anchor="ctr"/>
          <a:lstStyle/>
          <a:p>
            <a:pPr indent="0" marL="0">
              <a:buNone/>
            </a:pPr>
            <a:r>
              <a:rPr lang="en-US" sz="1400" dirty="0">
                <a:solidFill>
                  <a:schemeClr val="tx1"/>
                </a:solidFill>
              </a:rPr>
              <a:t>Menerapkan research AI stack pada proyek riset peserta, dari pertanyaan hingga draf</a:t>
            </a:r>
            <a:endParaRPr lang="en-US" sz="1400" dirty="0"/>
          </a:p>
        </p:txBody>
      </p:sp>
      <p:sp>
        <p:nvSpPr>
          <p:cNvPr id="19" name="Component 04 circle"/>
          <p:cNvSpPr/>
          <p:nvPr/>
        </p:nvSpPr>
        <p:spPr>
          <a:xfrm>
            <a:off x="457200" y="3282696"/>
            <a:ext cx="502920" cy="502920"/>
          </a:xfrm>
          <a:prstGeom prst="ellipse">
            <a:avLst/>
          </a:prstGeom>
          <a:solidFill>
            <a:schemeClr val="accent2"/>
          </a:solidFill>
          <a:ln/>
        </p:spPr>
      </p:sp>
      <p:pic>
        <p:nvPicPr>
          <p:cNvPr id="20" name="Component 04 icon" descr="Component 04">    </p:cNvPr>
          <p:cNvPicPr>
            <a:picLocks noChangeAspect="1"/>
          </p:cNvPicPr>
          <p:nvPr/>
        </p:nvPicPr>
        <p:blipFill>
          <a:blip r:embed="rId4"/>
          <a:stretch>
            <a:fillRect/>
          </a:stretch>
        </p:blipFill>
        <p:spPr>
          <a:xfrm>
            <a:off x="582930" y="3408426"/>
            <a:ext cx="251460" cy="251460"/>
          </a:xfrm>
          <a:prstGeom prst="rect">
            <a:avLst/>
          </a:prstGeom>
        </p:spPr>
      </p:pic>
      <p:sp>
        <p:nvSpPr>
          <p:cNvPr id="21" name="Text 15"/>
          <p:cNvSpPr txBox="1"/>
          <p:nvPr/>
        </p:nvSpPr>
        <p:spPr>
          <a:xfrm>
            <a:off x="1143000" y="3328416"/>
            <a:ext cx="4572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22" name="Text 16"/>
          <p:cNvSpPr txBox="1"/>
          <p:nvPr/>
        </p:nvSpPr>
        <p:spPr>
          <a:xfrm>
            <a:off x="1645920" y="3346704"/>
            <a:ext cx="2926080" cy="411480"/>
          </a:xfrm>
          <a:prstGeom prst="rect">
            <a:avLst/>
          </a:prstGeom>
          <a:noFill/>
          <a:ln/>
        </p:spPr>
        <p:txBody>
          <a:bodyPr wrap="square" lIns="0" tIns="0" rIns="0" bIns="0" rtlCol="0" anchor="t"/>
          <a:lstStyle/>
          <a:p>
            <a:pPr indent="0" marL="0">
              <a:buNone/>
            </a:pPr>
            <a:r>
              <a:rPr lang="en-US" sz="1600" b="1" dirty="0">
                <a:solidFill>
                  <a:schemeClr val="tx2"/>
                </a:solidFill>
              </a:rPr>
              <a:t>Research Output &amp; Integrity</a:t>
            </a:r>
            <a:endParaRPr lang="en-US" sz="1600" dirty="0"/>
          </a:p>
        </p:txBody>
      </p:sp>
      <p:sp>
        <p:nvSpPr>
          <p:cNvPr id="23" name="Text 17"/>
          <p:cNvSpPr txBox="1"/>
          <p:nvPr/>
        </p:nvSpPr>
        <p:spPr>
          <a:xfrm>
            <a:off x="4617720" y="3282696"/>
            <a:ext cx="4069080" cy="548640"/>
          </a:xfrm>
          <a:prstGeom prst="rect">
            <a:avLst/>
          </a:prstGeom>
          <a:noFill/>
          <a:ln/>
        </p:spPr>
        <p:txBody>
          <a:bodyPr wrap="square" lIns="0" tIns="0" rIns="0" bIns="0" rtlCol="0" anchor="ctr"/>
          <a:lstStyle/>
          <a:p>
            <a:pPr indent="0" marL="0">
              <a:buNone/>
            </a:pPr>
            <a:r>
              <a:rPr lang="en-US" sz="1400" dirty="0">
                <a:solidFill>
                  <a:schemeClr val="tx1"/>
                </a:solidFill>
              </a:rPr>
              <a:t>Mengubah hasil kerja menjadi output riset yang transparan dan siap publikasi</a:t>
            </a:r>
            <a:endParaRPr lang="en-US" sz="1400" dirty="0"/>
          </a:p>
        </p:txBody>
      </p:sp>
      <p:sp>
        <p:nvSpPr>
          <p:cNvPr id="24" name="Component 05 circle"/>
          <p:cNvSpPr/>
          <p:nvPr/>
        </p:nvSpPr>
        <p:spPr>
          <a:xfrm>
            <a:off x="457200" y="3950208"/>
            <a:ext cx="502920" cy="502920"/>
          </a:xfrm>
          <a:prstGeom prst="ellipse">
            <a:avLst/>
          </a:prstGeom>
          <a:solidFill>
            <a:schemeClr val="accent6"/>
          </a:solidFill>
          <a:ln/>
        </p:spPr>
      </p:sp>
      <p:pic>
        <p:nvPicPr>
          <p:cNvPr id="25" name="Component 05 icon" descr="Component 05">    </p:cNvPr>
          <p:cNvPicPr>
            <a:picLocks noChangeAspect="1"/>
          </p:cNvPicPr>
          <p:nvPr/>
        </p:nvPicPr>
        <p:blipFill>
          <a:blip r:embed="rId5"/>
          <a:stretch>
            <a:fillRect/>
          </a:stretch>
        </p:blipFill>
        <p:spPr>
          <a:xfrm>
            <a:off x="582930" y="4075938"/>
            <a:ext cx="251460" cy="251460"/>
          </a:xfrm>
          <a:prstGeom prst="rect">
            <a:avLst/>
          </a:prstGeom>
        </p:spPr>
      </p:pic>
      <p:sp>
        <p:nvSpPr>
          <p:cNvPr id="26" name="Text 19"/>
          <p:cNvSpPr txBox="1"/>
          <p:nvPr/>
        </p:nvSpPr>
        <p:spPr>
          <a:xfrm>
            <a:off x="1143000" y="3995928"/>
            <a:ext cx="4572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27" name="Text 20"/>
          <p:cNvSpPr txBox="1"/>
          <p:nvPr/>
        </p:nvSpPr>
        <p:spPr>
          <a:xfrm>
            <a:off x="1645920" y="4014216"/>
            <a:ext cx="2926080" cy="411480"/>
          </a:xfrm>
          <a:prstGeom prst="rect">
            <a:avLst/>
          </a:prstGeom>
          <a:noFill/>
          <a:ln/>
        </p:spPr>
        <p:txBody>
          <a:bodyPr wrap="square" lIns="0" tIns="0" rIns="0" bIns="0" rtlCol="0" anchor="t"/>
          <a:lstStyle/>
          <a:p>
            <a:pPr indent="0" marL="0">
              <a:buNone/>
            </a:pPr>
            <a:r>
              <a:rPr lang="en-US" sz="1600" b="1" dirty="0">
                <a:solidFill>
                  <a:schemeClr val="tx2"/>
                </a:solidFill>
              </a:rPr>
              <a:t>Program Reporting</a:t>
            </a:r>
            <a:endParaRPr lang="en-US" sz="1600" dirty="0"/>
          </a:p>
        </p:txBody>
      </p:sp>
      <p:sp>
        <p:nvSpPr>
          <p:cNvPr id="28" name="Text 21"/>
          <p:cNvSpPr txBox="1"/>
          <p:nvPr/>
        </p:nvSpPr>
        <p:spPr>
          <a:xfrm>
            <a:off x="4617720" y="3950208"/>
            <a:ext cx="4069080" cy="548640"/>
          </a:xfrm>
          <a:prstGeom prst="rect">
            <a:avLst/>
          </a:prstGeom>
          <a:noFill/>
          <a:ln/>
        </p:spPr>
        <p:txBody>
          <a:bodyPr wrap="square" lIns="0" tIns="0" rIns="0" bIns="0" rtlCol="0" anchor="ctr"/>
          <a:lstStyle/>
          <a:p>
            <a:pPr indent="0" marL="0">
              <a:buNone/>
            </a:pPr>
            <a:r>
              <a:rPr lang="en-US" sz="1400" dirty="0">
                <a:solidFill>
                  <a:schemeClr val="tx1"/>
                </a:solidFill>
              </a:rPr>
              <a:t>Laporan partisipasi, perkembangan kemampuan, dan output riset untuk UT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RESEARCH AI STACK</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Claude Code sebagai Pusat Alur Riset</a:t>
            </a:r>
            <a:endParaRPr lang="en-US" sz="3000" dirty="0"/>
          </a:p>
        </p:txBody>
      </p:sp>
      <p:sp>
        <p:nvSpPr>
          <p:cNvPr id="4" name="Connector Scite"/>
          <p:cNvSpPr/>
          <p:nvPr/>
        </p:nvSpPr>
        <p:spPr>
          <a:xfrm>
            <a:off x="3017520" y="1737360"/>
            <a:ext cx="274320" cy="845820"/>
          </a:xfrm>
          <a:prstGeom prst="line">
            <a:avLst/>
          </a:prstGeom>
          <a:noFill/>
          <a:ln w="15875">
            <a:solidFill>
              <a:schemeClr val="accent6"/>
            </a:solidFill>
            <a:prstDash val="dash"/>
          </a:ln>
        </p:spPr>
      </p:sp>
      <p:sp>
        <p:nvSpPr>
          <p:cNvPr id="5" name="Connector Zotero"/>
          <p:cNvSpPr/>
          <p:nvPr/>
        </p:nvSpPr>
        <p:spPr>
          <a:xfrm flipV="1">
            <a:off x="5852160" y="1737360"/>
            <a:ext cx="274320" cy="845820"/>
          </a:xfrm>
          <a:prstGeom prst="line">
            <a:avLst/>
          </a:prstGeom>
          <a:noFill/>
          <a:ln w="15875">
            <a:solidFill>
              <a:schemeClr val="accent6"/>
            </a:solidFill>
            <a:prstDash val="dash"/>
          </a:ln>
        </p:spPr>
      </p:sp>
      <p:sp>
        <p:nvSpPr>
          <p:cNvPr id="6" name="Connector Flourish"/>
          <p:cNvSpPr/>
          <p:nvPr/>
        </p:nvSpPr>
        <p:spPr>
          <a:xfrm flipV="1">
            <a:off x="3017520" y="2583180"/>
            <a:ext cx="274320" cy="1257300"/>
          </a:xfrm>
          <a:prstGeom prst="line">
            <a:avLst/>
          </a:prstGeom>
          <a:noFill/>
          <a:ln w="15875">
            <a:solidFill>
              <a:schemeClr val="accent6"/>
            </a:solidFill>
            <a:prstDash val="dash"/>
          </a:ln>
        </p:spPr>
      </p:sp>
      <p:sp>
        <p:nvSpPr>
          <p:cNvPr id="7" name="Connector Python / R"/>
          <p:cNvSpPr/>
          <p:nvPr/>
        </p:nvSpPr>
        <p:spPr>
          <a:xfrm>
            <a:off x="5852160" y="2583180"/>
            <a:ext cx="274320" cy="1257300"/>
          </a:xfrm>
          <a:prstGeom prst="line">
            <a:avLst/>
          </a:prstGeom>
          <a:noFill/>
          <a:ln w="15875">
            <a:solidFill>
              <a:schemeClr val="accent6"/>
            </a:solidFill>
            <a:prstDash val="dash"/>
          </a:ln>
        </p:spPr>
      </p:sp>
      <p:sp>
        <p:nvSpPr>
          <p:cNvPr id="8" name="Stack card Scite"/>
          <p:cNvSpPr/>
          <p:nvPr/>
        </p:nvSpPr>
        <p:spPr>
          <a:xfrm>
            <a:off x="457200" y="1234440"/>
            <a:ext cx="2560320" cy="1005840"/>
          </a:xfrm>
          <a:prstGeom prst="roundRect">
            <a:avLst>
              <a:gd name="adj" fmla="val 7273"/>
            </a:avLst>
          </a:prstGeom>
          <a:solidFill>
            <a:schemeClr val="bg1"/>
          </a:solidFill>
          <a:ln/>
          <a:effectLst>
            <a:outerShdw sx="100000" sy="100000" kx="0" ky="0" algn="bl" rotWithShape="0" blurRad="76200" dist="25400" dir="5400000">
              <a:srgbClr val="000000">
                <a:alpha val="12000"/>
              </a:srgbClr>
            </a:outerShdw>
          </a:effectLst>
        </p:spPr>
      </p:sp>
      <p:sp>
        <p:nvSpPr>
          <p:cNvPr id="9" name="Stack Scite circle"/>
          <p:cNvSpPr/>
          <p:nvPr/>
        </p:nvSpPr>
        <p:spPr>
          <a:xfrm>
            <a:off x="594360" y="1417320"/>
            <a:ext cx="548640" cy="548640"/>
          </a:xfrm>
          <a:prstGeom prst="ellipse">
            <a:avLst/>
          </a:prstGeom>
          <a:solidFill>
            <a:schemeClr val="accent2"/>
          </a:solidFill>
          <a:ln/>
        </p:spPr>
      </p:sp>
      <p:pic>
        <p:nvPicPr>
          <p:cNvPr id="10" name="Stack Scite icon" descr="Stack Scite">    </p:cNvPr>
          <p:cNvPicPr>
            <a:picLocks noChangeAspect="1"/>
          </p:cNvPicPr>
          <p:nvPr/>
        </p:nvPicPr>
        <p:blipFill>
          <a:blip r:embed="rId1"/>
          <a:stretch>
            <a:fillRect/>
          </a:stretch>
        </p:blipFill>
        <p:spPr>
          <a:xfrm>
            <a:off x="731520" y="1554480"/>
            <a:ext cx="274320" cy="274320"/>
          </a:xfrm>
          <a:prstGeom prst="rect">
            <a:avLst/>
          </a:prstGeom>
        </p:spPr>
      </p:pic>
      <p:sp>
        <p:nvSpPr>
          <p:cNvPr id="11" name="Text 8"/>
          <p:cNvSpPr txBox="1"/>
          <p:nvPr/>
        </p:nvSpPr>
        <p:spPr>
          <a:xfrm>
            <a:off x="1280160" y="1344168"/>
            <a:ext cx="1645920" cy="274320"/>
          </a:xfrm>
          <a:prstGeom prst="rect">
            <a:avLst/>
          </a:prstGeom>
          <a:noFill/>
          <a:ln/>
        </p:spPr>
        <p:txBody>
          <a:bodyPr wrap="square" lIns="0" tIns="0" rIns="0" bIns="0" rtlCol="0" anchor="t"/>
          <a:lstStyle/>
          <a:p>
            <a:pPr indent="0" marL="0">
              <a:buNone/>
            </a:pPr>
            <a:r>
              <a:rPr lang="en-US" sz="1500" b="1" dirty="0">
                <a:solidFill>
                  <a:schemeClr val="tx2"/>
                </a:solidFill>
              </a:rPr>
              <a:t>Scite</a:t>
            </a:r>
            <a:endParaRPr lang="en-US" sz="1500" dirty="0"/>
          </a:p>
        </p:txBody>
      </p:sp>
      <p:sp>
        <p:nvSpPr>
          <p:cNvPr id="12" name="Text 9"/>
          <p:cNvSpPr txBox="1"/>
          <p:nvPr/>
        </p:nvSpPr>
        <p:spPr>
          <a:xfrm>
            <a:off x="1280160" y="1618488"/>
            <a:ext cx="1645920" cy="594360"/>
          </a:xfrm>
          <a:prstGeom prst="rect">
            <a:avLst/>
          </a:prstGeom>
          <a:noFill/>
          <a:ln/>
        </p:spPr>
        <p:txBody>
          <a:bodyPr wrap="square" lIns="0" tIns="0" rIns="0" bIns="0" rtlCol="0" anchor="t"/>
          <a:lstStyle/>
          <a:p>
            <a:pPr indent="0" marL="0">
              <a:buNone/>
            </a:pPr>
            <a:r>
              <a:rPr lang="en-US" sz="1200" dirty="0">
                <a:solidFill>
                  <a:schemeClr val="tx1"/>
                </a:solidFill>
              </a:rPr>
              <a:t>Cari literatur dan cek konteks sitasi: mendukung atau membantah</a:t>
            </a:r>
            <a:endParaRPr lang="en-US" sz="1200" dirty="0"/>
          </a:p>
        </p:txBody>
      </p:sp>
      <p:sp>
        <p:nvSpPr>
          <p:cNvPr id="13" name="Stack card Zotero"/>
          <p:cNvSpPr/>
          <p:nvPr/>
        </p:nvSpPr>
        <p:spPr>
          <a:xfrm>
            <a:off x="6126480" y="1234440"/>
            <a:ext cx="2560320" cy="1005840"/>
          </a:xfrm>
          <a:prstGeom prst="roundRect">
            <a:avLst>
              <a:gd name="adj" fmla="val 7273"/>
            </a:avLst>
          </a:prstGeom>
          <a:solidFill>
            <a:schemeClr val="bg1"/>
          </a:solidFill>
          <a:ln/>
          <a:effectLst>
            <a:outerShdw sx="100000" sy="100000" kx="0" ky="0" algn="bl" rotWithShape="0" blurRad="76200" dist="25400" dir="5400000">
              <a:srgbClr val="000000">
                <a:alpha val="12000"/>
              </a:srgbClr>
            </a:outerShdw>
          </a:effectLst>
        </p:spPr>
      </p:sp>
      <p:sp>
        <p:nvSpPr>
          <p:cNvPr id="14" name="Stack Zotero circle"/>
          <p:cNvSpPr/>
          <p:nvPr/>
        </p:nvSpPr>
        <p:spPr>
          <a:xfrm>
            <a:off x="6263640" y="1417320"/>
            <a:ext cx="548640" cy="548640"/>
          </a:xfrm>
          <a:prstGeom prst="ellipse">
            <a:avLst/>
          </a:prstGeom>
          <a:solidFill>
            <a:schemeClr val="accent2"/>
          </a:solidFill>
          <a:ln/>
        </p:spPr>
      </p:sp>
      <p:pic>
        <p:nvPicPr>
          <p:cNvPr id="15" name="Stack Zotero icon" descr="Stack Zotero">    </p:cNvPr>
          <p:cNvPicPr>
            <a:picLocks noChangeAspect="1"/>
          </p:cNvPicPr>
          <p:nvPr/>
        </p:nvPicPr>
        <p:blipFill>
          <a:blip r:embed="rId2"/>
          <a:stretch>
            <a:fillRect/>
          </a:stretch>
        </p:blipFill>
        <p:spPr>
          <a:xfrm>
            <a:off x="6400800" y="1554480"/>
            <a:ext cx="274320" cy="274320"/>
          </a:xfrm>
          <a:prstGeom prst="rect">
            <a:avLst/>
          </a:prstGeom>
        </p:spPr>
      </p:pic>
      <p:sp>
        <p:nvSpPr>
          <p:cNvPr id="16" name="Text 12"/>
          <p:cNvSpPr txBox="1"/>
          <p:nvPr/>
        </p:nvSpPr>
        <p:spPr>
          <a:xfrm>
            <a:off x="6949440" y="1344168"/>
            <a:ext cx="1645920" cy="274320"/>
          </a:xfrm>
          <a:prstGeom prst="rect">
            <a:avLst/>
          </a:prstGeom>
          <a:noFill/>
          <a:ln/>
        </p:spPr>
        <p:txBody>
          <a:bodyPr wrap="square" lIns="0" tIns="0" rIns="0" bIns="0" rtlCol="0" anchor="t"/>
          <a:lstStyle/>
          <a:p>
            <a:pPr indent="0" marL="0">
              <a:buNone/>
            </a:pPr>
            <a:r>
              <a:rPr lang="en-US" sz="1500" b="1" dirty="0">
                <a:solidFill>
                  <a:schemeClr val="tx2"/>
                </a:solidFill>
              </a:rPr>
              <a:t>Zotero</a:t>
            </a:r>
            <a:endParaRPr lang="en-US" sz="1500" dirty="0"/>
          </a:p>
        </p:txBody>
      </p:sp>
      <p:sp>
        <p:nvSpPr>
          <p:cNvPr id="17" name="Text 13"/>
          <p:cNvSpPr txBox="1"/>
          <p:nvPr/>
        </p:nvSpPr>
        <p:spPr>
          <a:xfrm>
            <a:off x="6949440" y="1618488"/>
            <a:ext cx="1645920" cy="594360"/>
          </a:xfrm>
          <a:prstGeom prst="rect">
            <a:avLst/>
          </a:prstGeom>
          <a:noFill/>
          <a:ln/>
        </p:spPr>
        <p:txBody>
          <a:bodyPr wrap="square" lIns="0" tIns="0" rIns="0" bIns="0" rtlCol="0" anchor="t"/>
          <a:lstStyle/>
          <a:p>
            <a:pPr indent="0" marL="0">
              <a:buNone/>
            </a:pPr>
            <a:r>
              <a:rPr lang="en-US" sz="1200" dirty="0">
                <a:solidFill>
                  <a:schemeClr val="tx1"/>
                </a:solidFill>
              </a:rPr>
              <a:t>Kelola pustaka, PDF, dan format sitasi</a:t>
            </a:r>
            <a:endParaRPr lang="en-US" sz="1200" dirty="0"/>
          </a:p>
        </p:txBody>
      </p:sp>
      <p:sp>
        <p:nvSpPr>
          <p:cNvPr id="18" name="Stack card Flourish"/>
          <p:cNvSpPr/>
          <p:nvPr/>
        </p:nvSpPr>
        <p:spPr>
          <a:xfrm>
            <a:off x="457200" y="3337560"/>
            <a:ext cx="2560320" cy="1005840"/>
          </a:xfrm>
          <a:prstGeom prst="roundRect">
            <a:avLst>
              <a:gd name="adj" fmla="val 7273"/>
            </a:avLst>
          </a:prstGeom>
          <a:solidFill>
            <a:schemeClr val="bg1"/>
          </a:solidFill>
          <a:ln/>
          <a:effectLst>
            <a:outerShdw sx="100000" sy="100000" kx="0" ky="0" algn="bl" rotWithShape="0" blurRad="76200" dist="25400" dir="5400000">
              <a:srgbClr val="000000">
                <a:alpha val="12000"/>
              </a:srgbClr>
            </a:outerShdw>
          </a:effectLst>
        </p:spPr>
      </p:sp>
      <p:sp>
        <p:nvSpPr>
          <p:cNvPr id="19" name="Stack Flourish circle"/>
          <p:cNvSpPr/>
          <p:nvPr/>
        </p:nvSpPr>
        <p:spPr>
          <a:xfrm>
            <a:off x="594360" y="3520440"/>
            <a:ext cx="548640" cy="548640"/>
          </a:xfrm>
          <a:prstGeom prst="ellipse">
            <a:avLst/>
          </a:prstGeom>
          <a:solidFill>
            <a:schemeClr val="accent2"/>
          </a:solidFill>
          <a:ln/>
        </p:spPr>
      </p:sp>
      <p:pic>
        <p:nvPicPr>
          <p:cNvPr id="20" name="Stack Flourish icon" descr="Stack Flourish">    </p:cNvPr>
          <p:cNvPicPr>
            <a:picLocks noChangeAspect="1"/>
          </p:cNvPicPr>
          <p:nvPr/>
        </p:nvPicPr>
        <p:blipFill>
          <a:blip r:embed="rId3"/>
          <a:stretch>
            <a:fillRect/>
          </a:stretch>
        </p:blipFill>
        <p:spPr>
          <a:xfrm>
            <a:off x="731520" y="3657600"/>
            <a:ext cx="274320" cy="274320"/>
          </a:xfrm>
          <a:prstGeom prst="rect">
            <a:avLst/>
          </a:prstGeom>
        </p:spPr>
      </p:pic>
      <p:sp>
        <p:nvSpPr>
          <p:cNvPr id="21" name="Text 16"/>
          <p:cNvSpPr txBox="1"/>
          <p:nvPr/>
        </p:nvSpPr>
        <p:spPr>
          <a:xfrm>
            <a:off x="1280160" y="3447288"/>
            <a:ext cx="1645920" cy="274320"/>
          </a:xfrm>
          <a:prstGeom prst="rect">
            <a:avLst/>
          </a:prstGeom>
          <a:noFill/>
          <a:ln/>
        </p:spPr>
        <p:txBody>
          <a:bodyPr wrap="square" lIns="0" tIns="0" rIns="0" bIns="0" rtlCol="0" anchor="t"/>
          <a:lstStyle/>
          <a:p>
            <a:pPr indent="0" marL="0">
              <a:buNone/>
            </a:pPr>
            <a:r>
              <a:rPr lang="en-US" sz="1500" b="1" dirty="0">
                <a:solidFill>
                  <a:schemeClr val="tx2"/>
                </a:solidFill>
              </a:rPr>
              <a:t>Flourish</a:t>
            </a:r>
            <a:endParaRPr lang="en-US" sz="1500" dirty="0"/>
          </a:p>
        </p:txBody>
      </p:sp>
      <p:sp>
        <p:nvSpPr>
          <p:cNvPr id="22" name="Text 17"/>
          <p:cNvSpPr txBox="1"/>
          <p:nvPr/>
        </p:nvSpPr>
        <p:spPr>
          <a:xfrm>
            <a:off x="1280160" y="3721608"/>
            <a:ext cx="1645920" cy="594360"/>
          </a:xfrm>
          <a:prstGeom prst="rect">
            <a:avLst/>
          </a:prstGeom>
          <a:noFill/>
          <a:ln/>
        </p:spPr>
        <p:txBody>
          <a:bodyPr wrap="square" lIns="0" tIns="0" rIns="0" bIns="0" rtlCol="0" anchor="t"/>
          <a:lstStyle/>
          <a:p>
            <a:pPr indent="0" marL="0">
              <a:buNone/>
            </a:pPr>
            <a:r>
              <a:rPr lang="en-US" sz="1200" dirty="0">
                <a:solidFill>
                  <a:schemeClr val="tx1"/>
                </a:solidFill>
              </a:rPr>
              <a:t>Visualisasi interaktif yang siap dipublikasikan</a:t>
            </a:r>
            <a:endParaRPr lang="en-US" sz="1200" dirty="0"/>
          </a:p>
        </p:txBody>
      </p:sp>
      <p:sp>
        <p:nvSpPr>
          <p:cNvPr id="23" name="Stack card Python / R"/>
          <p:cNvSpPr/>
          <p:nvPr/>
        </p:nvSpPr>
        <p:spPr>
          <a:xfrm>
            <a:off x="6126480" y="3337560"/>
            <a:ext cx="2560320" cy="1005840"/>
          </a:xfrm>
          <a:prstGeom prst="roundRect">
            <a:avLst>
              <a:gd name="adj" fmla="val 7273"/>
            </a:avLst>
          </a:prstGeom>
          <a:solidFill>
            <a:schemeClr val="bg1"/>
          </a:solidFill>
          <a:ln/>
          <a:effectLst>
            <a:outerShdw sx="100000" sy="100000" kx="0" ky="0" algn="bl" rotWithShape="0" blurRad="76200" dist="25400" dir="5400000">
              <a:srgbClr val="000000">
                <a:alpha val="12000"/>
              </a:srgbClr>
            </a:outerShdw>
          </a:effectLst>
        </p:spPr>
      </p:sp>
      <p:sp>
        <p:nvSpPr>
          <p:cNvPr id="24" name="Stack Python / R circle"/>
          <p:cNvSpPr/>
          <p:nvPr/>
        </p:nvSpPr>
        <p:spPr>
          <a:xfrm>
            <a:off x="6263640" y="3520440"/>
            <a:ext cx="548640" cy="548640"/>
          </a:xfrm>
          <a:prstGeom prst="ellipse">
            <a:avLst/>
          </a:prstGeom>
          <a:solidFill>
            <a:schemeClr val="accent2"/>
          </a:solidFill>
          <a:ln/>
        </p:spPr>
      </p:sp>
      <p:pic>
        <p:nvPicPr>
          <p:cNvPr id="25" name="Stack Python / R icon" descr="Stack Python / R">    </p:cNvPr>
          <p:cNvPicPr>
            <a:picLocks noChangeAspect="1"/>
          </p:cNvPicPr>
          <p:nvPr/>
        </p:nvPicPr>
        <p:blipFill>
          <a:blip r:embed="rId4"/>
          <a:stretch>
            <a:fillRect/>
          </a:stretch>
        </p:blipFill>
        <p:spPr>
          <a:xfrm>
            <a:off x="6400800" y="3657600"/>
            <a:ext cx="274320" cy="274320"/>
          </a:xfrm>
          <a:prstGeom prst="rect">
            <a:avLst/>
          </a:prstGeom>
        </p:spPr>
      </p:pic>
      <p:sp>
        <p:nvSpPr>
          <p:cNvPr id="26" name="Text 20"/>
          <p:cNvSpPr txBox="1"/>
          <p:nvPr/>
        </p:nvSpPr>
        <p:spPr>
          <a:xfrm>
            <a:off x="6949440" y="3447288"/>
            <a:ext cx="1645920" cy="274320"/>
          </a:xfrm>
          <a:prstGeom prst="rect">
            <a:avLst/>
          </a:prstGeom>
          <a:noFill/>
          <a:ln/>
        </p:spPr>
        <p:txBody>
          <a:bodyPr wrap="square" lIns="0" tIns="0" rIns="0" bIns="0" rtlCol="0" anchor="t"/>
          <a:lstStyle/>
          <a:p>
            <a:pPr indent="0" marL="0">
              <a:buNone/>
            </a:pPr>
            <a:r>
              <a:rPr lang="en-US" sz="1500" b="1" dirty="0">
                <a:solidFill>
                  <a:schemeClr val="tx2"/>
                </a:solidFill>
              </a:rPr>
              <a:t>Python / R</a:t>
            </a:r>
            <a:endParaRPr lang="en-US" sz="1500" dirty="0"/>
          </a:p>
        </p:txBody>
      </p:sp>
      <p:sp>
        <p:nvSpPr>
          <p:cNvPr id="27" name="Text 21"/>
          <p:cNvSpPr txBox="1"/>
          <p:nvPr/>
        </p:nvSpPr>
        <p:spPr>
          <a:xfrm>
            <a:off x="6949440" y="3721608"/>
            <a:ext cx="1645920" cy="594360"/>
          </a:xfrm>
          <a:prstGeom prst="rect">
            <a:avLst/>
          </a:prstGeom>
          <a:noFill/>
          <a:ln/>
        </p:spPr>
        <p:txBody>
          <a:bodyPr wrap="square" lIns="0" tIns="0" rIns="0" bIns="0" rtlCol="0" anchor="t"/>
          <a:lstStyle/>
          <a:p>
            <a:pPr indent="0" marL="0">
              <a:buNone/>
            </a:pPr>
            <a:r>
              <a:rPr lang="en-US" sz="1200" dirty="0">
                <a:solidFill>
                  <a:schemeClr val="tx1"/>
                </a:solidFill>
              </a:rPr>
              <a:t>Analisis data yang dijalankan dan diperiksa ulang</a:t>
            </a:r>
            <a:endParaRPr lang="en-US" sz="1200" dirty="0"/>
          </a:p>
        </p:txBody>
      </p:sp>
      <p:sp>
        <p:nvSpPr>
          <p:cNvPr id="28" name="Hub Claude Code"/>
          <p:cNvSpPr/>
          <p:nvPr/>
        </p:nvSpPr>
        <p:spPr>
          <a:xfrm>
            <a:off x="3291840" y="1965960"/>
            <a:ext cx="2560320" cy="1234440"/>
          </a:xfrm>
          <a:prstGeom prst="roundRect">
            <a:avLst>
              <a:gd name="adj" fmla="val 5926"/>
            </a:avLst>
          </a:prstGeom>
          <a:solidFill>
            <a:schemeClr val="tx2"/>
          </a:solidFill>
          <a:ln/>
        </p:spPr>
      </p:sp>
      <p:sp>
        <p:nvSpPr>
          <p:cNvPr id="29" name="Hub icon circle"/>
          <p:cNvSpPr/>
          <p:nvPr/>
        </p:nvSpPr>
        <p:spPr>
          <a:xfrm>
            <a:off x="3474720" y="2286000"/>
            <a:ext cx="594360" cy="594360"/>
          </a:xfrm>
          <a:prstGeom prst="ellipse">
            <a:avLst/>
          </a:prstGeom>
          <a:solidFill>
            <a:schemeClr val="accent1"/>
          </a:solidFill>
          <a:ln/>
        </p:spPr>
      </p:sp>
      <p:pic>
        <p:nvPicPr>
          <p:cNvPr id="30" name="Hub icon icon" descr="Hub icon">    </p:cNvPr>
          <p:cNvPicPr>
            <a:picLocks noChangeAspect="1"/>
          </p:cNvPicPr>
          <p:nvPr/>
        </p:nvPicPr>
        <p:blipFill>
          <a:blip r:embed="rId5"/>
          <a:stretch>
            <a:fillRect/>
          </a:stretch>
        </p:blipFill>
        <p:spPr>
          <a:xfrm>
            <a:off x="3623310" y="2434590"/>
            <a:ext cx="297180" cy="297180"/>
          </a:xfrm>
          <a:prstGeom prst="rect">
            <a:avLst/>
          </a:prstGeom>
        </p:spPr>
      </p:pic>
      <p:sp>
        <p:nvSpPr>
          <p:cNvPr id="31" name="Text 24"/>
          <p:cNvSpPr txBox="1"/>
          <p:nvPr/>
        </p:nvSpPr>
        <p:spPr>
          <a:xfrm>
            <a:off x="4206240" y="2221992"/>
            <a:ext cx="1554480" cy="365760"/>
          </a:xfrm>
          <a:prstGeom prst="rect">
            <a:avLst/>
          </a:prstGeom>
          <a:noFill/>
          <a:ln/>
        </p:spPr>
        <p:txBody>
          <a:bodyPr wrap="square" lIns="0" tIns="0" rIns="0" bIns="0" rtlCol="0" anchor="t"/>
          <a:lstStyle/>
          <a:p>
            <a:pPr indent="0" marL="0">
              <a:buNone/>
            </a:pPr>
            <a:r>
              <a:rPr lang="en-US" sz="1800" b="1" dirty="0">
                <a:solidFill>
                  <a:schemeClr val="bg1"/>
                </a:solidFill>
              </a:rPr>
              <a:t>Claude Code</a:t>
            </a:r>
            <a:endParaRPr lang="en-US" sz="1800" dirty="0"/>
          </a:p>
        </p:txBody>
      </p:sp>
      <p:sp>
        <p:nvSpPr>
          <p:cNvPr id="32" name="Text 25"/>
          <p:cNvSpPr txBox="1"/>
          <p:nvPr/>
        </p:nvSpPr>
        <p:spPr>
          <a:xfrm>
            <a:off x="4206240" y="2587752"/>
            <a:ext cx="1554480" cy="502920"/>
          </a:xfrm>
          <a:prstGeom prst="rect">
            <a:avLst/>
          </a:prstGeom>
          <a:noFill/>
          <a:ln/>
        </p:spPr>
        <p:txBody>
          <a:bodyPr wrap="square" lIns="0" tIns="0" rIns="0" bIns="0" rtlCol="0" anchor="t"/>
          <a:lstStyle/>
          <a:p>
            <a:pPr indent="0" marL="0">
              <a:buNone/>
            </a:pPr>
            <a:r>
              <a:rPr lang="en-US" sz="1200" dirty="0">
                <a:solidFill>
                  <a:schemeClr val="bg2"/>
                </a:solidFill>
              </a:rPr>
              <a:t>Agen riset, terhubung via MCP</a:t>
            </a:r>
            <a:endParaRPr lang="en-US" sz="1200" dirty="0"/>
          </a:p>
        </p:txBody>
      </p:sp>
      <p:sp>
        <p:nvSpPr>
          <p:cNvPr id="33" name="Text 26"/>
          <p:cNvSpPr txBox="1"/>
          <p:nvPr/>
        </p:nvSpPr>
        <p:spPr>
          <a:xfrm>
            <a:off x="3291840" y="3429000"/>
            <a:ext cx="2560320" cy="914400"/>
          </a:xfrm>
          <a:prstGeom prst="rect">
            <a:avLst/>
          </a:prstGeom>
          <a:noFill/>
          <a:ln/>
        </p:spPr>
        <p:txBody>
          <a:bodyPr wrap="square" lIns="0" tIns="0" rIns="0" bIns="0" rtlCol="0" anchor="t"/>
          <a:lstStyle/>
          <a:p>
            <a:pPr algn="ctr" indent="0" marL="0">
              <a:buNone/>
            </a:pPr>
            <a:r>
              <a:rPr lang="en-US" sz="1200" b="1" dirty="0">
                <a:solidFill>
                  <a:schemeClr val="tx2"/>
                </a:solidFill>
              </a:rPr>
              <a:t>Pendukung sesuai kebutuhan: </a:t>
            </a:r>
            <a:pPr algn="ctr" indent="0" marL="0">
              <a:buNone/>
            </a:pPr>
            <a:r>
              <a:rPr lang="en-US" sz="1200" dirty="0">
                <a:solidFill>
                  <a:schemeClr val="tx1"/>
                </a:solidFill>
              </a:rPr>
              <a:t>Undermind, Semantic Scholar, NotebookLM, Quarto, GitHub</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RESEARCH AI STACK</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Mengapa Claude Code untuk Riset</a:t>
            </a:r>
            <a:endParaRPr lang="en-US" sz="3000" dirty="0"/>
          </a:p>
        </p:txBody>
      </p:sp>
      <p:sp>
        <p:nvSpPr>
          <p:cNvPr id="4" name="Why card 1"/>
          <p:cNvSpPr/>
          <p:nvPr/>
        </p:nvSpPr>
        <p:spPr>
          <a:xfrm>
            <a:off x="457200" y="1280160"/>
            <a:ext cx="4023360" cy="1280160"/>
          </a:xfrm>
          <a:prstGeom prst="roundRect">
            <a:avLst>
              <a:gd name="adj" fmla="val 5714"/>
            </a:avLst>
          </a:prstGeom>
          <a:solidFill>
            <a:schemeClr val="bg2"/>
          </a:solidFill>
          <a:ln/>
        </p:spPr>
      </p:sp>
      <p:sp>
        <p:nvSpPr>
          <p:cNvPr id="5" name="Why 1 circle"/>
          <p:cNvSpPr/>
          <p:nvPr/>
        </p:nvSpPr>
        <p:spPr>
          <a:xfrm>
            <a:off x="685800" y="1600200"/>
            <a:ext cx="640080" cy="640080"/>
          </a:xfrm>
          <a:prstGeom prst="ellipse">
            <a:avLst/>
          </a:prstGeom>
          <a:solidFill>
            <a:schemeClr val="tx2"/>
          </a:solidFill>
          <a:ln/>
        </p:spPr>
      </p:sp>
      <p:pic>
        <p:nvPicPr>
          <p:cNvPr id="6" name="Why 1 icon" descr="Why 1">    </p:cNvPr>
          <p:cNvPicPr>
            <a:picLocks noChangeAspect="1"/>
          </p:cNvPicPr>
          <p:nvPr/>
        </p:nvPicPr>
        <p:blipFill>
          <a:blip r:embed="rId1"/>
          <a:stretch>
            <a:fillRect/>
          </a:stretch>
        </p:blipFill>
        <p:spPr>
          <a:xfrm>
            <a:off x="845820" y="1760220"/>
            <a:ext cx="320040" cy="320040"/>
          </a:xfrm>
          <a:prstGeom prst="rect">
            <a:avLst/>
          </a:prstGeom>
        </p:spPr>
      </p:pic>
      <p:sp>
        <p:nvSpPr>
          <p:cNvPr id="7" name="Text 4"/>
          <p:cNvSpPr txBox="1"/>
          <p:nvPr/>
        </p:nvSpPr>
        <p:spPr>
          <a:xfrm>
            <a:off x="1508760" y="1481328"/>
            <a:ext cx="2788920" cy="365760"/>
          </a:xfrm>
          <a:prstGeom prst="rect">
            <a:avLst/>
          </a:prstGeom>
          <a:noFill/>
          <a:ln/>
        </p:spPr>
        <p:txBody>
          <a:bodyPr wrap="square" lIns="0" tIns="0" rIns="0" bIns="0" rtlCol="0" anchor="t"/>
          <a:lstStyle/>
          <a:p>
            <a:pPr indent="0" marL="0">
              <a:buNone/>
            </a:pPr>
            <a:r>
              <a:rPr lang="en-US" sz="1600" b="1" dirty="0">
                <a:solidFill>
                  <a:schemeClr val="tx2"/>
                </a:solidFill>
              </a:rPr>
              <a:t>Bekerja dengan file lokal</a:t>
            </a:r>
            <a:endParaRPr lang="en-US" sz="1600" dirty="0"/>
          </a:p>
        </p:txBody>
      </p:sp>
      <p:sp>
        <p:nvSpPr>
          <p:cNvPr id="8" name="Text 5"/>
          <p:cNvSpPr txBox="1"/>
          <p:nvPr/>
        </p:nvSpPr>
        <p:spPr>
          <a:xfrm>
            <a:off x="1508760" y="1874520"/>
            <a:ext cx="2788920" cy="594360"/>
          </a:xfrm>
          <a:prstGeom prst="rect">
            <a:avLst/>
          </a:prstGeom>
          <a:noFill/>
          <a:ln/>
        </p:spPr>
        <p:txBody>
          <a:bodyPr wrap="square" lIns="0" tIns="0" rIns="0" bIns="0" rtlCol="0" anchor="t"/>
          <a:lstStyle/>
          <a:p>
            <a:pPr indent="0" marL="0">
              <a:buNone/>
            </a:pPr>
            <a:r>
              <a:rPr lang="en-US" sz="1400" dirty="0">
                <a:solidFill>
                  <a:schemeClr val="tx1"/>
                </a:solidFill>
              </a:rPr>
              <a:t>Membaca PDF, dataset, dan draf di folder proyek peneliti</a:t>
            </a:r>
            <a:endParaRPr lang="en-US" sz="1400" dirty="0"/>
          </a:p>
        </p:txBody>
      </p:sp>
      <p:sp>
        <p:nvSpPr>
          <p:cNvPr id="9" name="Why card 2"/>
          <p:cNvSpPr/>
          <p:nvPr/>
        </p:nvSpPr>
        <p:spPr>
          <a:xfrm>
            <a:off x="4663440" y="1280160"/>
            <a:ext cx="4023360" cy="1280160"/>
          </a:xfrm>
          <a:prstGeom prst="roundRect">
            <a:avLst>
              <a:gd name="adj" fmla="val 5714"/>
            </a:avLst>
          </a:prstGeom>
          <a:solidFill>
            <a:schemeClr val="bg2"/>
          </a:solidFill>
          <a:ln/>
        </p:spPr>
      </p:sp>
      <p:sp>
        <p:nvSpPr>
          <p:cNvPr id="10" name="Why 2 circle"/>
          <p:cNvSpPr/>
          <p:nvPr/>
        </p:nvSpPr>
        <p:spPr>
          <a:xfrm>
            <a:off x="4892040" y="1600200"/>
            <a:ext cx="640080" cy="640080"/>
          </a:xfrm>
          <a:prstGeom prst="ellipse">
            <a:avLst/>
          </a:prstGeom>
          <a:solidFill>
            <a:schemeClr val="tx2"/>
          </a:solidFill>
          <a:ln/>
        </p:spPr>
      </p:sp>
      <p:pic>
        <p:nvPicPr>
          <p:cNvPr id="11" name="Why 2 icon" descr="Why 2">    </p:cNvPr>
          <p:cNvPicPr>
            <a:picLocks noChangeAspect="1"/>
          </p:cNvPicPr>
          <p:nvPr/>
        </p:nvPicPr>
        <p:blipFill>
          <a:blip r:embed="rId2"/>
          <a:stretch>
            <a:fillRect/>
          </a:stretch>
        </p:blipFill>
        <p:spPr>
          <a:xfrm>
            <a:off x="5052060" y="1760220"/>
            <a:ext cx="320040" cy="320040"/>
          </a:xfrm>
          <a:prstGeom prst="rect">
            <a:avLst/>
          </a:prstGeom>
        </p:spPr>
      </p:pic>
      <p:sp>
        <p:nvSpPr>
          <p:cNvPr id="12" name="Text 8"/>
          <p:cNvSpPr txBox="1"/>
          <p:nvPr/>
        </p:nvSpPr>
        <p:spPr>
          <a:xfrm>
            <a:off x="5715000" y="1481328"/>
            <a:ext cx="2788920" cy="365760"/>
          </a:xfrm>
          <a:prstGeom prst="rect">
            <a:avLst/>
          </a:prstGeom>
          <a:noFill/>
          <a:ln/>
        </p:spPr>
        <p:txBody>
          <a:bodyPr wrap="square" lIns="0" tIns="0" rIns="0" bIns="0" rtlCol="0" anchor="t"/>
          <a:lstStyle/>
          <a:p>
            <a:pPr indent="0" marL="0">
              <a:buNone/>
            </a:pPr>
            <a:r>
              <a:rPr lang="en-US" sz="1600" b="1" dirty="0">
                <a:solidFill>
                  <a:schemeClr val="tx2"/>
                </a:solidFill>
              </a:rPr>
              <a:t>Terhubung ke tools riset</a:t>
            </a:r>
            <a:endParaRPr lang="en-US" sz="1600" dirty="0"/>
          </a:p>
        </p:txBody>
      </p:sp>
      <p:sp>
        <p:nvSpPr>
          <p:cNvPr id="13" name="Text 9"/>
          <p:cNvSpPr txBox="1"/>
          <p:nvPr/>
        </p:nvSpPr>
        <p:spPr>
          <a:xfrm>
            <a:off x="5715000" y="1874520"/>
            <a:ext cx="2788920" cy="594360"/>
          </a:xfrm>
          <a:prstGeom prst="rect">
            <a:avLst/>
          </a:prstGeom>
          <a:noFill/>
          <a:ln/>
        </p:spPr>
        <p:txBody>
          <a:bodyPr wrap="square" lIns="0" tIns="0" rIns="0" bIns="0" rtlCol="0" anchor="t"/>
          <a:lstStyle/>
          <a:p>
            <a:pPr indent="0" marL="0">
              <a:buNone/>
            </a:pPr>
            <a:r>
              <a:rPr lang="en-US" sz="1400" dirty="0">
                <a:solidFill>
                  <a:schemeClr val="tx1"/>
                </a:solidFill>
              </a:rPr>
              <a:t>Scite, Zotero, dan Flourish dipanggil langsung lewat MCP</a:t>
            </a:r>
            <a:endParaRPr lang="en-US" sz="1400" dirty="0"/>
          </a:p>
        </p:txBody>
      </p:sp>
      <p:sp>
        <p:nvSpPr>
          <p:cNvPr id="14" name="Why card 3"/>
          <p:cNvSpPr/>
          <p:nvPr/>
        </p:nvSpPr>
        <p:spPr>
          <a:xfrm>
            <a:off x="457200" y="2743200"/>
            <a:ext cx="4023360" cy="1280160"/>
          </a:xfrm>
          <a:prstGeom prst="roundRect">
            <a:avLst>
              <a:gd name="adj" fmla="val 5714"/>
            </a:avLst>
          </a:prstGeom>
          <a:solidFill>
            <a:schemeClr val="bg2"/>
          </a:solidFill>
          <a:ln/>
        </p:spPr>
      </p:sp>
      <p:sp>
        <p:nvSpPr>
          <p:cNvPr id="15" name="Why 3 circle"/>
          <p:cNvSpPr/>
          <p:nvPr/>
        </p:nvSpPr>
        <p:spPr>
          <a:xfrm>
            <a:off x="685800" y="3063240"/>
            <a:ext cx="640080" cy="640080"/>
          </a:xfrm>
          <a:prstGeom prst="ellipse">
            <a:avLst/>
          </a:prstGeom>
          <a:solidFill>
            <a:schemeClr val="tx2"/>
          </a:solidFill>
          <a:ln/>
        </p:spPr>
      </p:sp>
      <p:pic>
        <p:nvPicPr>
          <p:cNvPr id="16" name="Why 3 icon" descr="Why 3">    </p:cNvPr>
          <p:cNvPicPr>
            <a:picLocks noChangeAspect="1"/>
          </p:cNvPicPr>
          <p:nvPr/>
        </p:nvPicPr>
        <p:blipFill>
          <a:blip r:embed="rId3"/>
          <a:stretch>
            <a:fillRect/>
          </a:stretch>
        </p:blipFill>
        <p:spPr>
          <a:xfrm>
            <a:off x="845820" y="3223260"/>
            <a:ext cx="320040" cy="320040"/>
          </a:xfrm>
          <a:prstGeom prst="rect">
            <a:avLst/>
          </a:prstGeom>
        </p:spPr>
      </p:pic>
      <p:sp>
        <p:nvSpPr>
          <p:cNvPr id="17" name="Text 12"/>
          <p:cNvSpPr txBox="1"/>
          <p:nvPr/>
        </p:nvSpPr>
        <p:spPr>
          <a:xfrm>
            <a:off x="1508760" y="2944368"/>
            <a:ext cx="2788920" cy="365760"/>
          </a:xfrm>
          <a:prstGeom prst="rect">
            <a:avLst/>
          </a:prstGeom>
          <a:noFill/>
          <a:ln/>
        </p:spPr>
        <p:txBody>
          <a:bodyPr wrap="square" lIns="0" tIns="0" rIns="0" bIns="0" rtlCol="0" anchor="t"/>
          <a:lstStyle/>
          <a:p>
            <a:pPr indent="0" marL="0">
              <a:buNone/>
            </a:pPr>
            <a:r>
              <a:rPr lang="en-US" sz="1600" b="1" dirty="0">
                <a:solidFill>
                  <a:schemeClr val="tx2"/>
                </a:solidFill>
              </a:rPr>
              <a:t>Alur kerja dapat diulang</a:t>
            </a:r>
            <a:endParaRPr lang="en-US" sz="1600" dirty="0"/>
          </a:p>
        </p:txBody>
      </p:sp>
      <p:sp>
        <p:nvSpPr>
          <p:cNvPr id="18" name="Text 13"/>
          <p:cNvSpPr txBox="1"/>
          <p:nvPr/>
        </p:nvSpPr>
        <p:spPr>
          <a:xfrm>
            <a:off x="1508760" y="3337560"/>
            <a:ext cx="2788920" cy="594360"/>
          </a:xfrm>
          <a:prstGeom prst="rect">
            <a:avLst/>
          </a:prstGeom>
          <a:noFill/>
          <a:ln/>
        </p:spPr>
        <p:txBody>
          <a:bodyPr wrap="square" lIns="0" tIns="0" rIns="0" bIns="0" rtlCol="0" anchor="t"/>
          <a:lstStyle/>
          <a:p>
            <a:pPr indent="0" marL="0">
              <a:buNone/>
            </a:pPr>
            <a:r>
              <a:rPr lang="en-US" sz="1400" dirty="0">
                <a:solidFill>
                  <a:schemeClr val="tx1"/>
                </a:solidFill>
              </a:rPr>
              <a:t>Skrip analisis dan perintah tersimpan sehingga hasil bisa direproduksi</a:t>
            </a:r>
            <a:endParaRPr lang="en-US" sz="1400" dirty="0"/>
          </a:p>
        </p:txBody>
      </p:sp>
      <p:sp>
        <p:nvSpPr>
          <p:cNvPr id="19" name="Why card 4"/>
          <p:cNvSpPr/>
          <p:nvPr/>
        </p:nvSpPr>
        <p:spPr>
          <a:xfrm>
            <a:off x="4663440" y="2743200"/>
            <a:ext cx="4023360" cy="1280160"/>
          </a:xfrm>
          <a:prstGeom prst="roundRect">
            <a:avLst>
              <a:gd name="adj" fmla="val 5714"/>
            </a:avLst>
          </a:prstGeom>
          <a:solidFill>
            <a:schemeClr val="bg2"/>
          </a:solidFill>
          <a:ln/>
        </p:spPr>
      </p:sp>
      <p:sp>
        <p:nvSpPr>
          <p:cNvPr id="20" name="Why 4 circle"/>
          <p:cNvSpPr/>
          <p:nvPr/>
        </p:nvSpPr>
        <p:spPr>
          <a:xfrm>
            <a:off x="4892040" y="3063240"/>
            <a:ext cx="640080" cy="640080"/>
          </a:xfrm>
          <a:prstGeom prst="ellipse">
            <a:avLst/>
          </a:prstGeom>
          <a:solidFill>
            <a:schemeClr val="tx2"/>
          </a:solidFill>
          <a:ln/>
        </p:spPr>
      </p:sp>
      <p:pic>
        <p:nvPicPr>
          <p:cNvPr id="21" name="Why 4 icon" descr="Why 4">    </p:cNvPr>
          <p:cNvPicPr>
            <a:picLocks noChangeAspect="1"/>
          </p:cNvPicPr>
          <p:nvPr/>
        </p:nvPicPr>
        <p:blipFill>
          <a:blip r:embed="rId4"/>
          <a:stretch>
            <a:fillRect/>
          </a:stretch>
        </p:blipFill>
        <p:spPr>
          <a:xfrm>
            <a:off x="5052060" y="3223260"/>
            <a:ext cx="320040" cy="320040"/>
          </a:xfrm>
          <a:prstGeom prst="rect">
            <a:avLst/>
          </a:prstGeom>
        </p:spPr>
      </p:pic>
      <p:sp>
        <p:nvSpPr>
          <p:cNvPr id="22" name="Text 16"/>
          <p:cNvSpPr txBox="1"/>
          <p:nvPr/>
        </p:nvSpPr>
        <p:spPr>
          <a:xfrm>
            <a:off x="5715000" y="2944368"/>
            <a:ext cx="2788920" cy="365760"/>
          </a:xfrm>
          <a:prstGeom prst="rect">
            <a:avLst/>
          </a:prstGeom>
          <a:noFill/>
          <a:ln/>
        </p:spPr>
        <p:txBody>
          <a:bodyPr wrap="square" lIns="0" tIns="0" rIns="0" bIns="0" rtlCol="0" anchor="t"/>
          <a:lstStyle/>
          <a:p>
            <a:pPr indent="0" marL="0">
              <a:buNone/>
            </a:pPr>
            <a:r>
              <a:rPr lang="en-US" sz="1600" b="1" dirty="0">
                <a:solidFill>
                  <a:schemeClr val="tx2"/>
                </a:solidFill>
              </a:rPr>
              <a:t>Jejak kerja dapat diaudit</a:t>
            </a:r>
            <a:endParaRPr lang="en-US" sz="1600" dirty="0"/>
          </a:p>
        </p:txBody>
      </p:sp>
      <p:sp>
        <p:nvSpPr>
          <p:cNvPr id="23" name="Text 17"/>
          <p:cNvSpPr txBox="1"/>
          <p:nvPr/>
        </p:nvSpPr>
        <p:spPr>
          <a:xfrm>
            <a:off x="5715000" y="3337560"/>
            <a:ext cx="2788920" cy="594360"/>
          </a:xfrm>
          <a:prstGeom prst="rect">
            <a:avLst/>
          </a:prstGeom>
          <a:noFill/>
          <a:ln/>
        </p:spPr>
        <p:txBody>
          <a:bodyPr wrap="square" lIns="0" tIns="0" rIns="0" bIns="0" rtlCol="0" anchor="t"/>
          <a:lstStyle/>
          <a:p>
            <a:pPr indent="0" marL="0">
              <a:buNone/>
            </a:pPr>
            <a:r>
              <a:rPr lang="en-US" sz="1400" dirty="0">
                <a:solidFill>
                  <a:schemeClr val="tx1"/>
                </a:solidFill>
              </a:rPr>
              <a:t>Setiap langkah tercatat, memudahkan pernyataan penggunaan AI</a:t>
            </a:r>
            <a:endParaRPr lang="en-US" sz="1400" dirty="0"/>
          </a:p>
        </p:txBody>
      </p:sp>
      <p:sp>
        <p:nvSpPr>
          <p:cNvPr id="24" name="Text 18"/>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400" dirty="0">
                <a:solidFill>
                  <a:schemeClr val="accent6"/>
                </a:solidFill>
              </a:rPr>
              <a:t>Peserta tidak perlu latar belakang pemrograman: Claude Code tersedia di terminal, aplikasi desktop, dan web.</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PESERTA</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Tiga Jalur Peserta</a:t>
            </a:r>
            <a:endParaRPr lang="en-US" sz="3000" dirty="0"/>
          </a:p>
        </p:txBody>
      </p:sp>
      <p:sp>
        <p:nvSpPr>
          <p:cNvPr id="4" name="Track card Dosen &amp; Peneliti"/>
          <p:cNvSpPr/>
          <p:nvPr/>
        </p:nvSpPr>
        <p:spPr>
          <a:xfrm>
            <a:off x="457200" y="1280160"/>
            <a:ext cx="2624328" cy="3154680"/>
          </a:xfrm>
          <a:prstGeom prst="roundRect">
            <a:avLst>
              <a:gd name="adj" fmla="val 2787"/>
            </a:avLst>
          </a:prstGeom>
          <a:solidFill>
            <a:schemeClr val="bg1"/>
          </a:solidFill>
          <a:ln/>
          <a:effectLst>
            <a:outerShdw sx="100000" sy="100000" kx="0" ky="0" algn="bl" rotWithShape="0" blurRad="76200" dist="25400" dir="5400000">
              <a:srgbClr val="000000">
                <a:alpha val="12000"/>
              </a:srgbClr>
            </a:outerShdw>
          </a:effectLst>
        </p:spPr>
      </p:sp>
      <p:sp>
        <p:nvSpPr>
          <p:cNvPr id="5" name="Track Dosen &amp; Peneliti circle"/>
          <p:cNvSpPr/>
          <p:nvPr/>
        </p:nvSpPr>
        <p:spPr>
          <a:xfrm>
            <a:off x="685800" y="1463040"/>
            <a:ext cx="640080" cy="640080"/>
          </a:xfrm>
          <a:prstGeom prst="ellipse">
            <a:avLst/>
          </a:prstGeom>
          <a:solidFill>
            <a:schemeClr val="accent1"/>
          </a:solidFill>
          <a:ln/>
        </p:spPr>
      </p:sp>
      <p:pic>
        <p:nvPicPr>
          <p:cNvPr id="6" name="Track Dosen &amp; Peneliti icon" descr="Track Dosen &amp; Peneliti">    </p:cNvPr>
          <p:cNvPicPr>
            <a:picLocks noChangeAspect="1"/>
          </p:cNvPicPr>
          <p:nvPr/>
        </p:nvPicPr>
        <p:blipFill>
          <a:blip r:embed="rId1"/>
          <a:stretch>
            <a:fillRect/>
          </a:stretch>
        </p:blipFill>
        <p:spPr>
          <a:xfrm>
            <a:off x="845820" y="1623060"/>
            <a:ext cx="320040" cy="320040"/>
          </a:xfrm>
          <a:prstGeom prst="rect">
            <a:avLst/>
          </a:prstGeom>
        </p:spPr>
      </p:pic>
      <p:sp>
        <p:nvSpPr>
          <p:cNvPr id="7" name="Text 4"/>
          <p:cNvSpPr txBox="1"/>
          <p:nvPr/>
        </p:nvSpPr>
        <p:spPr>
          <a:xfrm>
            <a:off x="685800" y="21945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Dosen &amp; Peneliti</a:t>
            </a:r>
            <a:endParaRPr lang="en-US" sz="1700" dirty="0"/>
          </a:p>
        </p:txBody>
      </p:sp>
      <p:sp>
        <p:nvSpPr>
          <p:cNvPr id="8" name="Text 5"/>
          <p:cNvSpPr txBox="1"/>
          <p:nvPr/>
        </p:nvSpPr>
        <p:spPr>
          <a:xfrm>
            <a:off x="685800" y="2834640"/>
            <a:ext cx="2194560" cy="228600"/>
          </a:xfrm>
          <a:prstGeom prst="rect">
            <a:avLst/>
          </a:prstGeom>
          <a:noFill/>
          <a:ln/>
        </p:spPr>
        <p:txBody>
          <a:bodyPr wrap="square" lIns="0" tIns="0" rIns="0" bIns="0" rtlCol="0" anchor="t"/>
          <a:lstStyle/>
          <a:p>
            <a:pPr indent="0" marL="0">
              <a:buNone/>
            </a:pPr>
            <a:r>
              <a:rPr lang="en-US" sz="1100" b="1" dirty="0">
                <a:solidFill>
                  <a:schemeClr val="accent2"/>
                </a:solidFill>
              </a:rPr>
              <a:t>Fokus</a:t>
            </a:r>
            <a:endParaRPr lang="en-US" sz="1100" dirty="0"/>
          </a:p>
        </p:txBody>
      </p:sp>
      <p:sp>
        <p:nvSpPr>
          <p:cNvPr id="9" name="Text 6"/>
          <p:cNvSpPr txBox="1"/>
          <p:nvPr/>
        </p:nvSpPr>
        <p:spPr>
          <a:xfrm>
            <a:off x="685800" y="3063240"/>
            <a:ext cx="2194560" cy="594360"/>
          </a:xfrm>
          <a:prstGeom prst="rect">
            <a:avLst/>
          </a:prstGeom>
          <a:noFill/>
          <a:ln/>
        </p:spPr>
        <p:txBody>
          <a:bodyPr wrap="square" lIns="0" tIns="0" rIns="0" bIns="0" rtlCol="0" anchor="t"/>
          <a:lstStyle/>
          <a:p>
            <a:pPr indent="0" marL="0">
              <a:buNone/>
            </a:pPr>
            <a:r>
              <a:rPr lang="en-US" sz="1400" dirty="0">
                <a:solidFill>
                  <a:schemeClr val="tx1"/>
                </a:solidFill>
              </a:rPr>
              <a:t>Hibah, publikasi jurnal, dan pengabdian masyarakat</a:t>
            </a:r>
            <a:endParaRPr lang="en-US" sz="1400" dirty="0"/>
          </a:p>
        </p:txBody>
      </p:sp>
      <p:sp>
        <p:nvSpPr>
          <p:cNvPr id="10" name="Text 7"/>
          <p:cNvSpPr txBox="1"/>
          <p:nvPr/>
        </p:nvSpPr>
        <p:spPr>
          <a:xfrm>
            <a:off x="685800" y="3675888"/>
            <a:ext cx="2194560" cy="228600"/>
          </a:xfrm>
          <a:prstGeom prst="rect">
            <a:avLst/>
          </a:prstGeom>
          <a:noFill/>
          <a:ln/>
        </p:spPr>
        <p:txBody>
          <a:bodyPr wrap="square" lIns="0" tIns="0" rIns="0" bIns="0" rtlCol="0" anchor="t"/>
          <a:lstStyle/>
          <a:p>
            <a:pPr indent="0" marL="0">
              <a:buNone/>
            </a:pPr>
            <a:r>
              <a:rPr lang="en-US" sz="1100" b="1" dirty="0">
                <a:solidFill>
                  <a:schemeClr val="accent2"/>
                </a:solidFill>
              </a:rPr>
              <a:t>Output</a:t>
            </a:r>
            <a:endParaRPr lang="en-US" sz="1100" dirty="0"/>
          </a:p>
        </p:txBody>
      </p:sp>
      <p:sp>
        <p:nvSpPr>
          <p:cNvPr id="11" name="Text 8"/>
          <p:cNvSpPr txBox="1"/>
          <p:nvPr/>
        </p:nvSpPr>
        <p:spPr>
          <a:xfrm>
            <a:off x="685800" y="3904488"/>
            <a:ext cx="2194560" cy="457200"/>
          </a:xfrm>
          <a:prstGeom prst="rect">
            <a:avLst/>
          </a:prstGeom>
          <a:noFill/>
          <a:ln/>
        </p:spPr>
        <p:txBody>
          <a:bodyPr wrap="square" lIns="0" tIns="0" rIns="0" bIns="0" rtlCol="0" anchor="t"/>
          <a:lstStyle/>
          <a:p>
            <a:pPr indent="0" marL="0">
              <a:buNone/>
            </a:pPr>
            <a:r>
              <a:rPr lang="en-US" sz="1400" dirty="0">
                <a:solidFill>
                  <a:schemeClr val="tx1"/>
                </a:solidFill>
              </a:rPr>
              <a:t>Draf artikel atau proposal hibah</a:t>
            </a:r>
            <a:endParaRPr lang="en-US" sz="1400" dirty="0"/>
          </a:p>
        </p:txBody>
      </p:sp>
      <p:sp>
        <p:nvSpPr>
          <p:cNvPr id="12" name="Track card Mahasiswa Pascasarjana"/>
          <p:cNvSpPr/>
          <p:nvPr/>
        </p:nvSpPr>
        <p:spPr>
          <a:xfrm>
            <a:off x="3264408" y="1280160"/>
            <a:ext cx="2624328" cy="3154680"/>
          </a:xfrm>
          <a:prstGeom prst="roundRect">
            <a:avLst>
              <a:gd name="adj" fmla="val 2787"/>
            </a:avLst>
          </a:prstGeom>
          <a:solidFill>
            <a:schemeClr val="bg1"/>
          </a:solidFill>
          <a:ln/>
          <a:effectLst>
            <a:outerShdw sx="100000" sy="100000" kx="0" ky="0" algn="bl" rotWithShape="0" blurRad="76200" dist="25400" dir="5400000">
              <a:srgbClr val="000000">
                <a:alpha val="12000"/>
              </a:srgbClr>
            </a:outerShdw>
          </a:effectLst>
        </p:spPr>
      </p:sp>
      <p:sp>
        <p:nvSpPr>
          <p:cNvPr id="13" name="Track Mahasiswa Pascasarjana circle"/>
          <p:cNvSpPr/>
          <p:nvPr/>
        </p:nvSpPr>
        <p:spPr>
          <a:xfrm>
            <a:off x="3493008" y="1463040"/>
            <a:ext cx="640080" cy="640080"/>
          </a:xfrm>
          <a:prstGeom prst="ellipse">
            <a:avLst/>
          </a:prstGeom>
          <a:solidFill>
            <a:schemeClr val="accent1"/>
          </a:solidFill>
          <a:ln/>
        </p:spPr>
      </p:sp>
      <p:pic>
        <p:nvPicPr>
          <p:cNvPr id="14" name="Track Mahasiswa Pascasarjana icon" descr="Track Mahasiswa Pascasarjana">    </p:cNvPr>
          <p:cNvPicPr>
            <a:picLocks noChangeAspect="1"/>
          </p:cNvPicPr>
          <p:nvPr/>
        </p:nvPicPr>
        <p:blipFill>
          <a:blip r:embed="rId2"/>
          <a:stretch>
            <a:fillRect/>
          </a:stretch>
        </p:blipFill>
        <p:spPr>
          <a:xfrm>
            <a:off x="3653028" y="1623060"/>
            <a:ext cx="320040" cy="320040"/>
          </a:xfrm>
          <a:prstGeom prst="rect">
            <a:avLst/>
          </a:prstGeom>
        </p:spPr>
      </p:pic>
      <p:sp>
        <p:nvSpPr>
          <p:cNvPr id="15" name="Text 11"/>
          <p:cNvSpPr txBox="1"/>
          <p:nvPr/>
        </p:nvSpPr>
        <p:spPr>
          <a:xfrm>
            <a:off x="3493008" y="21945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Mahasiswa Pascasarjana</a:t>
            </a:r>
            <a:endParaRPr lang="en-US" sz="1700" dirty="0"/>
          </a:p>
        </p:txBody>
      </p:sp>
      <p:sp>
        <p:nvSpPr>
          <p:cNvPr id="16" name="Text 12"/>
          <p:cNvSpPr txBox="1"/>
          <p:nvPr/>
        </p:nvSpPr>
        <p:spPr>
          <a:xfrm>
            <a:off x="3493008" y="2834640"/>
            <a:ext cx="2194560" cy="228600"/>
          </a:xfrm>
          <a:prstGeom prst="rect">
            <a:avLst/>
          </a:prstGeom>
          <a:noFill/>
          <a:ln/>
        </p:spPr>
        <p:txBody>
          <a:bodyPr wrap="square" lIns="0" tIns="0" rIns="0" bIns="0" rtlCol="0" anchor="t"/>
          <a:lstStyle/>
          <a:p>
            <a:pPr indent="0" marL="0">
              <a:buNone/>
            </a:pPr>
            <a:r>
              <a:rPr lang="en-US" sz="1100" b="1" dirty="0">
                <a:solidFill>
                  <a:schemeClr val="accent2"/>
                </a:solidFill>
              </a:rPr>
              <a:t>Fokus</a:t>
            </a:r>
            <a:endParaRPr lang="en-US" sz="1100" dirty="0"/>
          </a:p>
        </p:txBody>
      </p:sp>
      <p:sp>
        <p:nvSpPr>
          <p:cNvPr id="17" name="Text 13"/>
          <p:cNvSpPr txBox="1"/>
          <p:nvPr/>
        </p:nvSpPr>
        <p:spPr>
          <a:xfrm>
            <a:off x="3493008" y="3063240"/>
            <a:ext cx="2194560" cy="594360"/>
          </a:xfrm>
          <a:prstGeom prst="rect">
            <a:avLst/>
          </a:prstGeom>
          <a:noFill/>
          <a:ln/>
        </p:spPr>
        <p:txBody>
          <a:bodyPr wrap="square" lIns="0" tIns="0" rIns="0" bIns="0" rtlCol="0" anchor="t"/>
          <a:lstStyle/>
          <a:p>
            <a:pPr indent="0" marL="0">
              <a:buNone/>
            </a:pPr>
            <a:r>
              <a:rPr lang="en-US" sz="1400" dirty="0">
                <a:solidFill>
                  <a:schemeClr val="tx1"/>
                </a:solidFill>
              </a:rPr>
              <a:t>Tesis dan disertasi: tinjauan pustaka, metode, dan analisis</a:t>
            </a:r>
            <a:endParaRPr lang="en-US" sz="1400" dirty="0"/>
          </a:p>
        </p:txBody>
      </p:sp>
      <p:sp>
        <p:nvSpPr>
          <p:cNvPr id="18" name="Text 14"/>
          <p:cNvSpPr txBox="1"/>
          <p:nvPr/>
        </p:nvSpPr>
        <p:spPr>
          <a:xfrm>
            <a:off x="3493008" y="3675888"/>
            <a:ext cx="2194560" cy="228600"/>
          </a:xfrm>
          <a:prstGeom prst="rect">
            <a:avLst/>
          </a:prstGeom>
          <a:noFill/>
          <a:ln/>
        </p:spPr>
        <p:txBody>
          <a:bodyPr wrap="square" lIns="0" tIns="0" rIns="0" bIns="0" rtlCol="0" anchor="t"/>
          <a:lstStyle/>
          <a:p>
            <a:pPr indent="0" marL="0">
              <a:buNone/>
            </a:pPr>
            <a:r>
              <a:rPr lang="en-US" sz="1100" b="1" dirty="0">
                <a:solidFill>
                  <a:schemeClr val="accent2"/>
                </a:solidFill>
              </a:rPr>
              <a:t>Output</a:t>
            </a:r>
            <a:endParaRPr lang="en-US" sz="1100" dirty="0"/>
          </a:p>
        </p:txBody>
      </p:sp>
      <p:sp>
        <p:nvSpPr>
          <p:cNvPr id="19" name="Text 15"/>
          <p:cNvSpPr txBox="1"/>
          <p:nvPr/>
        </p:nvSpPr>
        <p:spPr>
          <a:xfrm>
            <a:off x="3493008" y="3904488"/>
            <a:ext cx="2194560" cy="457200"/>
          </a:xfrm>
          <a:prstGeom prst="rect">
            <a:avLst/>
          </a:prstGeom>
          <a:noFill/>
          <a:ln/>
        </p:spPr>
        <p:txBody>
          <a:bodyPr wrap="square" lIns="0" tIns="0" rIns="0" bIns="0" rtlCol="0" anchor="t"/>
          <a:lstStyle/>
          <a:p>
            <a:pPr indent="0" marL="0">
              <a:buNone/>
            </a:pPr>
            <a:r>
              <a:rPr lang="en-US" sz="1400" dirty="0">
                <a:solidFill>
                  <a:schemeClr val="tx1"/>
                </a:solidFill>
              </a:rPr>
              <a:t>Bab tinjauan pustaka atau rancangan metode</a:t>
            </a:r>
            <a:endParaRPr lang="en-US" sz="1400" dirty="0"/>
          </a:p>
        </p:txBody>
      </p:sp>
      <p:sp>
        <p:nvSpPr>
          <p:cNvPr id="20" name="Track card Mahasiswa Tugas Akhir S1"/>
          <p:cNvSpPr/>
          <p:nvPr/>
        </p:nvSpPr>
        <p:spPr>
          <a:xfrm>
            <a:off x="6071616" y="1280160"/>
            <a:ext cx="2624328" cy="3154680"/>
          </a:xfrm>
          <a:prstGeom prst="roundRect">
            <a:avLst>
              <a:gd name="adj" fmla="val 2787"/>
            </a:avLst>
          </a:prstGeom>
          <a:solidFill>
            <a:schemeClr val="bg1"/>
          </a:solidFill>
          <a:ln/>
          <a:effectLst>
            <a:outerShdw sx="100000" sy="100000" kx="0" ky="0" algn="bl" rotWithShape="0" blurRad="76200" dist="25400" dir="5400000">
              <a:srgbClr val="000000">
                <a:alpha val="12000"/>
              </a:srgbClr>
            </a:outerShdw>
          </a:effectLst>
        </p:spPr>
      </p:sp>
      <p:sp>
        <p:nvSpPr>
          <p:cNvPr id="21" name="Track Mahasiswa Tugas Akhir S1 circle"/>
          <p:cNvSpPr/>
          <p:nvPr/>
        </p:nvSpPr>
        <p:spPr>
          <a:xfrm>
            <a:off x="6300216" y="1463040"/>
            <a:ext cx="640080" cy="640080"/>
          </a:xfrm>
          <a:prstGeom prst="ellipse">
            <a:avLst/>
          </a:prstGeom>
          <a:solidFill>
            <a:schemeClr val="accent1"/>
          </a:solidFill>
          <a:ln/>
        </p:spPr>
      </p:sp>
      <p:pic>
        <p:nvPicPr>
          <p:cNvPr id="22" name="Track Mahasiswa Tugas Akhir S1 icon" descr="Track Mahasiswa Tugas Akhir S1">    </p:cNvPr>
          <p:cNvPicPr>
            <a:picLocks noChangeAspect="1"/>
          </p:cNvPicPr>
          <p:nvPr/>
        </p:nvPicPr>
        <p:blipFill>
          <a:blip r:embed="rId3"/>
          <a:stretch>
            <a:fillRect/>
          </a:stretch>
        </p:blipFill>
        <p:spPr>
          <a:xfrm>
            <a:off x="6460236" y="1623060"/>
            <a:ext cx="320040" cy="320040"/>
          </a:xfrm>
          <a:prstGeom prst="rect">
            <a:avLst/>
          </a:prstGeom>
        </p:spPr>
      </p:pic>
      <p:sp>
        <p:nvSpPr>
          <p:cNvPr id="23" name="Text 18"/>
          <p:cNvSpPr txBox="1"/>
          <p:nvPr/>
        </p:nvSpPr>
        <p:spPr>
          <a:xfrm>
            <a:off x="6300216" y="21945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Mahasiswa Tugas Akhir S1</a:t>
            </a:r>
            <a:endParaRPr lang="en-US" sz="1700" dirty="0"/>
          </a:p>
        </p:txBody>
      </p:sp>
      <p:sp>
        <p:nvSpPr>
          <p:cNvPr id="24" name="Text 19"/>
          <p:cNvSpPr txBox="1"/>
          <p:nvPr/>
        </p:nvSpPr>
        <p:spPr>
          <a:xfrm>
            <a:off x="6300216" y="2834640"/>
            <a:ext cx="2194560" cy="228600"/>
          </a:xfrm>
          <a:prstGeom prst="rect">
            <a:avLst/>
          </a:prstGeom>
          <a:noFill/>
          <a:ln/>
        </p:spPr>
        <p:txBody>
          <a:bodyPr wrap="square" lIns="0" tIns="0" rIns="0" bIns="0" rtlCol="0" anchor="t"/>
          <a:lstStyle/>
          <a:p>
            <a:pPr indent="0" marL="0">
              <a:buNone/>
            </a:pPr>
            <a:r>
              <a:rPr lang="en-US" sz="1100" b="1" dirty="0">
                <a:solidFill>
                  <a:schemeClr val="accent2"/>
                </a:solidFill>
              </a:rPr>
              <a:t>Fokus</a:t>
            </a:r>
            <a:endParaRPr lang="en-US" sz="1100" dirty="0"/>
          </a:p>
        </p:txBody>
      </p:sp>
      <p:sp>
        <p:nvSpPr>
          <p:cNvPr id="25" name="Text 20"/>
          <p:cNvSpPr txBox="1"/>
          <p:nvPr/>
        </p:nvSpPr>
        <p:spPr>
          <a:xfrm>
            <a:off x="6300216" y="3063240"/>
            <a:ext cx="2194560" cy="594360"/>
          </a:xfrm>
          <a:prstGeom prst="rect">
            <a:avLst/>
          </a:prstGeom>
          <a:noFill/>
          <a:ln/>
        </p:spPr>
        <p:txBody>
          <a:bodyPr wrap="square" lIns="0" tIns="0" rIns="0" bIns="0" rtlCol="0" anchor="t"/>
          <a:lstStyle/>
          <a:p>
            <a:pPr indent="0" marL="0">
              <a:buNone/>
            </a:pPr>
            <a:r>
              <a:rPr lang="en-US" sz="1400" dirty="0">
                <a:solidFill>
                  <a:schemeClr val="tx1"/>
                </a:solidFill>
              </a:rPr>
              <a:t>Karya ilmiah dan tugas akhir program</a:t>
            </a:r>
            <a:endParaRPr lang="en-US" sz="1400" dirty="0"/>
          </a:p>
        </p:txBody>
      </p:sp>
      <p:sp>
        <p:nvSpPr>
          <p:cNvPr id="26" name="Text 21"/>
          <p:cNvSpPr txBox="1"/>
          <p:nvPr/>
        </p:nvSpPr>
        <p:spPr>
          <a:xfrm>
            <a:off x="6300216" y="3675888"/>
            <a:ext cx="2194560" cy="228600"/>
          </a:xfrm>
          <a:prstGeom prst="rect">
            <a:avLst/>
          </a:prstGeom>
          <a:noFill/>
          <a:ln/>
        </p:spPr>
        <p:txBody>
          <a:bodyPr wrap="square" lIns="0" tIns="0" rIns="0" bIns="0" rtlCol="0" anchor="t"/>
          <a:lstStyle/>
          <a:p>
            <a:pPr indent="0" marL="0">
              <a:buNone/>
            </a:pPr>
            <a:r>
              <a:rPr lang="en-US" sz="1100" b="1" dirty="0">
                <a:solidFill>
                  <a:schemeClr val="accent2"/>
                </a:solidFill>
              </a:rPr>
              <a:t>Output</a:t>
            </a:r>
            <a:endParaRPr lang="en-US" sz="1100" dirty="0"/>
          </a:p>
        </p:txBody>
      </p:sp>
      <p:sp>
        <p:nvSpPr>
          <p:cNvPr id="27" name="Text 22"/>
          <p:cNvSpPr txBox="1"/>
          <p:nvPr/>
        </p:nvSpPr>
        <p:spPr>
          <a:xfrm>
            <a:off x="6300216" y="3904488"/>
            <a:ext cx="2194560" cy="457200"/>
          </a:xfrm>
          <a:prstGeom prst="rect">
            <a:avLst/>
          </a:prstGeom>
          <a:noFill/>
          <a:ln/>
        </p:spPr>
        <p:txBody>
          <a:bodyPr wrap="square" lIns="0" tIns="0" rIns="0" bIns="0" rtlCol="0" anchor="t"/>
          <a:lstStyle/>
          <a:p>
            <a:pPr indent="0" marL="0">
              <a:buNone/>
            </a:pPr>
            <a:r>
              <a:rPr lang="en-US" sz="1400" dirty="0">
                <a:solidFill>
                  <a:schemeClr val="tx1"/>
                </a:solidFill>
              </a:rPr>
              <a:t>Proposal penelitian yang lebih kuat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LEARNING MODEL</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Fleksibel, Terstruktur, Berbasis Proyek Riset</a:t>
            </a:r>
            <a:endParaRPr lang="en-US" sz="3000" dirty="0"/>
          </a:p>
        </p:txBody>
      </p:sp>
      <p:sp>
        <p:nvSpPr>
          <p:cNvPr id="4" name="Model card ASYNCHRONOUS"/>
          <p:cNvSpPr/>
          <p:nvPr/>
        </p:nvSpPr>
        <p:spPr>
          <a:xfrm>
            <a:off x="457200" y="1280160"/>
            <a:ext cx="2624328" cy="2514600"/>
          </a:xfrm>
          <a:prstGeom prst="roundRect">
            <a:avLst>
              <a:gd name="adj" fmla="val 2909"/>
            </a:avLst>
          </a:prstGeom>
          <a:solidFill>
            <a:schemeClr val="bg2"/>
          </a:solidFill>
          <a:ln/>
        </p:spPr>
      </p:sp>
      <p:sp>
        <p:nvSpPr>
          <p:cNvPr id="5" name="Model ASYNCHRONOUS circle"/>
          <p:cNvSpPr/>
          <p:nvPr/>
        </p:nvSpPr>
        <p:spPr>
          <a:xfrm>
            <a:off x="685800" y="1463040"/>
            <a:ext cx="548640" cy="548640"/>
          </a:xfrm>
          <a:prstGeom prst="ellipse">
            <a:avLst/>
          </a:prstGeom>
          <a:solidFill>
            <a:schemeClr val="tx2"/>
          </a:solidFill>
          <a:ln/>
        </p:spPr>
      </p:sp>
      <p:pic>
        <p:nvPicPr>
          <p:cNvPr id="6" name="Model ASYNCHRONOUS icon" descr="Model ASYNCHRONOUS">    </p:cNvPr>
          <p:cNvPicPr>
            <a:picLocks noChangeAspect="1"/>
          </p:cNvPicPr>
          <p:nvPr/>
        </p:nvPicPr>
        <p:blipFill>
          <a:blip r:embed="rId1"/>
          <a:stretch>
            <a:fillRect/>
          </a:stretch>
        </p:blipFill>
        <p:spPr>
          <a:xfrm>
            <a:off x="822960" y="1600200"/>
            <a:ext cx="274320" cy="274320"/>
          </a:xfrm>
          <a:prstGeom prst="rect">
            <a:avLst/>
          </a:prstGeom>
        </p:spPr>
      </p:pic>
      <p:sp>
        <p:nvSpPr>
          <p:cNvPr id="7" name="Text 4"/>
          <p:cNvSpPr txBox="1"/>
          <p:nvPr/>
        </p:nvSpPr>
        <p:spPr>
          <a:xfrm>
            <a:off x="1371600" y="1481328"/>
            <a:ext cx="1554480" cy="228600"/>
          </a:xfrm>
          <a:prstGeom prst="rect">
            <a:avLst/>
          </a:prstGeom>
          <a:noFill/>
          <a:ln/>
        </p:spPr>
        <p:txBody>
          <a:bodyPr wrap="square" lIns="0" tIns="0" rIns="0" bIns="0" rtlCol="0" anchor="t"/>
          <a:lstStyle/>
          <a:p>
            <a:pPr indent="0" marL="0">
              <a:buNone/>
            </a:pPr>
            <a:r>
              <a:rPr lang="en-US" sz="1100" b="1" dirty="0">
                <a:solidFill>
                  <a:schemeClr val="accent2"/>
                </a:solidFill>
              </a:rPr>
              <a:t>ASYNCHRONOUS</a:t>
            </a:r>
            <a:endParaRPr lang="en-US" sz="1100" dirty="0"/>
          </a:p>
        </p:txBody>
      </p:sp>
      <p:sp>
        <p:nvSpPr>
          <p:cNvPr id="8" name="Text 5"/>
          <p:cNvSpPr txBox="1"/>
          <p:nvPr/>
        </p:nvSpPr>
        <p:spPr>
          <a:xfrm>
            <a:off x="1371600" y="1709928"/>
            <a:ext cx="1600200" cy="365760"/>
          </a:xfrm>
          <a:prstGeom prst="rect">
            <a:avLst/>
          </a:prstGeom>
          <a:noFill/>
          <a:ln/>
        </p:spPr>
        <p:txBody>
          <a:bodyPr wrap="square" lIns="0" tIns="0" rIns="0" bIns="0" rtlCol="0" anchor="t"/>
          <a:lstStyle/>
          <a:p>
            <a:pPr indent="0" marL="0">
              <a:buNone/>
            </a:pPr>
            <a:r>
              <a:rPr lang="en-US" sz="1600" b="1" dirty="0">
                <a:solidFill>
                  <a:schemeClr val="tx2"/>
                </a:solidFill>
              </a:rPr>
              <a:t>Self-paced Learning</a:t>
            </a:r>
            <a:endParaRPr lang="en-US" sz="1600" dirty="0"/>
          </a:p>
        </p:txBody>
      </p:sp>
      <p:sp>
        <p:nvSpPr>
          <p:cNvPr id="9" name="Text 6"/>
          <p:cNvSpPr txBox="1"/>
          <p:nvPr/>
        </p:nvSpPr>
        <p:spPr>
          <a:xfrm>
            <a:off x="685800" y="224028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Video &amp; bahan bacaan</a:t>
            </a:r>
            <a:endParaRPr lang="en-US" sz="1400" dirty="0"/>
          </a:p>
          <a:p>
            <a:pPr marL="342900" indent="-342900">
              <a:spcAft>
                <a:spcPts val="400"/>
              </a:spcAft>
              <a:buSzPct val="100000"/>
              <a:buChar char="•"/>
            </a:pPr>
            <a:r>
              <a:rPr lang="en-US" sz="1400" dirty="0">
                <a:solidFill>
                  <a:schemeClr val="tx1"/>
                </a:solidFill>
              </a:rPr>
              <a:t>Latihan dengan tools AI</a:t>
            </a:r>
            <a:endParaRPr lang="en-US" sz="1400" dirty="0"/>
          </a:p>
          <a:p>
            <a:pPr marL="342900" indent="-342900">
              <a:spcAft>
                <a:spcPts val="400"/>
              </a:spcAft>
              <a:buSzPct val="100000"/>
              <a:buChar char="•"/>
            </a:pPr>
            <a:r>
              <a:rPr lang="en-US" sz="1400" dirty="0">
                <a:solidFill>
                  <a:schemeClr val="tx1"/>
                </a:solidFill>
              </a:rPr>
              <a:t>Kuis pemahaman</a:t>
            </a:r>
            <a:endParaRPr lang="en-US" sz="1400" dirty="0"/>
          </a:p>
        </p:txBody>
      </p:sp>
      <p:sp>
        <p:nvSpPr>
          <p:cNvPr id="10" name="Model card LIVE"/>
          <p:cNvSpPr/>
          <p:nvPr/>
        </p:nvSpPr>
        <p:spPr>
          <a:xfrm>
            <a:off x="3264408" y="1280160"/>
            <a:ext cx="2624328" cy="2514600"/>
          </a:xfrm>
          <a:prstGeom prst="roundRect">
            <a:avLst>
              <a:gd name="adj" fmla="val 2909"/>
            </a:avLst>
          </a:prstGeom>
          <a:solidFill>
            <a:schemeClr val="bg2"/>
          </a:solidFill>
          <a:ln/>
        </p:spPr>
      </p:sp>
      <p:sp>
        <p:nvSpPr>
          <p:cNvPr id="11" name="Model LIVE circle"/>
          <p:cNvSpPr/>
          <p:nvPr/>
        </p:nvSpPr>
        <p:spPr>
          <a:xfrm>
            <a:off x="3493008" y="1463040"/>
            <a:ext cx="548640" cy="548640"/>
          </a:xfrm>
          <a:prstGeom prst="ellipse">
            <a:avLst/>
          </a:prstGeom>
          <a:solidFill>
            <a:schemeClr val="tx2"/>
          </a:solidFill>
          <a:ln/>
        </p:spPr>
      </p:sp>
      <p:pic>
        <p:nvPicPr>
          <p:cNvPr id="12" name="Model LIVE icon" descr="Model LIVE">    </p:cNvPr>
          <p:cNvPicPr>
            <a:picLocks noChangeAspect="1"/>
          </p:cNvPicPr>
          <p:nvPr/>
        </p:nvPicPr>
        <p:blipFill>
          <a:blip r:embed="rId2"/>
          <a:stretch>
            <a:fillRect/>
          </a:stretch>
        </p:blipFill>
        <p:spPr>
          <a:xfrm>
            <a:off x="3630168" y="1600200"/>
            <a:ext cx="274320" cy="274320"/>
          </a:xfrm>
          <a:prstGeom prst="rect">
            <a:avLst/>
          </a:prstGeom>
        </p:spPr>
      </p:pic>
      <p:sp>
        <p:nvSpPr>
          <p:cNvPr id="13" name="Text 9"/>
          <p:cNvSpPr txBox="1"/>
          <p:nvPr/>
        </p:nvSpPr>
        <p:spPr>
          <a:xfrm>
            <a:off x="4178808" y="1481328"/>
            <a:ext cx="1554480" cy="228600"/>
          </a:xfrm>
          <a:prstGeom prst="rect">
            <a:avLst/>
          </a:prstGeom>
          <a:noFill/>
          <a:ln/>
        </p:spPr>
        <p:txBody>
          <a:bodyPr wrap="square" lIns="0" tIns="0" rIns="0" bIns="0" rtlCol="0" anchor="t"/>
          <a:lstStyle/>
          <a:p>
            <a:pPr indent="0" marL="0">
              <a:buNone/>
            </a:pPr>
            <a:r>
              <a:rPr lang="en-US" sz="1100" b="1" dirty="0">
                <a:solidFill>
                  <a:schemeClr val="accent2"/>
                </a:solidFill>
              </a:rPr>
              <a:t>LIVE</a:t>
            </a:r>
            <a:endParaRPr lang="en-US" sz="1100" dirty="0"/>
          </a:p>
        </p:txBody>
      </p:sp>
      <p:sp>
        <p:nvSpPr>
          <p:cNvPr id="14" name="Text 10"/>
          <p:cNvSpPr txBox="1"/>
          <p:nvPr/>
        </p:nvSpPr>
        <p:spPr>
          <a:xfrm>
            <a:off x="4178808" y="1709928"/>
            <a:ext cx="1600200" cy="365760"/>
          </a:xfrm>
          <a:prstGeom prst="rect">
            <a:avLst/>
          </a:prstGeom>
          <a:noFill/>
          <a:ln/>
        </p:spPr>
        <p:txBody>
          <a:bodyPr wrap="square" lIns="0" tIns="0" rIns="0" bIns="0" rtlCol="0" anchor="t"/>
          <a:lstStyle/>
          <a:p>
            <a:pPr indent="0" marL="0">
              <a:buNone/>
            </a:pPr>
            <a:r>
              <a:rPr lang="en-US" sz="1600" b="1" dirty="0">
                <a:solidFill>
                  <a:schemeClr val="tx2"/>
                </a:solidFill>
              </a:rPr>
              <a:t>Interactive Workshop</a:t>
            </a:r>
            <a:endParaRPr lang="en-US" sz="1600" dirty="0"/>
          </a:p>
        </p:txBody>
      </p:sp>
      <p:sp>
        <p:nvSpPr>
          <p:cNvPr id="15" name="Text 11"/>
          <p:cNvSpPr txBox="1"/>
          <p:nvPr/>
        </p:nvSpPr>
        <p:spPr>
          <a:xfrm>
            <a:off x="3493008" y="224028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Demo alur riset dengan AI</a:t>
            </a:r>
            <a:endParaRPr lang="en-US" sz="1400" dirty="0"/>
          </a:p>
          <a:p>
            <a:pPr marL="342900" indent="-342900">
              <a:spcAft>
                <a:spcPts val="400"/>
              </a:spcAft>
              <a:buSzPct val="100000"/>
              <a:buChar char="•"/>
            </a:pPr>
            <a:r>
              <a:rPr lang="en-US" sz="1400" dirty="0">
                <a:solidFill>
                  <a:schemeClr val="tx1"/>
                </a:solidFill>
              </a:rPr>
              <a:t>Praktik terpandu</a:t>
            </a:r>
            <a:endParaRPr lang="en-US" sz="1400" dirty="0"/>
          </a:p>
          <a:p>
            <a:pPr marL="342900" indent="-342900">
              <a:spcAft>
                <a:spcPts val="400"/>
              </a:spcAft>
              <a:buSzPct val="100000"/>
              <a:buChar char="•"/>
            </a:pPr>
            <a:r>
              <a:rPr lang="en-US" sz="1400" dirty="0">
                <a:solidFill>
                  <a:schemeClr val="tx1"/>
                </a:solidFill>
              </a:rPr>
              <a:t>Diskusi &amp; tanya jawab</a:t>
            </a:r>
            <a:endParaRPr lang="en-US" sz="1400" dirty="0"/>
          </a:p>
        </p:txBody>
      </p:sp>
      <p:sp>
        <p:nvSpPr>
          <p:cNvPr id="16" name="Model card CLINIC"/>
          <p:cNvSpPr/>
          <p:nvPr/>
        </p:nvSpPr>
        <p:spPr>
          <a:xfrm>
            <a:off x="6071616" y="1280160"/>
            <a:ext cx="2624328" cy="2514600"/>
          </a:xfrm>
          <a:prstGeom prst="roundRect">
            <a:avLst>
              <a:gd name="adj" fmla="val 2909"/>
            </a:avLst>
          </a:prstGeom>
          <a:solidFill>
            <a:schemeClr val="bg2"/>
          </a:solidFill>
          <a:ln/>
        </p:spPr>
      </p:sp>
      <p:sp>
        <p:nvSpPr>
          <p:cNvPr id="17" name="Model CLINIC circle"/>
          <p:cNvSpPr/>
          <p:nvPr/>
        </p:nvSpPr>
        <p:spPr>
          <a:xfrm>
            <a:off x="6300216" y="1463040"/>
            <a:ext cx="548640" cy="548640"/>
          </a:xfrm>
          <a:prstGeom prst="ellipse">
            <a:avLst/>
          </a:prstGeom>
          <a:solidFill>
            <a:schemeClr val="tx2"/>
          </a:solidFill>
          <a:ln/>
        </p:spPr>
      </p:sp>
      <p:pic>
        <p:nvPicPr>
          <p:cNvPr id="18" name="Model CLINIC icon" descr="Model CLINIC">    </p:cNvPr>
          <p:cNvPicPr>
            <a:picLocks noChangeAspect="1"/>
          </p:cNvPicPr>
          <p:nvPr/>
        </p:nvPicPr>
        <p:blipFill>
          <a:blip r:embed="rId3"/>
          <a:stretch>
            <a:fillRect/>
          </a:stretch>
        </p:blipFill>
        <p:spPr>
          <a:xfrm>
            <a:off x="6437376" y="1600200"/>
            <a:ext cx="274320" cy="274320"/>
          </a:xfrm>
          <a:prstGeom prst="rect">
            <a:avLst/>
          </a:prstGeom>
        </p:spPr>
      </p:pic>
      <p:sp>
        <p:nvSpPr>
          <p:cNvPr id="19" name="Text 14"/>
          <p:cNvSpPr txBox="1"/>
          <p:nvPr/>
        </p:nvSpPr>
        <p:spPr>
          <a:xfrm>
            <a:off x="6986016" y="1481328"/>
            <a:ext cx="1554480" cy="228600"/>
          </a:xfrm>
          <a:prstGeom prst="rect">
            <a:avLst/>
          </a:prstGeom>
          <a:noFill/>
          <a:ln/>
        </p:spPr>
        <p:txBody>
          <a:bodyPr wrap="square" lIns="0" tIns="0" rIns="0" bIns="0" rtlCol="0" anchor="t"/>
          <a:lstStyle/>
          <a:p>
            <a:pPr indent="0" marL="0">
              <a:buNone/>
            </a:pPr>
            <a:r>
              <a:rPr lang="en-US" sz="1100" b="1" dirty="0">
                <a:solidFill>
                  <a:schemeClr val="accent2"/>
                </a:solidFill>
              </a:rPr>
              <a:t>CLINIC</a:t>
            </a:r>
            <a:endParaRPr lang="en-US" sz="1100" dirty="0"/>
          </a:p>
        </p:txBody>
      </p:sp>
      <p:sp>
        <p:nvSpPr>
          <p:cNvPr id="20" name="Text 15"/>
          <p:cNvSpPr txBox="1"/>
          <p:nvPr/>
        </p:nvSpPr>
        <p:spPr>
          <a:xfrm>
            <a:off x="6986016" y="1709928"/>
            <a:ext cx="1600200" cy="365760"/>
          </a:xfrm>
          <a:prstGeom prst="rect">
            <a:avLst/>
          </a:prstGeom>
          <a:noFill/>
          <a:ln/>
        </p:spPr>
        <p:txBody>
          <a:bodyPr wrap="square" lIns="0" tIns="0" rIns="0" bIns="0" rtlCol="0" anchor="t"/>
          <a:lstStyle/>
          <a:p>
            <a:pPr indent="0" marL="0">
              <a:buNone/>
            </a:pPr>
            <a:r>
              <a:rPr lang="en-US" sz="1600" b="1" dirty="0">
                <a:solidFill>
                  <a:schemeClr val="tx2"/>
                </a:solidFill>
              </a:rPr>
              <a:t>Research Mentoring</a:t>
            </a:r>
            <a:endParaRPr lang="en-US" sz="1600" dirty="0"/>
          </a:p>
        </p:txBody>
      </p:sp>
      <p:sp>
        <p:nvSpPr>
          <p:cNvPr id="21" name="Text 16"/>
          <p:cNvSpPr txBox="1"/>
          <p:nvPr/>
        </p:nvSpPr>
        <p:spPr>
          <a:xfrm>
            <a:off x="6300216" y="2240280"/>
            <a:ext cx="22402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Kelompok kecil per bidang</a:t>
            </a:r>
            <a:endParaRPr lang="en-US" sz="1400" dirty="0"/>
          </a:p>
          <a:p>
            <a:pPr marL="342900" indent="-342900">
              <a:spcAft>
                <a:spcPts val="400"/>
              </a:spcAft>
              <a:buSzPct val="100000"/>
              <a:buChar char="•"/>
            </a:pPr>
            <a:r>
              <a:rPr lang="en-US" sz="1400" dirty="0">
                <a:solidFill>
                  <a:schemeClr val="tx1"/>
                </a:solidFill>
              </a:rPr>
              <a:t>Review proyek peserta</a:t>
            </a:r>
            <a:endParaRPr lang="en-US" sz="1400" dirty="0"/>
          </a:p>
          <a:p>
            <a:pPr marL="342900" indent="-342900">
              <a:spcAft>
                <a:spcPts val="400"/>
              </a:spcAft>
              <a:buSzPct val="100000"/>
              <a:buChar char="•"/>
            </a:pPr>
            <a:r>
              <a:rPr lang="en-US" sz="1400" dirty="0">
                <a:solidFill>
                  <a:schemeClr val="tx1"/>
                </a:solidFill>
              </a:rPr>
              <a:t>Umpan balik dari mentor</a:t>
            </a:r>
            <a:endParaRPr lang="en-US" sz="1400" dirty="0"/>
          </a:p>
        </p:txBody>
      </p:sp>
      <p:sp>
        <p:nvSpPr>
          <p:cNvPr id="22" name="Text 17"/>
          <p:cNvSpPr txBox="1"/>
          <p:nvPr/>
        </p:nvSpPr>
        <p:spPr>
          <a:xfrm>
            <a:off x="457200" y="3977640"/>
            <a:ext cx="4023360" cy="228600"/>
          </a:xfrm>
          <a:prstGeom prst="rect">
            <a:avLst/>
          </a:prstGeom>
          <a:noFill/>
          <a:ln/>
        </p:spPr>
        <p:txBody>
          <a:bodyPr wrap="square" lIns="0" tIns="0" rIns="0" bIns="0" rtlCol="0" anchor="t"/>
          <a:lstStyle/>
          <a:p>
            <a:pPr indent="0" marL="0">
              <a:buNone/>
            </a:pPr>
            <a:r>
              <a:rPr lang="en-US" sz="1100" b="1" dirty="0">
                <a:solidFill>
                  <a:schemeClr val="accent2"/>
                </a:solidFill>
              </a:rPr>
              <a:t>BERBASIS PROYEK NYATA</a:t>
            </a:r>
            <a:endParaRPr lang="en-US" sz="1100" dirty="0"/>
          </a:p>
        </p:txBody>
      </p:sp>
      <p:sp>
        <p:nvSpPr>
          <p:cNvPr id="23" name="Text 18"/>
          <p:cNvSpPr txBox="1"/>
          <p:nvPr/>
        </p:nvSpPr>
        <p:spPr>
          <a:xfrm>
            <a:off x="457200" y="4206240"/>
            <a:ext cx="4023360" cy="320040"/>
          </a:xfrm>
          <a:prstGeom prst="rect">
            <a:avLst/>
          </a:prstGeom>
          <a:noFill/>
          <a:ln/>
        </p:spPr>
        <p:txBody>
          <a:bodyPr wrap="square" lIns="0" tIns="0" rIns="0" bIns="0" rtlCol="0" anchor="t"/>
          <a:lstStyle/>
          <a:p>
            <a:pPr indent="0" marL="0">
              <a:buNone/>
            </a:pPr>
            <a:r>
              <a:rPr lang="en-US" sz="1400" dirty="0">
                <a:solidFill>
                  <a:schemeClr val="tx1"/>
                </a:solidFill>
              </a:rPr>
              <a:t>Peserta bekerja pada riset mereka sendiri</a:t>
            </a:r>
            <a:endParaRPr lang="en-US" sz="1400" dirty="0"/>
          </a:p>
        </p:txBody>
      </p:sp>
      <p:sp>
        <p:nvSpPr>
          <p:cNvPr id="24" name="Text 19"/>
          <p:cNvSpPr txBox="1"/>
          <p:nvPr/>
        </p:nvSpPr>
        <p:spPr>
          <a:xfrm>
            <a:off x="4663440" y="3977640"/>
            <a:ext cx="4023360" cy="228600"/>
          </a:xfrm>
          <a:prstGeom prst="rect">
            <a:avLst/>
          </a:prstGeom>
          <a:noFill/>
          <a:ln/>
        </p:spPr>
        <p:txBody>
          <a:bodyPr wrap="square" lIns="0" tIns="0" rIns="0" bIns="0" rtlCol="0" anchor="t"/>
          <a:lstStyle/>
          <a:p>
            <a:pPr indent="0" marL="0">
              <a:buNone/>
            </a:pPr>
            <a:r>
              <a:rPr lang="en-US" sz="1100" b="1" dirty="0">
                <a:solidFill>
                  <a:schemeClr val="accent2"/>
                </a:solidFill>
              </a:rPr>
              <a:t>SESUAI ETIKA RISET</a:t>
            </a:r>
            <a:endParaRPr lang="en-US" sz="1100" dirty="0"/>
          </a:p>
        </p:txBody>
      </p:sp>
      <p:sp>
        <p:nvSpPr>
          <p:cNvPr id="25" name="Text 20"/>
          <p:cNvSpPr txBox="1"/>
          <p:nvPr/>
        </p:nvSpPr>
        <p:spPr>
          <a:xfrm>
            <a:off x="4663440" y="4206240"/>
            <a:ext cx="4023360" cy="320040"/>
          </a:xfrm>
          <a:prstGeom prst="rect">
            <a:avLst/>
          </a:prstGeom>
          <a:noFill/>
          <a:ln/>
        </p:spPr>
        <p:txBody>
          <a:bodyPr wrap="square" lIns="0" tIns="0" rIns="0" bIns="0" rtlCol="0" anchor="t"/>
          <a:lstStyle/>
          <a:p>
            <a:pPr indent="0" marL="0">
              <a:buNone/>
            </a:pPr>
            <a:r>
              <a:rPr lang="en-US" sz="1400" dirty="0">
                <a:solidFill>
                  <a:schemeClr val="tx1"/>
                </a:solidFill>
              </a:rPr>
              <a:t>Selaras dengan kebijakan penerbit dan integritas akademik</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ASSESSMENT</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Research AI Readiness Assessment</a:t>
            </a:r>
            <a:endParaRPr lang="en-US" sz="3000" dirty="0"/>
          </a:p>
        </p:txBody>
      </p:sp>
      <p:sp>
        <p:nvSpPr>
          <p:cNvPr id="4" name="Stage dot BASELINE"/>
          <p:cNvSpPr/>
          <p:nvPr/>
        </p:nvSpPr>
        <p:spPr>
          <a:xfrm>
            <a:off x="457200" y="1280160"/>
            <a:ext cx="548640" cy="548640"/>
          </a:xfrm>
          <a:prstGeom prst="ellipse">
            <a:avLst/>
          </a:prstGeom>
          <a:solidFill>
            <a:schemeClr val="accent2"/>
          </a:solidFill>
          <a:ln/>
        </p:spPr>
      </p:sp>
      <p:sp>
        <p:nvSpPr>
          <p:cNvPr id="5" name="Text 3"/>
          <p:cNvSpPr txBox="1"/>
          <p:nvPr/>
        </p:nvSpPr>
        <p:spPr>
          <a:xfrm>
            <a:off x="457200" y="1280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143000" y="1298448"/>
            <a:ext cx="2103120" cy="274320"/>
          </a:xfrm>
          <a:prstGeom prst="rect">
            <a:avLst/>
          </a:prstGeom>
          <a:noFill/>
          <a:ln/>
        </p:spPr>
        <p:txBody>
          <a:bodyPr wrap="square" lIns="0" tIns="0" rIns="0" bIns="0" rtlCol="0" anchor="t"/>
          <a:lstStyle/>
          <a:p>
            <a:pPr indent="0" marL="0">
              <a:buNone/>
            </a:pPr>
            <a:r>
              <a:rPr lang="en-US" sz="1500" b="1" dirty="0">
                <a:solidFill>
                  <a:schemeClr val="tx2"/>
                </a:solidFill>
              </a:rPr>
              <a:t>BASELINE</a:t>
            </a:r>
            <a:endParaRPr lang="en-US" sz="1500" dirty="0"/>
          </a:p>
        </p:txBody>
      </p:sp>
      <p:sp>
        <p:nvSpPr>
          <p:cNvPr id="7" name="Text 5"/>
          <p:cNvSpPr txBox="1"/>
          <p:nvPr/>
        </p:nvSpPr>
        <p:spPr>
          <a:xfrm>
            <a:off x="1143000" y="1581912"/>
            <a:ext cx="2103120" cy="548640"/>
          </a:xfrm>
          <a:prstGeom prst="rect">
            <a:avLst/>
          </a:prstGeom>
          <a:noFill/>
          <a:ln/>
        </p:spPr>
        <p:txBody>
          <a:bodyPr wrap="square" lIns="0" tIns="0" rIns="0" bIns="0" rtlCol="0" anchor="t"/>
          <a:lstStyle/>
          <a:p>
            <a:pPr indent="0" marL="0">
              <a:buNone/>
            </a:pPr>
            <a:r>
              <a:rPr lang="en-US" sz="1400" dirty="0">
                <a:solidFill>
                  <a:schemeClr val="tx1"/>
                </a:solidFill>
              </a:rPr>
              <a:t>Kondisi awal sebelum program</a:t>
            </a:r>
            <a:endParaRPr lang="en-US" sz="1400" dirty="0"/>
          </a:p>
        </p:txBody>
      </p:sp>
      <p:sp>
        <p:nvSpPr>
          <p:cNvPr id="8" name="Stage dot CHECKPOINT"/>
          <p:cNvSpPr/>
          <p:nvPr/>
        </p:nvSpPr>
        <p:spPr>
          <a:xfrm>
            <a:off x="457200" y="2359152"/>
            <a:ext cx="548640" cy="548640"/>
          </a:xfrm>
          <a:prstGeom prst="ellipse">
            <a:avLst/>
          </a:prstGeom>
          <a:solidFill>
            <a:schemeClr val="accent2"/>
          </a:solidFill>
          <a:ln/>
        </p:spPr>
      </p:sp>
      <p:sp>
        <p:nvSpPr>
          <p:cNvPr id="9" name="Text 7"/>
          <p:cNvSpPr txBox="1"/>
          <p:nvPr/>
        </p:nvSpPr>
        <p:spPr>
          <a:xfrm>
            <a:off x="457200" y="235915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143000" y="2377440"/>
            <a:ext cx="2103120" cy="274320"/>
          </a:xfrm>
          <a:prstGeom prst="rect">
            <a:avLst/>
          </a:prstGeom>
          <a:noFill/>
          <a:ln/>
        </p:spPr>
        <p:txBody>
          <a:bodyPr wrap="square" lIns="0" tIns="0" rIns="0" bIns="0" rtlCol="0" anchor="t"/>
          <a:lstStyle/>
          <a:p>
            <a:pPr indent="0" marL="0">
              <a:buNone/>
            </a:pPr>
            <a:r>
              <a:rPr lang="en-US" sz="1500" b="1" dirty="0">
                <a:solidFill>
                  <a:schemeClr val="tx2"/>
                </a:solidFill>
              </a:rPr>
              <a:t>CHECKPOINT</a:t>
            </a:r>
            <a:endParaRPr lang="en-US" sz="1500" dirty="0"/>
          </a:p>
        </p:txBody>
      </p:sp>
      <p:sp>
        <p:nvSpPr>
          <p:cNvPr id="11" name="Text 9"/>
          <p:cNvSpPr txBox="1"/>
          <p:nvPr/>
        </p:nvSpPr>
        <p:spPr>
          <a:xfrm>
            <a:off x="1143000" y="2660904"/>
            <a:ext cx="2103120" cy="548640"/>
          </a:xfrm>
          <a:prstGeom prst="rect">
            <a:avLst/>
          </a:prstGeom>
          <a:noFill/>
          <a:ln/>
        </p:spPr>
        <p:txBody>
          <a:bodyPr wrap="square" lIns="0" tIns="0" rIns="0" bIns="0" rtlCol="0" anchor="t"/>
          <a:lstStyle/>
          <a:p>
            <a:pPr indent="0" marL="0">
              <a:buNone/>
            </a:pPr>
            <a:r>
              <a:rPr lang="en-US" sz="1400" dirty="0">
                <a:solidFill>
                  <a:schemeClr val="tx1"/>
                </a:solidFill>
              </a:rPr>
              <a:t>Perkembangan setelah fondasi</a:t>
            </a:r>
            <a:endParaRPr lang="en-US" sz="1400" dirty="0"/>
          </a:p>
        </p:txBody>
      </p:sp>
      <p:sp>
        <p:nvSpPr>
          <p:cNvPr id="12" name="Stage dot ENDLINE"/>
          <p:cNvSpPr/>
          <p:nvPr/>
        </p:nvSpPr>
        <p:spPr>
          <a:xfrm>
            <a:off x="457200" y="3438144"/>
            <a:ext cx="548640" cy="548640"/>
          </a:xfrm>
          <a:prstGeom prst="ellipse">
            <a:avLst/>
          </a:prstGeom>
          <a:solidFill>
            <a:schemeClr val="accent2"/>
          </a:solidFill>
          <a:ln/>
        </p:spPr>
      </p:sp>
      <p:sp>
        <p:nvSpPr>
          <p:cNvPr id="13" name="Text 11"/>
          <p:cNvSpPr txBox="1"/>
          <p:nvPr/>
        </p:nvSpPr>
        <p:spPr>
          <a:xfrm>
            <a:off x="457200" y="343814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143000" y="3456432"/>
            <a:ext cx="2103120" cy="274320"/>
          </a:xfrm>
          <a:prstGeom prst="rect">
            <a:avLst/>
          </a:prstGeom>
          <a:noFill/>
          <a:ln/>
        </p:spPr>
        <p:txBody>
          <a:bodyPr wrap="square" lIns="0" tIns="0" rIns="0" bIns="0" rtlCol="0" anchor="t"/>
          <a:lstStyle/>
          <a:p>
            <a:pPr indent="0" marL="0">
              <a:buNone/>
            </a:pPr>
            <a:r>
              <a:rPr lang="en-US" sz="1500" b="1" dirty="0">
                <a:solidFill>
                  <a:schemeClr val="tx2"/>
                </a:solidFill>
              </a:rPr>
              <a:t>ENDLINE</a:t>
            </a:r>
            <a:endParaRPr lang="en-US" sz="1500" dirty="0"/>
          </a:p>
        </p:txBody>
      </p:sp>
      <p:sp>
        <p:nvSpPr>
          <p:cNvPr id="15" name="Text 13"/>
          <p:cNvSpPr txBox="1"/>
          <p:nvPr/>
        </p:nvSpPr>
        <p:spPr>
          <a:xfrm>
            <a:off x="1143000" y="3739896"/>
            <a:ext cx="2103120" cy="548640"/>
          </a:xfrm>
          <a:prstGeom prst="rect">
            <a:avLst/>
          </a:prstGeom>
          <a:noFill/>
          <a:ln/>
        </p:spPr>
        <p:txBody>
          <a:bodyPr wrap="square" lIns="0" tIns="0" rIns="0" bIns="0" rtlCol="0" anchor="t"/>
          <a:lstStyle/>
          <a:p>
            <a:pPr indent="0" marL="0">
              <a:buNone/>
            </a:pPr>
            <a:r>
              <a:rPr lang="en-US" sz="1400" dirty="0">
                <a:solidFill>
                  <a:schemeClr val="tx1"/>
                </a:solidFill>
              </a:rPr>
              <a:t>Perubahan dibanding baseline</a:t>
            </a:r>
            <a:endParaRPr lang="en-US" sz="1400" dirty="0"/>
          </a:p>
        </p:txBody>
      </p:sp>
      <p:sp>
        <p:nvSpPr>
          <p:cNvPr id="16" name="Question card AI Knowledge"/>
          <p:cNvSpPr/>
          <p:nvPr/>
        </p:nvSpPr>
        <p:spPr>
          <a:xfrm>
            <a:off x="3474720" y="1280160"/>
            <a:ext cx="2468880" cy="1463040"/>
          </a:xfrm>
          <a:prstGeom prst="roundRect">
            <a:avLst>
              <a:gd name="adj" fmla="val 5000"/>
            </a:avLst>
          </a:prstGeom>
          <a:solidFill>
            <a:schemeClr val="bg2"/>
          </a:solidFill>
          <a:ln/>
        </p:spPr>
      </p:sp>
      <p:sp>
        <p:nvSpPr>
          <p:cNvPr id="17" name="Text 15"/>
          <p:cNvSpPr txBox="1"/>
          <p:nvPr/>
        </p:nvSpPr>
        <p:spPr>
          <a:xfrm>
            <a:off x="3657600" y="1417320"/>
            <a:ext cx="2103120" cy="274320"/>
          </a:xfrm>
          <a:prstGeom prst="rect">
            <a:avLst/>
          </a:prstGeom>
          <a:noFill/>
          <a:ln/>
        </p:spPr>
        <p:txBody>
          <a:bodyPr wrap="square" lIns="0" tIns="0" rIns="0" bIns="0" rtlCol="0" anchor="t"/>
          <a:lstStyle/>
          <a:p>
            <a:pPr indent="0" marL="0">
              <a:buNone/>
            </a:pPr>
            <a:r>
              <a:rPr lang="en-US" sz="1300" b="1" dirty="0">
                <a:solidFill>
                  <a:schemeClr val="accent2"/>
                </a:solidFill>
              </a:rPr>
              <a:t>AI Knowledge</a:t>
            </a:r>
            <a:endParaRPr lang="en-US" sz="1300" dirty="0"/>
          </a:p>
        </p:txBody>
      </p:sp>
      <p:sp>
        <p:nvSpPr>
          <p:cNvPr id="18" name="Text 16"/>
          <p:cNvSpPr txBox="1"/>
          <p:nvPr/>
        </p:nvSpPr>
        <p:spPr>
          <a:xfrm>
            <a:off x="3657600" y="1719072"/>
            <a:ext cx="2103120" cy="960120"/>
          </a:xfrm>
          <a:prstGeom prst="rect">
            <a:avLst/>
          </a:prstGeom>
          <a:noFill/>
          <a:ln/>
        </p:spPr>
        <p:txBody>
          <a:bodyPr wrap="square" lIns="0" tIns="0" rIns="0" bIns="0" rtlCol="0" anchor="t"/>
          <a:lstStyle/>
          <a:p>
            <a:pPr indent="0" marL="0">
              <a:buNone/>
            </a:pPr>
            <a:r>
              <a:rPr lang="en-US" sz="1400" dirty="0">
                <a:solidFill>
                  <a:schemeClr val="tx1"/>
                </a:solidFill>
              </a:rPr>
              <a:t>Manakah cara paling tepat memverifikasi referensi yang disarankan AI?</a:t>
            </a:r>
            <a:endParaRPr lang="en-US" sz="1400" dirty="0"/>
          </a:p>
        </p:txBody>
      </p:sp>
      <p:sp>
        <p:nvSpPr>
          <p:cNvPr id="19" name="Question card AI Usage in Research"/>
          <p:cNvSpPr/>
          <p:nvPr/>
        </p:nvSpPr>
        <p:spPr>
          <a:xfrm>
            <a:off x="6126480" y="1280160"/>
            <a:ext cx="2468880" cy="1463040"/>
          </a:xfrm>
          <a:prstGeom prst="roundRect">
            <a:avLst>
              <a:gd name="adj" fmla="val 5000"/>
            </a:avLst>
          </a:prstGeom>
          <a:solidFill>
            <a:schemeClr val="bg2"/>
          </a:solidFill>
          <a:ln/>
        </p:spPr>
      </p:sp>
      <p:sp>
        <p:nvSpPr>
          <p:cNvPr id="20" name="Text 18"/>
          <p:cNvSpPr txBox="1"/>
          <p:nvPr/>
        </p:nvSpPr>
        <p:spPr>
          <a:xfrm>
            <a:off x="6309360" y="1417320"/>
            <a:ext cx="2103120" cy="274320"/>
          </a:xfrm>
          <a:prstGeom prst="rect">
            <a:avLst/>
          </a:prstGeom>
          <a:noFill/>
          <a:ln/>
        </p:spPr>
        <p:txBody>
          <a:bodyPr wrap="square" lIns="0" tIns="0" rIns="0" bIns="0" rtlCol="0" anchor="t"/>
          <a:lstStyle/>
          <a:p>
            <a:pPr indent="0" marL="0">
              <a:buNone/>
            </a:pPr>
            <a:r>
              <a:rPr lang="en-US" sz="1300" b="1" dirty="0">
                <a:solidFill>
                  <a:schemeClr val="accent2"/>
                </a:solidFill>
              </a:rPr>
              <a:t>AI Usage in Research</a:t>
            </a:r>
            <a:endParaRPr lang="en-US" sz="1300" dirty="0"/>
          </a:p>
        </p:txBody>
      </p:sp>
      <p:sp>
        <p:nvSpPr>
          <p:cNvPr id="21" name="Text 19"/>
          <p:cNvSpPr txBox="1"/>
          <p:nvPr/>
        </p:nvSpPr>
        <p:spPr>
          <a:xfrm>
            <a:off x="6309360" y="1719072"/>
            <a:ext cx="2103120" cy="960120"/>
          </a:xfrm>
          <a:prstGeom prst="rect">
            <a:avLst/>
          </a:prstGeom>
          <a:noFill/>
          <a:ln/>
        </p:spPr>
        <p:txBody>
          <a:bodyPr wrap="square" lIns="0" tIns="0" rIns="0" bIns="0" rtlCol="0" anchor="t"/>
          <a:lstStyle/>
          <a:p>
            <a:pPr indent="0" marL="0">
              <a:buNone/>
            </a:pPr>
            <a:r>
              <a:rPr lang="en-US" sz="1400" dirty="0">
                <a:solidFill>
                  <a:schemeClr val="tx1"/>
                </a:solidFill>
              </a:rPr>
              <a:t>Dalam 30 hari terakhir, seberapa sering Anda memakai AI untuk mencari atau merangkum literatur?</a:t>
            </a:r>
            <a:endParaRPr lang="en-US" sz="1400" dirty="0"/>
          </a:p>
        </p:txBody>
      </p:sp>
      <p:sp>
        <p:nvSpPr>
          <p:cNvPr id="22" name="Question card Research Integrity"/>
          <p:cNvSpPr/>
          <p:nvPr/>
        </p:nvSpPr>
        <p:spPr>
          <a:xfrm>
            <a:off x="3474720" y="2926080"/>
            <a:ext cx="2468880" cy="1463040"/>
          </a:xfrm>
          <a:prstGeom prst="roundRect">
            <a:avLst>
              <a:gd name="adj" fmla="val 5000"/>
            </a:avLst>
          </a:prstGeom>
          <a:solidFill>
            <a:schemeClr val="bg2"/>
          </a:solidFill>
          <a:ln/>
        </p:spPr>
      </p:sp>
      <p:sp>
        <p:nvSpPr>
          <p:cNvPr id="23" name="Text 21"/>
          <p:cNvSpPr txBox="1"/>
          <p:nvPr/>
        </p:nvSpPr>
        <p:spPr>
          <a:xfrm>
            <a:off x="3657600" y="3063240"/>
            <a:ext cx="2103120" cy="274320"/>
          </a:xfrm>
          <a:prstGeom prst="rect">
            <a:avLst/>
          </a:prstGeom>
          <a:noFill/>
          <a:ln/>
        </p:spPr>
        <p:txBody>
          <a:bodyPr wrap="square" lIns="0" tIns="0" rIns="0" bIns="0" rtlCol="0" anchor="t"/>
          <a:lstStyle/>
          <a:p>
            <a:pPr indent="0" marL="0">
              <a:buNone/>
            </a:pPr>
            <a:r>
              <a:rPr lang="en-US" sz="1300" b="1" dirty="0">
                <a:solidFill>
                  <a:schemeClr val="accent2"/>
                </a:solidFill>
              </a:rPr>
              <a:t>Research Integrity</a:t>
            </a:r>
            <a:endParaRPr lang="en-US" sz="1300" dirty="0"/>
          </a:p>
        </p:txBody>
      </p:sp>
      <p:sp>
        <p:nvSpPr>
          <p:cNvPr id="24" name="Text 22"/>
          <p:cNvSpPr txBox="1"/>
          <p:nvPr/>
        </p:nvSpPr>
        <p:spPr>
          <a:xfrm>
            <a:off x="3657600" y="3364992"/>
            <a:ext cx="2103120" cy="960120"/>
          </a:xfrm>
          <a:prstGeom prst="rect">
            <a:avLst/>
          </a:prstGeom>
          <a:noFill/>
          <a:ln/>
        </p:spPr>
        <p:txBody>
          <a:bodyPr wrap="square" lIns="0" tIns="0" rIns="0" bIns="0" rtlCol="0" anchor="t"/>
          <a:lstStyle/>
          <a:p>
            <a:pPr indent="0" marL="0">
              <a:buNone/>
            </a:pPr>
            <a:r>
              <a:rPr lang="en-US" sz="1400" dirty="0">
                <a:solidFill>
                  <a:schemeClr val="tx1"/>
                </a:solidFill>
              </a:rPr>
              <a:t>Apakah Anda tahu kebijakan jurnal target Anda tentang pengungkapan penggunaan AI?</a:t>
            </a:r>
            <a:endParaRPr lang="en-US" sz="1400" dirty="0"/>
          </a:p>
        </p:txBody>
      </p:sp>
      <p:sp>
        <p:nvSpPr>
          <p:cNvPr id="25" name="Question card AI Application"/>
          <p:cNvSpPr/>
          <p:nvPr/>
        </p:nvSpPr>
        <p:spPr>
          <a:xfrm>
            <a:off x="6126480" y="2926080"/>
            <a:ext cx="2468880" cy="1463040"/>
          </a:xfrm>
          <a:prstGeom prst="roundRect">
            <a:avLst>
              <a:gd name="adj" fmla="val 5000"/>
            </a:avLst>
          </a:prstGeom>
          <a:solidFill>
            <a:schemeClr val="bg2"/>
          </a:solidFill>
          <a:ln/>
        </p:spPr>
      </p:sp>
      <p:sp>
        <p:nvSpPr>
          <p:cNvPr id="26" name="Text 24"/>
          <p:cNvSpPr txBox="1"/>
          <p:nvPr/>
        </p:nvSpPr>
        <p:spPr>
          <a:xfrm>
            <a:off x="6309360" y="3063240"/>
            <a:ext cx="2103120" cy="274320"/>
          </a:xfrm>
          <a:prstGeom prst="rect">
            <a:avLst/>
          </a:prstGeom>
          <a:noFill/>
          <a:ln/>
        </p:spPr>
        <p:txBody>
          <a:bodyPr wrap="square" lIns="0" tIns="0" rIns="0" bIns="0" rtlCol="0" anchor="t"/>
          <a:lstStyle/>
          <a:p>
            <a:pPr indent="0" marL="0">
              <a:buNone/>
            </a:pPr>
            <a:r>
              <a:rPr lang="en-US" sz="1300" b="1" dirty="0">
                <a:solidFill>
                  <a:schemeClr val="accent2"/>
                </a:solidFill>
              </a:rPr>
              <a:t>AI Application</a:t>
            </a:r>
            <a:endParaRPr lang="en-US" sz="1300" dirty="0"/>
          </a:p>
        </p:txBody>
      </p:sp>
      <p:sp>
        <p:nvSpPr>
          <p:cNvPr id="27" name="Text 25"/>
          <p:cNvSpPr txBox="1"/>
          <p:nvPr/>
        </p:nvSpPr>
        <p:spPr>
          <a:xfrm>
            <a:off x="6309360" y="3364992"/>
            <a:ext cx="2103120" cy="960120"/>
          </a:xfrm>
          <a:prstGeom prst="rect">
            <a:avLst/>
          </a:prstGeom>
          <a:noFill/>
          <a:ln/>
        </p:spPr>
        <p:txBody>
          <a:bodyPr wrap="square" lIns="0" tIns="0" rIns="0" bIns="0" rtlCol="0" anchor="t"/>
          <a:lstStyle/>
          <a:p>
            <a:pPr indent="0" marL="0">
              <a:buNone/>
            </a:pPr>
            <a:r>
              <a:rPr lang="en-US" sz="1400" dirty="0">
                <a:solidFill>
                  <a:schemeClr val="tx1"/>
                </a:solidFill>
              </a:rPr>
              <a:t>Anda perlu meninjau 20 artikel. Alur penggunaan AI mana yang paling tepat?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PHASE 1 · ±6 JAM · ASYNCHRONOUS</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AI Research Foundations</a:t>
            </a:r>
            <a:endParaRPr lang="en-US" sz="3000" dirty="0"/>
          </a:p>
        </p:txBody>
      </p:sp>
      <p:sp>
        <p:nvSpPr>
          <p:cNvPr id="4" name="Module card AI &amp; LLM untuk Riset"/>
          <p:cNvSpPr/>
          <p:nvPr/>
        </p:nvSpPr>
        <p:spPr>
          <a:xfrm>
            <a:off x="457200" y="1280160"/>
            <a:ext cx="4023360" cy="1188720"/>
          </a:xfrm>
          <a:prstGeom prst="roundRect">
            <a:avLst>
              <a:gd name="adj" fmla="val 6154"/>
            </a:avLst>
          </a:prstGeom>
          <a:solidFill>
            <a:schemeClr val="bg2"/>
          </a:solidFill>
          <a:ln/>
        </p:spPr>
      </p:sp>
      <p:sp>
        <p:nvSpPr>
          <p:cNvPr id="5" name="Module AI &amp; LLM untuk Riset circle"/>
          <p:cNvSpPr/>
          <p:nvPr/>
        </p:nvSpPr>
        <p:spPr>
          <a:xfrm>
            <a:off x="685800" y="1554480"/>
            <a:ext cx="640080" cy="640080"/>
          </a:xfrm>
          <a:prstGeom prst="ellipse">
            <a:avLst/>
          </a:prstGeom>
          <a:solidFill>
            <a:schemeClr val="accent2"/>
          </a:solidFill>
          <a:ln/>
        </p:spPr>
      </p:sp>
      <p:pic>
        <p:nvPicPr>
          <p:cNvPr id="6" name="Module AI &amp; LLM untuk Riset icon" descr="Module AI &amp; LLM untuk Riset">    </p:cNvPr>
          <p:cNvPicPr>
            <a:picLocks noChangeAspect="1"/>
          </p:cNvPicPr>
          <p:nvPr/>
        </p:nvPicPr>
        <p:blipFill>
          <a:blip r:embed="rId1"/>
          <a:stretch>
            <a:fillRect/>
          </a:stretch>
        </p:blipFill>
        <p:spPr>
          <a:xfrm>
            <a:off x="845820" y="1714500"/>
            <a:ext cx="320040" cy="320040"/>
          </a:xfrm>
          <a:prstGeom prst="rect">
            <a:avLst/>
          </a:prstGeom>
        </p:spPr>
      </p:pic>
      <p:sp>
        <p:nvSpPr>
          <p:cNvPr id="7" name="Text 4"/>
          <p:cNvSpPr txBox="1"/>
          <p:nvPr/>
        </p:nvSpPr>
        <p:spPr>
          <a:xfrm>
            <a:off x="1508760" y="1463040"/>
            <a:ext cx="2834640" cy="365760"/>
          </a:xfrm>
          <a:prstGeom prst="rect">
            <a:avLst/>
          </a:prstGeom>
          <a:noFill/>
          <a:ln/>
        </p:spPr>
        <p:txBody>
          <a:bodyPr wrap="square" lIns="0" tIns="0" rIns="0" bIns="0" rtlCol="0" anchor="t"/>
          <a:lstStyle/>
          <a:p>
            <a:pPr indent="0" marL="0">
              <a:buNone/>
            </a:pPr>
            <a:r>
              <a:rPr lang="en-US" sz="1600" b="1" dirty="0">
                <a:solidFill>
                  <a:schemeClr val="tx2"/>
                </a:solidFill>
              </a:rPr>
              <a:t>01  AI &amp; LLM untuk Riset</a:t>
            </a:r>
            <a:endParaRPr lang="en-US" sz="1600" dirty="0"/>
          </a:p>
        </p:txBody>
      </p:sp>
      <p:sp>
        <p:nvSpPr>
          <p:cNvPr id="8" name="Text 5"/>
          <p:cNvSpPr txBox="1"/>
          <p:nvPr/>
        </p:nvSpPr>
        <p:spPr>
          <a:xfrm>
            <a:off x="1508760" y="1847088"/>
            <a:ext cx="2834640" cy="548640"/>
          </a:xfrm>
          <a:prstGeom prst="rect">
            <a:avLst/>
          </a:prstGeom>
          <a:noFill/>
          <a:ln/>
        </p:spPr>
        <p:txBody>
          <a:bodyPr wrap="square" lIns="0" tIns="0" rIns="0" bIns="0" rtlCol="0" anchor="t"/>
          <a:lstStyle/>
          <a:p>
            <a:pPr indent="0" marL="0">
              <a:buNone/>
            </a:pPr>
            <a:r>
              <a:rPr lang="en-US" sz="1400" dirty="0">
                <a:solidFill>
                  <a:schemeClr val="tx1"/>
                </a:solidFill>
              </a:rPr>
              <a:t>Cara kerja, kemampuan, batasan, hallucination</a:t>
            </a:r>
            <a:endParaRPr lang="en-US" sz="1400" dirty="0"/>
          </a:p>
        </p:txBody>
      </p:sp>
      <p:sp>
        <p:nvSpPr>
          <p:cNvPr id="9" name="Module card Integritas &amp; Kebijakan AI"/>
          <p:cNvSpPr/>
          <p:nvPr/>
        </p:nvSpPr>
        <p:spPr>
          <a:xfrm>
            <a:off x="4663440" y="1280160"/>
            <a:ext cx="4023360" cy="1188720"/>
          </a:xfrm>
          <a:prstGeom prst="roundRect">
            <a:avLst>
              <a:gd name="adj" fmla="val 6154"/>
            </a:avLst>
          </a:prstGeom>
          <a:solidFill>
            <a:schemeClr val="bg2"/>
          </a:solidFill>
          <a:ln/>
        </p:spPr>
      </p:sp>
      <p:sp>
        <p:nvSpPr>
          <p:cNvPr id="10" name="Module Integritas &amp; Kebijakan AI circle"/>
          <p:cNvSpPr/>
          <p:nvPr/>
        </p:nvSpPr>
        <p:spPr>
          <a:xfrm>
            <a:off x="4892040" y="1554480"/>
            <a:ext cx="640080" cy="640080"/>
          </a:xfrm>
          <a:prstGeom prst="ellipse">
            <a:avLst/>
          </a:prstGeom>
          <a:solidFill>
            <a:schemeClr val="accent2"/>
          </a:solidFill>
          <a:ln/>
        </p:spPr>
      </p:sp>
      <p:pic>
        <p:nvPicPr>
          <p:cNvPr id="11" name="Module Integritas &amp; Kebijakan AI icon" descr="Module Integritas &amp; Kebijakan AI">    </p:cNvPr>
          <p:cNvPicPr>
            <a:picLocks noChangeAspect="1"/>
          </p:cNvPicPr>
          <p:nvPr/>
        </p:nvPicPr>
        <p:blipFill>
          <a:blip r:embed="rId2"/>
          <a:stretch>
            <a:fillRect/>
          </a:stretch>
        </p:blipFill>
        <p:spPr>
          <a:xfrm>
            <a:off x="5052060" y="1714500"/>
            <a:ext cx="320040" cy="320040"/>
          </a:xfrm>
          <a:prstGeom prst="rect">
            <a:avLst/>
          </a:prstGeom>
        </p:spPr>
      </p:pic>
      <p:sp>
        <p:nvSpPr>
          <p:cNvPr id="12" name="Text 8"/>
          <p:cNvSpPr txBox="1"/>
          <p:nvPr/>
        </p:nvSpPr>
        <p:spPr>
          <a:xfrm>
            <a:off x="5715000" y="1463040"/>
            <a:ext cx="2834640" cy="365760"/>
          </a:xfrm>
          <a:prstGeom prst="rect">
            <a:avLst/>
          </a:prstGeom>
          <a:noFill/>
          <a:ln/>
        </p:spPr>
        <p:txBody>
          <a:bodyPr wrap="square" lIns="0" tIns="0" rIns="0" bIns="0" rtlCol="0" anchor="t"/>
          <a:lstStyle/>
          <a:p>
            <a:pPr indent="0" marL="0">
              <a:buNone/>
            </a:pPr>
            <a:r>
              <a:rPr lang="en-US" sz="1600" b="1" dirty="0">
                <a:solidFill>
                  <a:schemeClr val="tx2"/>
                </a:solidFill>
              </a:rPr>
              <a:t>02  Integritas &amp; Kebijakan AI</a:t>
            </a:r>
            <a:endParaRPr lang="en-US" sz="1600" dirty="0"/>
          </a:p>
        </p:txBody>
      </p:sp>
      <p:sp>
        <p:nvSpPr>
          <p:cNvPr id="13" name="Text 9"/>
          <p:cNvSpPr txBox="1"/>
          <p:nvPr/>
        </p:nvSpPr>
        <p:spPr>
          <a:xfrm>
            <a:off x="5715000" y="1847088"/>
            <a:ext cx="2834640" cy="548640"/>
          </a:xfrm>
          <a:prstGeom prst="rect">
            <a:avLst/>
          </a:prstGeom>
          <a:noFill/>
          <a:ln/>
        </p:spPr>
        <p:txBody>
          <a:bodyPr wrap="square" lIns="0" tIns="0" rIns="0" bIns="0" rtlCol="0" anchor="t"/>
          <a:lstStyle/>
          <a:p>
            <a:pPr indent="0" marL="0">
              <a:buNone/>
            </a:pPr>
            <a:r>
              <a:rPr lang="en-US" sz="1400" dirty="0">
                <a:solidFill>
                  <a:schemeClr val="tx1"/>
                </a:solidFill>
              </a:rPr>
              <a:t>Disclosure, plagiarisme, kebijakan penerbit, data responden</a:t>
            </a:r>
            <a:endParaRPr lang="en-US" sz="1400" dirty="0"/>
          </a:p>
        </p:txBody>
      </p:sp>
      <p:sp>
        <p:nvSpPr>
          <p:cNvPr id="14" name="Module card Prompting &amp; Alur Kerja Agen"/>
          <p:cNvSpPr/>
          <p:nvPr/>
        </p:nvSpPr>
        <p:spPr>
          <a:xfrm>
            <a:off x="457200" y="2651760"/>
            <a:ext cx="4023360" cy="1188720"/>
          </a:xfrm>
          <a:prstGeom prst="roundRect">
            <a:avLst>
              <a:gd name="adj" fmla="val 6154"/>
            </a:avLst>
          </a:prstGeom>
          <a:solidFill>
            <a:schemeClr val="bg2"/>
          </a:solidFill>
          <a:ln/>
        </p:spPr>
      </p:sp>
      <p:sp>
        <p:nvSpPr>
          <p:cNvPr id="15" name="Module Prompting &amp; Alur Kerja Agen circle"/>
          <p:cNvSpPr/>
          <p:nvPr/>
        </p:nvSpPr>
        <p:spPr>
          <a:xfrm>
            <a:off x="685800" y="2926080"/>
            <a:ext cx="640080" cy="640080"/>
          </a:xfrm>
          <a:prstGeom prst="ellipse">
            <a:avLst/>
          </a:prstGeom>
          <a:solidFill>
            <a:schemeClr val="accent2"/>
          </a:solidFill>
          <a:ln/>
        </p:spPr>
      </p:sp>
      <p:pic>
        <p:nvPicPr>
          <p:cNvPr id="16" name="Module Prompting &amp; Alur Kerja Agen icon" descr="Module Prompting &amp; Alur Kerja Agen">    </p:cNvPr>
          <p:cNvPicPr>
            <a:picLocks noChangeAspect="1"/>
          </p:cNvPicPr>
          <p:nvPr/>
        </p:nvPicPr>
        <p:blipFill>
          <a:blip r:embed="rId3"/>
          <a:stretch>
            <a:fillRect/>
          </a:stretch>
        </p:blipFill>
        <p:spPr>
          <a:xfrm>
            <a:off x="845820" y="3086100"/>
            <a:ext cx="320040" cy="320040"/>
          </a:xfrm>
          <a:prstGeom prst="rect">
            <a:avLst/>
          </a:prstGeom>
        </p:spPr>
      </p:pic>
      <p:sp>
        <p:nvSpPr>
          <p:cNvPr id="17" name="Text 12"/>
          <p:cNvSpPr txBox="1"/>
          <p:nvPr/>
        </p:nvSpPr>
        <p:spPr>
          <a:xfrm>
            <a:off x="1508760" y="2834640"/>
            <a:ext cx="2834640" cy="365760"/>
          </a:xfrm>
          <a:prstGeom prst="rect">
            <a:avLst/>
          </a:prstGeom>
          <a:noFill/>
          <a:ln/>
        </p:spPr>
        <p:txBody>
          <a:bodyPr wrap="square" lIns="0" tIns="0" rIns="0" bIns="0" rtlCol="0" anchor="t"/>
          <a:lstStyle/>
          <a:p>
            <a:pPr indent="0" marL="0">
              <a:buNone/>
            </a:pPr>
            <a:r>
              <a:rPr lang="en-US" sz="1600" b="1" dirty="0">
                <a:solidFill>
                  <a:schemeClr val="tx2"/>
                </a:solidFill>
              </a:rPr>
              <a:t>03  Prompting &amp; Alur Kerja Agen</a:t>
            </a:r>
            <a:endParaRPr lang="en-US" sz="1600" dirty="0"/>
          </a:p>
        </p:txBody>
      </p:sp>
      <p:sp>
        <p:nvSpPr>
          <p:cNvPr id="18" name="Text 13"/>
          <p:cNvSpPr txBox="1"/>
          <p:nvPr/>
        </p:nvSpPr>
        <p:spPr>
          <a:xfrm>
            <a:off x="1508760" y="3218688"/>
            <a:ext cx="2834640" cy="548640"/>
          </a:xfrm>
          <a:prstGeom prst="rect">
            <a:avLst/>
          </a:prstGeom>
          <a:noFill/>
          <a:ln/>
        </p:spPr>
        <p:txBody>
          <a:bodyPr wrap="square" lIns="0" tIns="0" rIns="0" bIns="0" rtlCol="0" anchor="t"/>
          <a:lstStyle/>
          <a:p>
            <a:pPr indent="0" marL="0">
              <a:buNone/>
            </a:pPr>
            <a:r>
              <a:rPr lang="en-US" sz="1400" dirty="0">
                <a:solidFill>
                  <a:schemeClr val="tx1"/>
                </a:solidFill>
              </a:rPr>
              <a:t>Instruksi bertahap, konteks proyek, perintah yang dapat dipakai ulang</a:t>
            </a:r>
            <a:endParaRPr lang="en-US" sz="1400" dirty="0"/>
          </a:p>
        </p:txBody>
      </p:sp>
      <p:sp>
        <p:nvSpPr>
          <p:cNvPr id="19" name="Module card Setup Claude Code &amp; MCP"/>
          <p:cNvSpPr/>
          <p:nvPr/>
        </p:nvSpPr>
        <p:spPr>
          <a:xfrm>
            <a:off x="4663440" y="2651760"/>
            <a:ext cx="4023360" cy="1188720"/>
          </a:xfrm>
          <a:prstGeom prst="roundRect">
            <a:avLst>
              <a:gd name="adj" fmla="val 6154"/>
            </a:avLst>
          </a:prstGeom>
          <a:solidFill>
            <a:schemeClr val="bg2"/>
          </a:solidFill>
          <a:ln/>
        </p:spPr>
      </p:sp>
      <p:sp>
        <p:nvSpPr>
          <p:cNvPr id="20" name="Module Setup Claude Code &amp; MCP circle"/>
          <p:cNvSpPr/>
          <p:nvPr/>
        </p:nvSpPr>
        <p:spPr>
          <a:xfrm>
            <a:off x="4892040" y="2926080"/>
            <a:ext cx="640080" cy="640080"/>
          </a:xfrm>
          <a:prstGeom prst="ellipse">
            <a:avLst/>
          </a:prstGeom>
          <a:solidFill>
            <a:schemeClr val="accent2"/>
          </a:solidFill>
          <a:ln/>
        </p:spPr>
      </p:sp>
      <p:pic>
        <p:nvPicPr>
          <p:cNvPr id="21" name="Module Setup Claude Code &amp; MCP icon" descr="Module Setup Claude Code &amp; MCP">    </p:cNvPr>
          <p:cNvPicPr>
            <a:picLocks noChangeAspect="1"/>
          </p:cNvPicPr>
          <p:nvPr/>
        </p:nvPicPr>
        <p:blipFill>
          <a:blip r:embed="rId4"/>
          <a:stretch>
            <a:fillRect/>
          </a:stretch>
        </p:blipFill>
        <p:spPr>
          <a:xfrm>
            <a:off x="5052060" y="3086100"/>
            <a:ext cx="320040" cy="320040"/>
          </a:xfrm>
          <a:prstGeom prst="rect">
            <a:avLst/>
          </a:prstGeom>
        </p:spPr>
      </p:pic>
      <p:sp>
        <p:nvSpPr>
          <p:cNvPr id="22" name="Text 16"/>
          <p:cNvSpPr txBox="1"/>
          <p:nvPr/>
        </p:nvSpPr>
        <p:spPr>
          <a:xfrm>
            <a:off x="5715000" y="2834640"/>
            <a:ext cx="2834640" cy="365760"/>
          </a:xfrm>
          <a:prstGeom prst="rect">
            <a:avLst/>
          </a:prstGeom>
          <a:noFill/>
          <a:ln/>
        </p:spPr>
        <p:txBody>
          <a:bodyPr wrap="square" lIns="0" tIns="0" rIns="0" bIns="0" rtlCol="0" anchor="t"/>
          <a:lstStyle/>
          <a:p>
            <a:pPr indent="0" marL="0">
              <a:buNone/>
            </a:pPr>
            <a:r>
              <a:rPr lang="en-US" sz="1600" b="1" dirty="0">
                <a:solidFill>
                  <a:schemeClr val="tx2"/>
                </a:solidFill>
              </a:rPr>
              <a:t>04  Setup Claude Code &amp; MCP</a:t>
            </a:r>
            <a:endParaRPr lang="en-US" sz="1600" dirty="0"/>
          </a:p>
        </p:txBody>
      </p:sp>
      <p:sp>
        <p:nvSpPr>
          <p:cNvPr id="23" name="Text 17"/>
          <p:cNvSpPr txBox="1"/>
          <p:nvPr/>
        </p:nvSpPr>
        <p:spPr>
          <a:xfrm>
            <a:off x="5715000" y="3218688"/>
            <a:ext cx="2834640" cy="548640"/>
          </a:xfrm>
          <a:prstGeom prst="rect">
            <a:avLst/>
          </a:prstGeom>
          <a:noFill/>
          <a:ln/>
        </p:spPr>
        <p:txBody>
          <a:bodyPr wrap="square" lIns="0" tIns="0" rIns="0" bIns="0" rtlCol="0" anchor="t"/>
          <a:lstStyle/>
          <a:p>
            <a:pPr indent="0" marL="0">
              <a:buNone/>
            </a:pPr>
            <a:r>
              <a:rPr lang="en-US" sz="1400" dirty="0">
                <a:solidFill>
                  <a:schemeClr val="tx1"/>
                </a:solidFill>
              </a:rPr>
              <a:t>Instalasi, lalu koneksi ke Zotero, Scite, dan Flourish</a:t>
            </a:r>
            <a:endParaRPr lang="en-US" sz="1400" dirty="0"/>
          </a:p>
        </p:txBody>
      </p:sp>
      <p:sp>
        <p:nvSpPr>
          <p:cNvPr id="24" name="Text 18"/>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500" b="1" dirty="0">
                <a:solidFill>
                  <a:schemeClr val="tx2"/>
                </a:solidFill>
              </a:rPr>
              <a:t>Learning output: </a:t>
            </a:r>
            <a:pPr indent="0" marL="0">
              <a:buNone/>
            </a:pPr>
            <a:r>
              <a:rPr lang="en-US" sz="1500" dirty="0">
                <a:solidFill>
                  <a:schemeClr val="tx1"/>
                </a:solidFill>
              </a:rPr>
              <a:t>peserta memakai AI untuk riset secara efektif, kritis, dan sesuai etika akademik.</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PHASE 2 · ±6 JAM · LIVE + CLINIC</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AI-Assisted Research Clinic</a:t>
            </a:r>
            <a:endParaRPr lang="en-US" sz="3000" dirty="0"/>
          </a:p>
        </p:txBody>
      </p:sp>
      <p:sp>
        <p:nvSpPr>
          <p:cNvPr id="4" name="Step card QUESTION"/>
          <p:cNvSpPr/>
          <p:nvPr/>
        </p:nvSpPr>
        <p:spPr>
          <a:xfrm>
            <a:off x="457200" y="1280160"/>
            <a:ext cx="2624328" cy="1234440"/>
          </a:xfrm>
          <a:prstGeom prst="roundRect">
            <a:avLst>
              <a:gd name="adj" fmla="val 5926"/>
            </a:avLst>
          </a:prstGeom>
          <a:solidFill>
            <a:schemeClr val="bg2"/>
          </a:solidFill>
          <a:ln/>
        </p:spPr>
      </p:sp>
      <p:sp>
        <p:nvSpPr>
          <p:cNvPr id="5" name="Text 3"/>
          <p:cNvSpPr txBox="1"/>
          <p:nvPr/>
        </p:nvSpPr>
        <p:spPr>
          <a:xfrm>
            <a:off x="640080" y="1417320"/>
            <a:ext cx="45720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6" name="Text 4"/>
          <p:cNvSpPr txBox="1"/>
          <p:nvPr/>
        </p:nvSpPr>
        <p:spPr>
          <a:xfrm>
            <a:off x="1143000" y="1481328"/>
            <a:ext cx="1783080" cy="320040"/>
          </a:xfrm>
          <a:prstGeom prst="rect">
            <a:avLst/>
          </a:prstGeom>
          <a:noFill/>
          <a:ln/>
        </p:spPr>
        <p:txBody>
          <a:bodyPr wrap="square" lIns="0" tIns="0" rIns="0" bIns="0" rtlCol="0" anchor="t"/>
          <a:lstStyle/>
          <a:p>
            <a:pPr indent="0" marL="0">
              <a:buNone/>
            </a:pPr>
            <a:r>
              <a:rPr lang="en-US" sz="1600" b="1" dirty="0">
                <a:solidFill>
                  <a:schemeClr val="tx2"/>
                </a:solidFill>
              </a:rPr>
              <a:t>QUESTION</a:t>
            </a:r>
            <a:endParaRPr lang="en-US" sz="1600" dirty="0"/>
          </a:p>
        </p:txBody>
      </p:sp>
      <p:sp>
        <p:nvSpPr>
          <p:cNvPr id="7" name="Text 5"/>
          <p:cNvSpPr txBox="1"/>
          <p:nvPr/>
        </p:nvSpPr>
        <p:spPr>
          <a:xfrm>
            <a:off x="640080" y="1938528"/>
            <a:ext cx="2286000" cy="548640"/>
          </a:xfrm>
          <a:prstGeom prst="rect">
            <a:avLst/>
          </a:prstGeom>
          <a:noFill/>
          <a:ln/>
        </p:spPr>
        <p:txBody>
          <a:bodyPr wrap="square" lIns="0" tIns="0" rIns="0" bIns="0" rtlCol="0" anchor="t"/>
          <a:lstStyle/>
          <a:p>
            <a:pPr indent="0" marL="0">
              <a:buNone/>
            </a:pPr>
            <a:r>
              <a:rPr lang="en-US" sz="1400" dirty="0">
                <a:solidFill>
                  <a:schemeClr val="tx1"/>
                </a:solidFill>
              </a:rPr>
              <a:t>Merumuskan pertanyaan dan celah riset</a:t>
            </a:r>
            <a:endParaRPr lang="en-US" sz="1400" dirty="0"/>
          </a:p>
        </p:txBody>
      </p:sp>
      <p:sp>
        <p:nvSpPr>
          <p:cNvPr id="8" name="Step card LITERATURE"/>
          <p:cNvSpPr/>
          <p:nvPr/>
        </p:nvSpPr>
        <p:spPr>
          <a:xfrm>
            <a:off x="3264408" y="1280160"/>
            <a:ext cx="2624328" cy="1234440"/>
          </a:xfrm>
          <a:prstGeom prst="roundRect">
            <a:avLst>
              <a:gd name="adj" fmla="val 5926"/>
            </a:avLst>
          </a:prstGeom>
          <a:solidFill>
            <a:schemeClr val="bg2"/>
          </a:solidFill>
          <a:ln/>
        </p:spPr>
      </p:sp>
      <p:sp>
        <p:nvSpPr>
          <p:cNvPr id="9" name="Text 7"/>
          <p:cNvSpPr txBox="1"/>
          <p:nvPr/>
        </p:nvSpPr>
        <p:spPr>
          <a:xfrm>
            <a:off x="3447288" y="1417320"/>
            <a:ext cx="45720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10" name="Text 8"/>
          <p:cNvSpPr txBox="1"/>
          <p:nvPr/>
        </p:nvSpPr>
        <p:spPr>
          <a:xfrm>
            <a:off x="3950208" y="1481328"/>
            <a:ext cx="1783080" cy="320040"/>
          </a:xfrm>
          <a:prstGeom prst="rect">
            <a:avLst/>
          </a:prstGeom>
          <a:noFill/>
          <a:ln/>
        </p:spPr>
        <p:txBody>
          <a:bodyPr wrap="square" lIns="0" tIns="0" rIns="0" bIns="0" rtlCol="0" anchor="t"/>
          <a:lstStyle/>
          <a:p>
            <a:pPr indent="0" marL="0">
              <a:buNone/>
            </a:pPr>
            <a:r>
              <a:rPr lang="en-US" sz="1600" b="1" dirty="0">
                <a:solidFill>
                  <a:schemeClr val="tx2"/>
                </a:solidFill>
              </a:rPr>
              <a:t>LITERATURE</a:t>
            </a:r>
            <a:endParaRPr lang="en-US" sz="1600" dirty="0"/>
          </a:p>
        </p:txBody>
      </p:sp>
      <p:sp>
        <p:nvSpPr>
          <p:cNvPr id="11" name="Text 9"/>
          <p:cNvSpPr txBox="1"/>
          <p:nvPr/>
        </p:nvSpPr>
        <p:spPr>
          <a:xfrm>
            <a:off x="3447288" y="1938528"/>
            <a:ext cx="2286000" cy="548640"/>
          </a:xfrm>
          <a:prstGeom prst="rect">
            <a:avLst/>
          </a:prstGeom>
          <a:noFill/>
          <a:ln/>
        </p:spPr>
        <p:txBody>
          <a:bodyPr wrap="square" lIns="0" tIns="0" rIns="0" bIns="0" rtlCol="0" anchor="t"/>
          <a:lstStyle/>
          <a:p>
            <a:pPr indent="0" marL="0">
              <a:buNone/>
            </a:pPr>
            <a:r>
              <a:rPr lang="en-US" sz="1400" dirty="0">
                <a:solidFill>
                  <a:schemeClr val="tx1"/>
                </a:solidFill>
              </a:rPr>
              <a:t>Menelusuri dan memetakan literatur</a:t>
            </a:r>
            <a:endParaRPr lang="en-US" sz="1400" dirty="0"/>
          </a:p>
        </p:txBody>
      </p:sp>
      <p:sp>
        <p:nvSpPr>
          <p:cNvPr id="12" name="Step card METHOD"/>
          <p:cNvSpPr/>
          <p:nvPr/>
        </p:nvSpPr>
        <p:spPr>
          <a:xfrm>
            <a:off x="6071616" y="1280160"/>
            <a:ext cx="2624328" cy="1234440"/>
          </a:xfrm>
          <a:prstGeom prst="roundRect">
            <a:avLst>
              <a:gd name="adj" fmla="val 5926"/>
            </a:avLst>
          </a:prstGeom>
          <a:solidFill>
            <a:schemeClr val="bg2"/>
          </a:solidFill>
          <a:ln/>
        </p:spPr>
      </p:sp>
      <p:sp>
        <p:nvSpPr>
          <p:cNvPr id="13" name="Text 11"/>
          <p:cNvSpPr txBox="1"/>
          <p:nvPr/>
        </p:nvSpPr>
        <p:spPr>
          <a:xfrm>
            <a:off x="6254496" y="1417320"/>
            <a:ext cx="45720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4" name="Text 12"/>
          <p:cNvSpPr txBox="1"/>
          <p:nvPr/>
        </p:nvSpPr>
        <p:spPr>
          <a:xfrm>
            <a:off x="6757416" y="1481328"/>
            <a:ext cx="1783080" cy="320040"/>
          </a:xfrm>
          <a:prstGeom prst="rect">
            <a:avLst/>
          </a:prstGeom>
          <a:noFill/>
          <a:ln/>
        </p:spPr>
        <p:txBody>
          <a:bodyPr wrap="square" lIns="0" tIns="0" rIns="0" bIns="0" rtlCol="0" anchor="t"/>
          <a:lstStyle/>
          <a:p>
            <a:pPr indent="0" marL="0">
              <a:buNone/>
            </a:pPr>
            <a:r>
              <a:rPr lang="en-US" sz="1600" b="1" dirty="0">
                <a:solidFill>
                  <a:schemeClr val="tx2"/>
                </a:solidFill>
              </a:rPr>
              <a:t>METHOD</a:t>
            </a:r>
            <a:endParaRPr lang="en-US" sz="1600" dirty="0"/>
          </a:p>
        </p:txBody>
      </p:sp>
      <p:sp>
        <p:nvSpPr>
          <p:cNvPr id="15" name="Text 13"/>
          <p:cNvSpPr txBox="1"/>
          <p:nvPr/>
        </p:nvSpPr>
        <p:spPr>
          <a:xfrm>
            <a:off x="6254496" y="1938528"/>
            <a:ext cx="2286000" cy="548640"/>
          </a:xfrm>
          <a:prstGeom prst="rect">
            <a:avLst/>
          </a:prstGeom>
          <a:noFill/>
          <a:ln/>
        </p:spPr>
        <p:txBody>
          <a:bodyPr wrap="square" lIns="0" tIns="0" rIns="0" bIns="0" rtlCol="0" anchor="t"/>
          <a:lstStyle/>
          <a:p>
            <a:pPr indent="0" marL="0">
              <a:buNone/>
            </a:pPr>
            <a:r>
              <a:rPr lang="en-US" sz="1400" dirty="0">
                <a:solidFill>
                  <a:schemeClr val="tx1"/>
                </a:solidFill>
              </a:rPr>
              <a:t>Merancang metode dan instrumen</a:t>
            </a:r>
            <a:endParaRPr lang="en-US" sz="1400" dirty="0"/>
          </a:p>
        </p:txBody>
      </p:sp>
      <p:sp>
        <p:nvSpPr>
          <p:cNvPr id="16" name="Step card ANALYZE"/>
          <p:cNvSpPr/>
          <p:nvPr/>
        </p:nvSpPr>
        <p:spPr>
          <a:xfrm>
            <a:off x="457200" y="2697480"/>
            <a:ext cx="2624328" cy="1234440"/>
          </a:xfrm>
          <a:prstGeom prst="roundRect">
            <a:avLst>
              <a:gd name="adj" fmla="val 5926"/>
            </a:avLst>
          </a:prstGeom>
          <a:solidFill>
            <a:schemeClr val="bg2"/>
          </a:solidFill>
          <a:ln/>
        </p:spPr>
      </p:sp>
      <p:sp>
        <p:nvSpPr>
          <p:cNvPr id="17" name="Text 15"/>
          <p:cNvSpPr txBox="1"/>
          <p:nvPr/>
        </p:nvSpPr>
        <p:spPr>
          <a:xfrm>
            <a:off x="640080" y="2834640"/>
            <a:ext cx="45720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18" name="Text 16"/>
          <p:cNvSpPr txBox="1"/>
          <p:nvPr/>
        </p:nvSpPr>
        <p:spPr>
          <a:xfrm>
            <a:off x="1143000" y="2898648"/>
            <a:ext cx="1783080" cy="320040"/>
          </a:xfrm>
          <a:prstGeom prst="rect">
            <a:avLst/>
          </a:prstGeom>
          <a:noFill/>
          <a:ln/>
        </p:spPr>
        <p:txBody>
          <a:bodyPr wrap="square" lIns="0" tIns="0" rIns="0" bIns="0" rtlCol="0" anchor="t"/>
          <a:lstStyle/>
          <a:p>
            <a:pPr indent="0" marL="0">
              <a:buNone/>
            </a:pPr>
            <a:r>
              <a:rPr lang="en-US" sz="1600" b="1" dirty="0">
                <a:solidFill>
                  <a:schemeClr val="tx2"/>
                </a:solidFill>
              </a:rPr>
              <a:t>ANALYZE</a:t>
            </a:r>
            <a:endParaRPr lang="en-US" sz="1600" dirty="0"/>
          </a:p>
        </p:txBody>
      </p:sp>
      <p:sp>
        <p:nvSpPr>
          <p:cNvPr id="19" name="Text 17"/>
          <p:cNvSpPr txBox="1"/>
          <p:nvPr/>
        </p:nvSpPr>
        <p:spPr>
          <a:xfrm>
            <a:off x="640080" y="3355848"/>
            <a:ext cx="2286000" cy="548640"/>
          </a:xfrm>
          <a:prstGeom prst="rect">
            <a:avLst/>
          </a:prstGeom>
          <a:noFill/>
          <a:ln/>
        </p:spPr>
        <p:txBody>
          <a:bodyPr wrap="square" lIns="0" tIns="0" rIns="0" bIns="0" rtlCol="0" anchor="t"/>
          <a:lstStyle/>
          <a:p>
            <a:pPr indent="0" marL="0">
              <a:buNone/>
            </a:pPr>
            <a:r>
              <a:rPr lang="en-US" sz="1400" dirty="0">
                <a:solidFill>
                  <a:schemeClr val="tx1"/>
                </a:solidFill>
              </a:rPr>
              <a:t>Mengolah data kuantitatif dan kualitatif</a:t>
            </a:r>
            <a:endParaRPr lang="en-US" sz="1400" dirty="0"/>
          </a:p>
        </p:txBody>
      </p:sp>
      <p:sp>
        <p:nvSpPr>
          <p:cNvPr id="20" name="Step card VERIFY"/>
          <p:cNvSpPr/>
          <p:nvPr/>
        </p:nvSpPr>
        <p:spPr>
          <a:xfrm>
            <a:off x="3264408" y="2697480"/>
            <a:ext cx="2624328" cy="1234440"/>
          </a:xfrm>
          <a:prstGeom prst="roundRect">
            <a:avLst>
              <a:gd name="adj" fmla="val 5926"/>
            </a:avLst>
          </a:prstGeom>
          <a:solidFill>
            <a:schemeClr val="tx2"/>
          </a:solidFill>
          <a:ln/>
        </p:spPr>
      </p:sp>
      <p:sp>
        <p:nvSpPr>
          <p:cNvPr id="21" name="Text 19"/>
          <p:cNvSpPr txBox="1"/>
          <p:nvPr/>
        </p:nvSpPr>
        <p:spPr>
          <a:xfrm>
            <a:off x="3447288" y="2834640"/>
            <a:ext cx="45720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5</a:t>
            </a:r>
            <a:endParaRPr lang="en-US" sz="2800" dirty="0"/>
          </a:p>
        </p:txBody>
      </p:sp>
      <p:sp>
        <p:nvSpPr>
          <p:cNvPr id="22" name="Text 20"/>
          <p:cNvSpPr txBox="1"/>
          <p:nvPr/>
        </p:nvSpPr>
        <p:spPr>
          <a:xfrm>
            <a:off x="3950208" y="2898648"/>
            <a:ext cx="1783080" cy="320040"/>
          </a:xfrm>
          <a:prstGeom prst="rect">
            <a:avLst/>
          </a:prstGeom>
          <a:noFill/>
          <a:ln/>
        </p:spPr>
        <p:txBody>
          <a:bodyPr wrap="square" lIns="0" tIns="0" rIns="0" bIns="0" rtlCol="0" anchor="t"/>
          <a:lstStyle/>
          <a:p>
            <a:pPr indent="0" marL="0">
              <a:buNone/>
            </a:pPr>
            <a:r>
              <a:rPr lang="en-US" sz="1600" b="1" dirty="0">
                <a:solidFill>
                  <a:schemeClr val="bg1"/>
                </a:solidFill>
              </a:rPr>
              <a:t>VERIFY</a:t>
            </a:r>
            <a:endParaRPr lang="en-US" sz="1600" dirty="0"/>
          </a:p>
        </p:txBody>
      </p:sp>
      <p:sp>
        <p:nvSpPr>
          <p:cNvPr id="23" name="Text 21"/>
          <p:cNvSpPr txBox="1"/>
          <p:nvPr/>
        </p:nvSpPr>
        <p:spPr>
          <a:xfrm>
            <a:off x="3447288" y="3355848"/>
            <a:ext cx="2286000" cy="548640"/>
          </a:xfrm>
          <a:prstGeom prst="rect">
            <a:avLst/>
          </a:prstGeom>
          <a:noFill/>
          <a:ln/>
        </p:spPr>
        <p:txBody>
          <a:bodyPr wrap="square" lIns="0" tIns="0" rIns="0" bIns="0" rtlCol="0" anchor="t"/>
          <a:lstStyle/>
          <a:p>
            <a:pPr indent="0" marL="0">
              <a:buNone/>
            </a:pPr>
            <a:r>
              <a:rPr lang="en-US" sz="1400" dirty="0">
                <a:solidFill>
                  <a:schemeClr val="bg2"/>
                </a:solidFill>
              </a:rPr>
              <a:t>Memeriksa sumber, hasil, dan bias</a:t>
            </a:r>
            <a:endParaRPr lang="en-US" sz="1400" dirty="0"/>
          </a:p>
        </p:txBody>
      </p:sp>
      <p:sp>
        <p:nvSpPr>
          <p:cNvPr id="24" name="Step card WRITE"/>
          <p:cNvSpPr/>
          <p:nvPr/>
        </p:nvSpPr>
        <p:spPr>
          <a:xfrm>
            <a:off x="6071616" y="2697480"/>
            <a:ext cx="2624328" cy="1234440"/>
          </a:xfrm>
          <a:prstGeom prst="roundRect">
            <a:avLst>
              <a:gd name="adj" fmla="val 5926"/>
            </a:avLst>
          </a:prstGeom>
          <a:solidFill>
            <a:schemeClr val="bg2"/>
          </a:solidFill>
          <a:ln/>
        </p:spPr>
      </p:sp>
      <p:sp>
        <p:nvSpPr>
          <p:cNvPr id="25" name="Text 23"/>
          <p:cNvSpPr txBox="1"/>
          <p:nvPr/>
        </p:nvSpPr>
        <p:spPr>
          <a:xfrm>
            <a:off x="6254496" y="2834640"/>
            <a:ext cx="457200" cy="50292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6</a:t>
            </a:r>
            <a:endParaRPr lang="en-US" sz="2800" dirty="0"/>
          </a:p>
        </p:txBody>
      </p:sp>
      <p:sp>
        <p:nvSpPr>
          <p:cNvPr id="26" name="Text 24"/>
          <p:cNvSpPr txBox="1"/>
          <p:nvPr/>
        </p:nvSpPr>
        <p:spPr>
          <a:xfrm>
            <a:off x="6757416" y="2898648"/>
            <a:ext cx="1783080" cy="320040"/>
          </a:xfrm>
          <a:prstGeom prst="rect">
            <a:avLst/>
          </a:prstGeom>
          <a:noFill/>
          <a:ln/>
        </p:spPr>
        <p:txBody>
          <a:bodyPr wrap="square" lIns="0" tIns="0" rIns="0" bIns="0" rtlCol="0" anchor="t"/>
          <a:lstStyle/>
          <a:p>
            <a:pPr indent="0" marL="0">
              <a:buNone/>
            </a:pPr>
            <a:r>
              <a:rPr lang="en-US" sz="1600" b="1" dirty="0">
                <a:solidFill>
                  <a:schemeClr val="tx2"/>
                </a:solidFill>
              </a:rPr>
              <a:t>WRITE</a:t>
            </a:r>
            <a:endParaRPr lang="en-US" sz="1600" dirty="0"/>
          </a:p>
        </p:txBody>
      </p:sp>
      <p:sp>
        <p:nvSpPr>
          <p:cNvPr id="27" name="Text 25"/>
          <p:cNvSpPr txBox="1"/>
          <p:nvPr/>
        </p:nvSpPr>
        <p:spPr>
          <a:xfrm>
            <a:off x="6254496" y="3355848"/>
            <a:ext cx="2286000" cy="548640"/>
          </a:xfrm>
          <a:prstGeom prst="rect">
            <a:avLst/>
          </a:prstGeom>
          <a:noFill/>
          <a:ln/>
        </p:spPr>
        <p:txBody>
          <a:bodyPr wrap="square" lIns="0" tIns="0" rIns="0" bIns="0" rtlCol="0" anchor="t"/>
          <a:lstStyle/>
          <a:p>
            <a:pPr indent="0" marL="0">
              <a:buNone/>
            </a:pPr>
            <a:r>
              <a:rPr lang="en-US" sz="1400" dirty="0">
                <a:solidFill>
                  <a:schemeClr val="tx1"/>
                </a:solidFill>
              </a:rPr>
              <a:t>Menyusun draf dan pernyataan penggunaan AI</a:t>
            </a:r>
            <a:endParaRPr lang="en-US" sz="1400" dirty="0"/>
          </a:p>
        </p:txBody>
      </p:sp>
      <p:sp>
        <p:nvSpPr>
          <p:cNvPr id="28" name="Text 26"/>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500" b="1" dirty="0">
                <a:solidFill>
                  <a:schemeClr val="tx2"/>
                </a:solidFill>
              </a:rPr>
              <a:t>Output: </a:t>
            </a:r>
            <a:pPr indent="0" marL="0">
              <a:buNone/>
            </a:pPr>
            <a:r>
              <a:rPr lang="en-US" sz="1500" dirty="0">
                <a:solidFill>
                  <a:schemeClr val="tx1"/>
                </a:solidFill>
              </a:rPr>
              <a:t>setiap peserta memajukan satu proyek riset nyata dengan bantuan AI yang terdokumentasi dan terverifikasi.</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PHASE 2 · TOOLKIT</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Tools per Tahap Riset dan Apa yang Diverifikasi</a:t>
            </a:r>
            <a:endParaRPr lang="en-US" sz="3000" dirty="0"/>
          </a:p>
        </p:txBody>
      </p:sp>
      <p:graphicFrame>
        <p:nvGraphicFramePr>
          <p:cNvPr id="19" name="Tools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200400"/>
                <a:gridCol w="3291840"/>
              </a:tblGrid>
              <a:tr h="457200">
                <a:tc>
                  <a:txBody>
                    <a:bodyPr/>
                    <a:lstStyle/>
                    <a:p>
                      <a:pPr indent="0" marL="0">
                        <a:buNone/>
                      </a:pPr>
                      <a:r>
                        <a:rPr lang="en-US" sz="1400" b="1" dirty="0">
                          <a:solidFill>
                            <a:schemeClr val="bg1"/>
                          </a:solidFill>
                        </a:rPr>
                        <a:t>Tahap</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Contoh tools</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Wajib diverifikasi</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Literatur</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Scite via MCP, Undermind, Semantic Scholar</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Sumber ada; konteks sitasi mendukung atau membantah</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rPr>
                        <a:t>Pustaka &amp; sitasi</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Zotero via MCP</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Metadata lengkap dan format sitasi benar</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rPr>
                        <a:t>Analisis data</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Claude Code menjalankan Python/R</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Kode dibaca ulang, hasil direproduksi</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rPr>
                        <a:t>Visualisasi</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Flourish via MCP</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Angka di grafik sesuai data sumber</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rPr>
                        <a:t>Penulisan</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Claude Code + Markdown/Quarto</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Orisinalitas, sitasi dari Zotero, disclosure</a:t>
                      </a:r>
                      <a:endParaRPr lang="en-US" sz="1400" dirty="0"/>
                    </a:p>
                  </a:txBody>
                  <a:tcPr marL="73152" marR="73152" marT="73152" marB="73152"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200" dirty="0">
                <a:solidFill>
                  <a:schemeClr val="accent6"/>
                </a:solidFill>
              </a:rPr>
              <a:t>Tools dapat disesuaikan dengan langganan dan lisensi yang dimiliki UT.</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CASE EXAMPLE</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Tinjauan Pustaka Sistematis dengan AI</a:t>
            </a:r>
            <a:endParaRPr lang="en-US" sz="3000" dirty="0"/>
          </a:p>
        </p:txBody>
      </p:sp>
      <p:sp>
        <p:nvSpPr>
          <p:cNvPr id="4" name="Case problem panel"/>
          <p:cNvSpPr/>
          <p:nvPr/>
        </p:nvSpPr>
        <p:spPr>
          <a:xfrm>
            <a:off x="457200" y="1280160"/>
            <a:ext cx="2834640" cy="3200400"/>
          </a:xfrm>
          <a:prstGeom prst="roundRect">
            <a:avLst>
              <a:gd name="adj" fmla="val 2581"/>
            </a:avLst>
          </a:prstGeom>
          <a:solidFill>
            <a:schemeClr val="tx2"/>
          </a:solidFill>
          <a:ln/>
        </p:spPr>
      </p:sp>
      <p:sp>
        <p:nvSpPr>
          <p:cNvPr id="5" name="Text 3"/>
          <p:cNvSpPr txBox="1"/>
          <p:nvPr/>
        </p:nvSpPr>
        <p:spPr>
          <a:xfrm>
            <a:off x="685800" y="146304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PROBLEM</a:t>
            </a:r>
            <a:endParaRPr lang="en-US" sz="1200" dirty="0"/>
          </a:p>
        </p:txBody>
      </p:sp>
      <p:sp>
        <p:nvSpPr>
          <p:cNvPr id="6" name="Text 4"/>
          <p:cNvSpPr txBox="1"/>
          <p:nvPr/>
        </p:nvSpPr>
        <p:spPr>
          <a:xfrm>
            <a:off x="685800" y="1783080"/>
            <a:ext cx="2377440" cy="1463040"/>
          </a:xfrm>
          <a:prstGeom prst="rect">
            <a:avLst/>
          </a:prstGeom>
          <a:noFill/>
          <a:ln/>
        </p:spPr>
        <p:txBody>
          <a:bodyPr wrap="square" lIns="0" tIns="0" rIns="0" bIns="0" rtlCol="0" anchor="t"/>
          <a:lstStyle/>
          <a:p>
            <a:pPr indent="0" marL="0">
              <a:buNone/>
            </a:pPr>
            <a:r>
              <a:rPr lang="en-US" sz="1600" dirty="0">
                <a:solidFill>
                  <a:schemeClr val="bg1"/>
                </a:solidFill>
              </a:rPr>
              <a:t>Seorang dosen ingin memetakan riset tentang pembelajaran jarak jauh di Indonesia periode 2020–2025.</a:t>
            </a:r>
            <a:endParaRPr lang="en-US" sz="1600" dirty="0"/>
          </a:p>
        </p:txBody>
      </p:sp>
      <p:sp>
        <p:nvSpPr>
          <p:cNvPr id="7" name="Text 5"/>
          <p:cNvSpPr txBox="1"/>
          <p:nvPr/>
        </p:nvSpPr>
        <p:spPr>
          <a:xfrm>
            <a:off x="685800" y="3383280"/>
            <a:ext cx="2377440" cy="914400"/>
          </a:xfrm>
          <a:prstGeom prst="rect">
            <a:avLst/>
          </a:prstGeom>
          <a:noFill/>
          <a:ln/>
        </p:spPr>
        <p:txBody>
          <a:bodyPr wrap="square" lIns="0" tIns="0" rIns="0" bIns="0" rtlCol="0" anchor="t"/>
          <a:lstStyle/>
          <a:p>
            <a:pPr indent="0" marL="0">
              <a:buNone/>
            </a:pPr>
            <a:r>
              <a:rPr lang="en-US" sz="1400" dirty="0">
                <a:solidFill>
                  <a:schemeClr val="bg2"/>
                </a:solidFill>
              </a:rPr>
              <a:t>Output: draf tinjauan pustaka dengan diagram PRISMA dan pernyataan penggunaan AI</a:t>
            </a:r>
            <a:endParaRPr lang="en-US" sz="1400" dirty="0"/>
          </a:p>
        </p:txBody>
      </p:sp>
      <p:sp>
        <p:nvSpPr>
          <p:cNvPr id="8" name="Case step dot 1"/>
          <p:cNvSpPr/>
          <p:nvPr/>
        </p:nvSpPr>
        <p:spPr>
          <a:xfrm>
            <a:off x="3520440" y="1325880"/>
            <a:ext cx="457200" cy="457200"/>
          </a:xfrm>
          <a:prstGeom prst="ellipse">
            <a:avLst/>
          </a:prstGeom>
          <a:solidFill>
            <a:schemeClr val="accent2"/>
          </a:solidFill>
          <a:ln/>
        </p:spPr>
      </p:sp>
      <p:sp>
        <p:nvSpPr>
          <p:cNvPr id="9" name="Text 7"/>
          <p:cNvSpPr txBox="1"/>
          <p:nvPr/>
        </p:nvSpPr>
        <p:spPr>
          <a:xfrm>
            <a:off x="35204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8"/>
          <p:cNvSpPr txBox="1"/>
          <p:nvPr/>
        </p:nvSpPr>
        <p:spPr>
          <a:xfrm>
            <a:off x="4114800" y="1325880"/>
            <a:ext cx="1828800" cy="274320"/>
          </a:xfrm>
          <a:prstGeom prst="rect">
            <a:avLst/>
          </a:prstGeom>
          <a:noFill/>
          <a:ln/>
        </p:spPr>
        <p:txBody>
          <a:bodyPr wrap="square" lIns="0" tIns="0" rIns="0" bIns="0" rtlCol="0" anchor="t"/>
          <a:lstStyle/>
          <a:p>
            <a:pPr indent="0" marL="0">
              <a:buNone/>
            </a:pPr>
            <a:r>
              <a:rPr lang="en-US" sz="1500" b="1" dirty="0">
                <a:solidFill>
                  <a:schemeClr val="tx2"/>
                </a:solidFill>
              </a:rPr>
              <a:t>TELUSURI</a:t>
            </a:r>
            <a:endParaRPr lang="en-US" sz="1500" dirty="0"/>
          </a:p>
        </p:txBody>
      </p:sp>
      <p:sp>
        <p:nvSpPr>
          <p:cNvPr id="11" name="Text 9"/>
          <p:cNvSpPr txBox="1"/>
          <p:nvPr/>
        </p:nvSpPr>
        <p:spPr>
          <a:xfrm>
            <a:off x="4114800" y="1627632"/>
            <a:ext cx="1828800" cy="685800"/>
          </a:xfrm>
          <a:prstGeom prst="rect">
            <a:avLst/>
          </a:prstGeom>
          <a:noFill/>
          <a:ln/>
        </p:spPr>
        <p:txBody>
          <a:bodyPr wrap="square" lIns="0" tIns="0" rIns="0" bIns="0" rtlCol="0" anchor="t"/>
          <a:lstStyle/>
          <a:p>
            <a:pPr indent="0" marL="0">
              <a:buNone/>
            </a:pPr>
            <a:r>
              <a:rPr lang="en-US" sz="1400" dirty="0">
                <a:solidFill>
                  <a:schemeClr val="tx1"/>
                </a:solidFill>
              </a:rPr>
              <a:t>Claude Code mencari via Scite, ditambah Garuda</a:t>
            </a:r>
            <a:endParaRPr lang="en-US" sz="1400" dirty="0"/>
          </a:p>
        </p:txBody>
      </p:sp>
      <p:sp>
        <p:nvSpPr>
          <p:cNvPr id="12" name="Case step dot 2"/>
          <p:cNvSpPr/>
          <p:nvPr/>
        </p:nvSpPr>
        <p:spPr>
          <a:xfrm>
            <a:off x="6126480" y="1325880"/>
            <a:ext cx="457200" cy="457200"/>
          </a:xfrm>
          <a:prstGeom prst="ellipse">
            <a:avLst/>
          </a:prstGeom>
          <a:solidFill>
            <a:schemeClr val="accent2"/>
          </a:solidFill>
          <a:ln/>
        </p:spPr>
      </p:sp>
      <p:sp>
        <p:nvSpPr>
          <p:cNvPr id="13" name="Text 11"/>
          <p:cNvSpPr txBox="1"/>
          <p:nvPr/>
        </p:nvSpPr>
        <p:spPr>
          <a:xfrm>
            <a:off x="612648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6720840" y="1325880"/>
            <a:ext cx="1828800" cy="274320"/>
          </a:xfrm>
          <a:prstGeom prst="rect">
            <a:avLst/>
          </a:prstGeom>
          <a:noFill/>
          <a:ln/>
        </p:spPr>
        <p:txBody>
          <a:bodyPr wrap="square" lIns="0" tIns="0" rIns="0" bIns="0" rtlCol="0" anchor="t"/>
          <a:lstStyle/>
          <a:p>
            <a:pPr indent="0" marL="0">
              <a:buNone/>
            </a:pPr>
            <a:r>
              <a:rPr lang="en-US" sz="1500" b="1" dirty="0">
                <a:solidFill>
                  <a:schemeClr val="tx2"/>
                </a:solidFill>
              </a:rPr>
              <a:t>SIMPAN</a:t>
            </a:r>
            <a:endParaRPr lang="en-US" sz="1500" dirty="0"/>
          </a:p>
        </p:txBody>
      </p:sp>
      <p:sp>
        <p:nvSpPr>
          <p:cNvPr id="15" name="Text 13"/>
          <p:cNvSpPr txBox="1"/>
          <p:nvPr/>
        </p:nvSpPr>
        <p:spPr>
          <a:xfrm>
            <a:off x="6720840" y="1627632"/>
            <a:ext cx="1828800" cy="685800"/>
          </a:xfrm>
          <a:prstGeom prst="rect">
            <a:avLst/>
          </a:prstGeom>
          <a:noFill/>
          <a:ln/>
        </p:spPr>
        <p:txBody>
          <a:bodyPr wrap="square" lIns="0" tIns="0" rIns="0" bIns="0" rtlCol="0" anchor="t"/>
          <a:lstStyle/>
          <a:p>
            <a:pPr indent="0" marL="0">
              <a:buNone/>
            </a:pPr>
            <a:r>
              <a:rPr lang="en-US" sz="1400" dirty="0">
                <a:solidFill>
                  <a:schemeClr val="tx1"/>
                </a:solidFill>
              </a:rPr>
              <a:t>Artikel terpilih masuk koleksi Zotero</a:t>
            </a:r>
            <a:endParaRPr lang="en-US" sz="1400" dirty="0"/>
          </a:p>
        </p:txBody>
      </p:sp>
      <p:sp>
        <p:nvSpPr>
          <p:cNvPr id="16" name="Case step dot 3"/>
          <p:cNvSpPr/>
          <p:nvPr/>
        </p:nvSpPr>
        <p:spPr>
          <a:xfrm>
            <a:off x="3520440" y="2423160"/>
            <a:ext cx="457200" cy="457200"/>
          </a:xfrm>
          <a:prstGeom prst="ellipse">
            <a:avLst/>
          </a:prstGeom>
          <a:solidFill>
            <a:schemeClr val="accent2"/>
          </a:solidFill>
          <a:ln/>
        </p:spPr>
      </p:sp>
      <p:sp>
        <p:nvSpPr>
          <p:cNvPr id="17" name="Text 15"/>
          <p:cNvSpPr txBox="1"/>
          <p:nvPr/>
        </p:nvSpPr>
        <p:spPr>
          <a:xfrm>
            <a:off x="3520440" y="2423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4114800" y="2423160"/>
            <a:ext cx="1828800" cy="274320"/>
          </a:xfrm>
          <a:prstGeom prst="rect">
            <a:avLst/>
          </a:prstGeom>
          <a:noFill/>
          <a:ln/>
        </p:spPr>
        <p:txBody>
          <a:bodyPr wrap="square" lIns="0" tIns="0" rIns="0" bIns="0" rtlCol="0" anchor="t"/>
          <a:lstStyle/>
          <a:p>
            <a:pPr indent="0" marL="0">
              <a:buNone/>
            </a:pPr>
            <a:r>
              <a:rPr lang="en-US" sz="1500" b="1" dirty="0">
                <a:solidFill>
                  <a:schemeClr val="tx2"/>
                </a:solidFill>
              </a:rPr>
              <a:t>SARING</a:t>
            </a:r>
            <a:endParaRPr lang="en-US" sz="1500" dirty="0"/>
          </a:p>
        </p:txBody>
      </p:sp>
      <p:sp>
        <p:nvSpPr>
          <p:cNvPr id="19" name="Text 17"/>
          <p:cNvSpPr txBox="1"/>
          <p:nvPr/>
        </p:nvSpPr>
        <p:spPr>
          <a:xfrm>
            <a:off x="4114800" y="2724912"/>
            <a:ext cx="1828800" cy="685800"/>
          </a:xfrm>
          <a:prstGeom prst="rect">
            <a:avLst/>
          </a:prstGeom>
          <a:noFill/>
          <a:ln/>
        </p:spPr>
        <p:txBody>
          <a:bodyPr wrap="square" lIns="0" tIns="0" rIns="0" bIns="0" rtlCol="0" anchor="t"/>
          <a:lstStyle/>
          <a:p>
            <a:pPr indent="0" marL="0">
              <a:buNone/>
            </a:pPr>
            <a:r>
              <a:rPr lang="en-US" sz="1400" dirty="0">
                <a:solidFill>
                  <a:schemeClr val="tx1"/>
                </a:solidFill>
              </a:rPr>
              <a:t>AI membantu screening; peneliti memutuskan</a:t>
            </a:r>
            <a:endParaRPr lang="en-US" sz="1400" dirty="0"/>
          </a:p>
        </p:txBody>
      </p:sp>
      <p:sp>
        <p:nvSpPr>
          <p:cNvPr id="20" name="Case step dot 4"/>
          <p:cNvSpPr/>
          <p:nvPr/>
        </p:nvSpPr>
        <p:spPr>
          <a:xfrm>
            <a:off x="6126480" y="2423160"/>
            <a:ext cx="457200" cy="457200"/>
          </a:xfrm>
          <a:prstGeom prst="ellipse">
            <a:avLst/>
          </a:prstGeom>
          <a:solidFill>
            <a:schemeClr val="accent2"/>
          </a:solidFill>
          <a:ln/>
        </p:spPr>
      </p:sp>
      <p:sp>
        <p:nvSpPr>
          <p:cNvPr id="21" name="Text 19"/>
          <p:cNvSpPr txBox="1"/>
          <p:nvPr/>
        </p:nvSpPr>
        <p:spPr>
          <a:xfrm>
            <a:off x="6126480" y="2423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6720840" y="2423160"/>
            <a:ext cx="1828800" cy="274320"/>
          </a:xfrm>
          <a:prstGeom prst="rect">
            <a:avLst/>
          </a:prstGeom>
          <a:noFill/>
          <a:ln/>
        </p:spPr>
        <p:txBody>
          <a:bodyPr wrap="square" lIns="0" tIns="0" rIns="0" bIns="0" rtlCol="0" anchor="t"/>
          <a:lstStyle/>
          <a:p>
            <a:pPr indent="0" marL="0">
              <a:buNone/>
            </a:pPr>
            <a:r>
              <a:rPr lang="en-US" sz="1500" b="1" dirty="0">
                <a:solidFill>
                  <a:schemeClr val="tx2"/>
                </a:solidFill>
              </a:rPr>
              <a:t>EKSTRAKSI</a:t>
            </a:r>
            <a:endParaRPr lang="en-US" sz="1500" dirty="0"/>
          </a:p>
        </p:txBody>
      </p:sp>
      <p:sp>
        <p:nvSpPr>
          <p:cNvPr id="23" name="Text 21"/>
          <p:cNvSpPr txBox="1"/>
          <p:nvPr/>
        </p:nvSpPr>
        <p:spPr>
          <a:xfrm>
            <a:off x="6720840" y="2724912"/>
            <a:ext cx="1828800" cy="685800"/>
          </a:xfrm>
          <a:prstGeom prst="rect">
            <a:avLst/>
          </a:prstGeom>
          <a:noFill/>
          <a:ln/>
        </p:spPr>
        <p:txBody>
          <a:bodyPr wrap="square" lIns="0" tIns="0" rIns="0" bIns="0" rtlCol="0" anchor="t"/>
          <a:lstStyle/>
          <a:p>
            <a:pPr indent="0" marL="0">
              <a:buNone/>
            </a:pPr>
            <a:r>
              <a:rPr lang="en-US" sz="1400" dirty="0">
                <a:solidFill>
                  <a:schemeClr val="tx1"/>
                </a:solidFill>
              </a:rPr>
              <a:t>Claude Code menyusun tabel temuan</a:t>
            </a:r>
            <a:endParaRPr lang="en-US" sz="1400" dirty="0"/>
          </a:p>
        </p:txBody>
      </p:sp>
      <p:sp>
        <p:nvSpPr>
          <p:cNvPr id="24" name="Case step dot 5"/>
          <p:cNvSpPr/>
          <p:nvPr/>
        </p:nvSpPr>
        <p:spPr>
          <a:xfrm>
            <a:off x="3520440" y="3520440"/>
            <a:ext cx="457200" cy="457200"/>
          </a:xfrm>
          <a:prstGeom prst="ellipse">
            <a:avLst/>
          </a:prstGeom>
          <a:solidFill>
            <a:schemeClr val="accent2"/>
          </a:solidFill>
          <a:ln/>
        </p:spPr>
      </p:sp>
      <p:sp>
        <p:nvSpPr>
          <p:cNvPr id="25" name="Text 23"/>
          <p:cNvSpPr txBox="1"/>
          <p:nvPr/>
        </p:nvSpPr>
        <p:spPr>
          <a:xfrm>
            <a:off x="352044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4114800" y="3520440"/>
            <a:ext cx="1828800" cy="274320"/>
          </a:xfrm>
          <a:prstGeom prst="rect">
            <a:avLst/>
          </a:prstGeom>
          <a:noFill/>
          <a:ln/>
        </p:spPr>
        <p:txBody>
          <a:bodyPr wrap="square" lIns="0" tIns="0" rIns="0" bIns="0" rtlCol="0" anchor="t"/>
          <a:lstStyle/>
          <a:p>
            <a:pPr indent="0" marL="0">
              <a:buNone/>
            </a:pPr>
            <a:r>
              <a:rPr lang="en-US" sz="1500" b="1" dirty="0">
                <a:solidFill>
                  <a:schemeClr val="tx2"/>
                </a:solidFill>
              </a:rPr>
              <a:t>VISUALISASI</a:t>
            </a:r>
            <a:endParaRPr lang="en-US" sz="1500" dirty="0"/>
          </a:p>
        </p:txBody>
      </p:sp>
      <p:sp>
        <p:nvSpPr>
          <p:cNvPr id="27" name="Text 25"/>
          <p:cNvSpPr txBox="1"/>
          <p:nvPr/>
        </p:nvSpPr>
        <p:spPr>
          <a:xfrm>
            <a:off x="4114800" y="3822192"/>
            <a:ext cx="1828800" cy="685800"/>
          </a:xfrm>
          <a:prstGeom prst="rect">
            <a:avLst/>
          </a:prstGeom>
          <a:noFill/>
          <a:ln/>
        </p:spPr>
        <p:txBody>
          <a:bodyPr wrap="square" lIns="0" tIns="0" rIns="0" bIns="0" rtlCol="0" anchor="t"/>
          <a:lstStyle/>
          <a:p>
            <a:pPr indent="0" marL="0">
              <a:buNone/>
            </a:pPr>
            <a:r>
              <a:rPr lang="en-US" sz="1400" dirty="0">
                <a:solidFill>
                  <a:schemeClr val="tx1"/>
                </a:solidFill>
              </a:rPr>
              <a:t>Tren dan peta temuan dibuat di Flourish</a:t>
            </a:r>
            <a:endParaRPr lang="en-US" sz="1400" dirty="0"/>
          </a:p>
        </p:txBody>
      </p:sp>
      <p:sp>
        <p:nvSpPr>
          <p:cNvPr id="28" name="Case step dot 6"/>
          <p:cNvSpPr/>
          <p:nvPr/>
        </p:nvSpPr>
        <p:spPr>
          <a:xfrm>
            <a:off x="6126480" y="3520440"/>
            <a:ext cx="457200" cy="457200"/>
          </a:xfrm>
          <a:prstGeom prst="ellipse">
            <a:avLst/>
          </a:prstGeom>
          <a:solidFill>
            <a:schemeClr val="accent2"/>
          </a:solidFill>
          <a:ln/>
        </p:spPr>
      </p:sp>
      <p:sp>
        <p:nvSpPr>
          <p:cNvPr id="29" name="Text 27"/>
          <p:cNvSpPr txBox="1"/>
          <p:nvPr/>
        </p:nvSpPr>
        <p:spPr>
          <a:xfrm>
            <a:off x="612648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0" name="Text 28"/>
          <p:cNvSpPr txBox="1"/>
          <p:nvPr/>
        </p:nvSpPr>
        <p:spPr>
          <a:xfrm>
            <a:off x="6720840" y="3520440"/>
            <a:ext cx="1828800" cy="274320"/>
          </a:xfrm>
          <a:prstGeom prst="rect">
            <a:avLst/>
          </a:prstGeom>
          <a:noFill/>
          <a:ln/>
        </p:spPr>
        <p:txBody>
          <a:bodyPr wrap="square" lIns="0" tIns="0" rIns="0" bIns="0" rtlCol="0" anchor="t"/>
          <a:lstStyle/>
          <a:p>
            <a:pPr indent="0" marL="0">
              <a:buNone/>
            </a:pPr>
            <a:r>
              <a:rPr lang="en-US" sz="1500" b="1" dirty="0">
                <a:solidFill>
                  <a:schemeClr val="tx2"/>
                </a:solidFill>
              </a:rPr>
              <a:t>SINTESIS</a:t>
            </a:r>
            <a:endParaRPr lang="en-US" sz="1500" dirty="0"/>
          </a:p>
        </p:txBody>
      </p:sp>
      <p:sp>
        <p:nvSpPr>
          <p:cNvPr id="31" name="Text 29"/>
          <p:cNvSpPr txBox="1"/>
          <p:nvPr/>
        </p:nvSpPr>
        <p:spPr>
          <a:xfrm>
            <a:off x="6720840" y="3822192"/>
            <a:ext cx="1828800" cy="685800"/>
          </a:xfrm>
          <a:prstGeom prst="rect">
            <a:avLst/>
          </a:prstGeom>
          <a:noFill/>
          <a:ln/>
        </p:spPr>
        <p:txBody>
          <a:bodyPr wrap="square" lIns="0" tIns="0" rIns="0" bIns="0" rtlCol="0" anchor="t"/>
          <a:lstStyle/>
          <a:p>
            <a:pPr indent="0" marL="0">
              <a:buNone/>
            </a:pPr>
            <a:r>
              <a:rPr lang="en-US" sz="1400" dirty="0">
                <a:solidFill>
                  <a:schemeClr val="tx1"/>
                </a:solidFill>
              </a:rPr>
              <a:t>Draf bersitasi Zotero, PRISMA, disclosure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PHASE 3 · ±2 JAM · ASYNC + KONSULTASI</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Research Output &amp; Integrity</a:t>
            </a:r>
            <a:endParaRPr lang="en-US" sz="3000" dirty="0"/>
          </a:p>
        </p:txBody>
      </p:sp>
      <p:sp>
        <p:nvSpPr>
          <p:cNvPr id="4" name="Output card Research Output"/>
          <p:cNvSpPr/>
          <p:nvPr/>
        </p:nvSpPr>
        <p:spPr>
          <a:xfrm>
            <a:off x="457200" y="1280160"/>
            <a:ext cx="1920240" cy="2514600"/>
          </a:xfrm>
          <a:prstGeom prst="roundRect">
            <a:avLst>
              <a:gd name="adj" fmla="val 3810"/>
            </a:avLst>
          </a:prstGeom>
          <a:solidFill>
            <a:schemeClr val="bg1"/>
          </a:solidFill>
          <a:ln/>
          <a:effectLst>
            <a:outerShdw sx="100000" sy="100000" kx="0" ky="0" algn="bl" rotWithShape="0" blurRad="76200" dist="25400" dir="5400000">
              <a:srgbClr val="000000">
                <a:alpha val="12000"/>
              </a:srgbClr>
            </a:outerShdw>
          </a:effectLst>
        </p:spPr>
      </p:sp>
      <p:sp>
        <p:nvSpPr>
          <p:cNvPr id="5" name="Output Research Output circle"/>
          <p:cNvSpPr/>
          <p:nvPr/>
        </p:nvSpPr>
        <p:spPr>
          <a:xfrm>
            <a:off x="640080" y="1463040"/>
            <a:ext cx="594360" cy="594360"/>
          </a:xfrm>
          <a:prstGeom prst="ellipse">
            <a:avLst/>
          </a:prstGeom>
          <a:solidFill>
            <a:schemeClr val="accent1"/>
          </a:solidFill>
          <a:ln/>
        </p:spPr>
      </p:sp>
      <p:pic>
        <p:nvPicPr>
          <p:cNvPr id="6" name="Output Research Output icon" descr="Output Research Output">    </p:cNvPr>
          <p:cNvPicPr>
            <a:picLocks noChangeAspect="1"/>
          </p:cNvPicPr>
          <p:nvPr/>
        </p:nvPicPr>
        <p:blipFill>
          <a:blip r:embed="rId1"/>
          <a:stretch>
            <a:fillRect/>
          </a:stretch>
        </p:blipFill>
        <p:spPr>
          <a:xfrm>
            <a:off x="788670" y="1611630"/>
            <a:ext cx="297180" cy="297180"/>
          </a:xfrm>
          <a:prstGeom prst="rect">
            <a:avLst/>
          </a:prstGeom>
        </p:spPr>
      </p:pic>
      <p:sp>
        <p:nvSpPr>
          <p:cNvPr id="7" name="Text 4"/>
          <p:cNvSpPr txBox="1"/>
          <p:nvPr/>
        </p:nvSpPr>
        <p:spPr>
          <a:xfrm>
            <a:off x="640080" y="2194560"/>
            <a:ext cx="1600200" cy="640080"/>
          </a:xfrm>
          <a:prstGeom prst="rect">
            <a:avLst/>
          </a:prstGeom>
          <a:noFill/>
          <a:ln/>
        </p:spPr>
        <p:txBody>
          <a:bodyPr wrap="square" lIns="0" tIns="0" rIns="0" bIns="0" rtlCol="0" anchor="t"/>
          <a:lstStyle/>
          <a:p>
            <a:pPr indent="0" marL="0">
              <a:buNone/>
            </a:pPr>
            <a:r>
              <a:rPr lang="en-US" sz="1600" b="1" dirty="0">
                <a:solidFill>
                  <a:schemeClr val="tx2"/>
                </a:solidFill>
              </a:rPr>
              <a:t>Research Output</a:t>
            </a:r>
            <a:endParaRPr lang="en-US" sz="1600" dirty="0"/>
          </a:p>
        </p:txBody>
      </p:sp>
      <p:sp>
        <p:nvSpPr>
          <p:cNvPr id="8" name="Text 5"/>
          <p:cNvSpPr txBox="1"/>
          <p:nvPr/>
        </p:nvSpPr>
        <p:spPr>
          <a:xfrm>
            <a:off x="640080" y="2834640"/>
            <a:ext cx="1600200" cy="868680"/>
          </a:xfrm>
          <a:prstGeom prst="rect">
            <a:avLst/>
          </a:prstGeom>
          <a:noFill/>
          <a:ln/>
        </p:spPr>
        <p:txBody>
          <a:bodyPr wrap="square" lIns="0" tIns="0" rIns="0" bIns="0" rtlCol="0" anchor="t"/>
          <a:lstStyle/>
          <a:p>
            <a:pPr indent="0" marL="0">
              <a:buNone/>
            </a:pPr>
            <a:r>
              <a:rPr lang="en-US" sz="1400" dirty="0">
                <a:solidFill>
                  <a:schemeClr val="tx1"/>
                </a:solidFill>
              </a:rPr>
              <a:t>Draf artikel, proposal hibah, atau bab tesis</a:t>
            </a:r>
            <a:endParaRPr lang="en-US" sz="1400" dirty="0"/>
          </a:p>
        </p:txBody>
      </p:sp>
      <p:sp>
        <p:nvSpPr>
          <p:cNvPr id="9" name="Output card AI Disclosure &amp; Log"/>
          <p:cNvSpPr/>
          <p:nvPr/>
        </p:nvSpPr>
        <p:spPr>
          <a:xfrm>
            <a:off x="2560320" y="1280160"/>
            <a:ext cx="1920240" cy="2514600"/>
          </a:xfrm>
          <a:prstGeom prst="roundRect">
            <a:avLst>
              <a:gd name="adj" fmla="val 3810"/>
            </a:avLst>
          </a:prstGeom>
          <a:solidFill>
            <a:schemeClr val="bg1"/>
          </a:solidFill>
          <a:ln/>
          <a:effectLst>
            <a:outerShdw sx="100000" sy="100000" kx="0" ky="0" algn="bl" rotWithShape="0" blurRad="76200" dist="25400" dir="5400000">
              <a:srgbClr val="000000">
                <a:alpha val="12000"/>
              </a:srgbClr>
            </a:outerShdw>
          </a:effectLst>
        </p:spPr>
      </p:sp>
      <p:sp>
        <p:nvSpPr>
          <p:cNvPr id="10" name="Output AI Disclosure &amp; Log circle"/>
          <p:cNvSpPr/>
          <p:nvPr/>
        </p:nvSpPr>
        <p:spPr>
          <a:xfrm>
            <a:off x="2743200" y="1463040"/>
            <a:ext cx="594360" cy="594360"/>
          </a:xfrm>
          <a:prstGeom prst="ellipse">
            <a:avLst/>
          </a:prstGeom>
          <a:solidFill>
            <a:schemeClr val="accent1"/>
          </a:solidFill>
          <a:ln/>
        </p:spPr>
      </p:sp>
      <p:pic>
        <p:nvPicPr>
          <p:cNvPr id="11" name="Output AI Disclosure &amp; Log icon" descr="Output AI Disclosure &amp; Log">    </p:cNvPr>
          <p:cNvPicPr>
            <a:picLocks noChangeAspect="1"/>
          </p:cNvPicPr>
          <p:nvPr/>
        </p:nvPicPr>
        <p:blipFill>
          <a:blip r:embed="rId2"/>
          <a:stretch>
            <a:fillRect/>
          </a:stretch>
        </p:blipFill>
        <p:spPr>
          <a:xfrm>
            <a:off x="2891790" y="1611630"/>
            <a:ext cx="297180" cy="297180"/>
          </a:xfrm>
          <a:prstGeom prst="rect">
            <a:avLst/>
          </a:prstGeom>
        </p:spPr>
      </p:pic>
      <p:sp>
        <p:nvSpPr>
          <p:cNvPr id="12" name="Text 8"/>
          <p:cNvSpPr txBox="1"/>
          <p:nvPr/>
        </p:nvSpPr>
        <p:spPr>
          <a:xfrm>
            <a:off x="2743200" y="2194560"/>
            <a:ext cx="1600200" cy="640080"/>
          </a:xfrm>
          <a:prstGeom prst="rect">
            <a:avLst/>
          </a:prstGeom>
          <a:noFill/>
          <a:ln/>
        </p:spPr>
        <p:txBody>
          <a:bodyPr wrap="square" lIns="0" tIns="0" rIns="0" bIns="0" rtlCol="0" anchor="t"/>
          <a:lstStyle/>
          <a:p>
            <a:pPr indent="0" marL="0">
              <a:buNone/>
            </a:pPr>
            <a:r>
              <a:rPr lang="en-US" sz="1600" b="1" dirty="0">
                <a:solidFill>
                  <a:schemeClr val="tx2"/>
                </a:solidFill>
              </a:rPr>
              <a:t>AI Disclosure &amp; Log</a:t>
            </a:r>
            <a:endParaRPr lang="en-US" sz="1600" dirty="0"/>
          </a:p>
        </p:txBody>
      </p:sp>
      <p:sp>
        <p:nvSpPr>
          <p:cNvPr id="13" name="Text 9"/>
          <p:cNvSpPr txBox="1"/>
          <p:nvPr/>
        </p:nvSpPr>
        <p:spPr>
          <a:xfrm>
            <a:off x="2743200" y="2834640"/>
            <a:ext cx="1600200" cy="868680"/>
          </a:xfrm>
          <a:prstGeom prst="rect">
            <a:avLst/>
          </a:prstGeom>
          <a:noFill/>
          <a:ln/>
        </p:spPr>
        <p:txBody>
          <a:bodyPr wrap="square" lIns="0" tIns="0" rIns="0" bIns="0" rtlCol="0" anchor="t"/>
          <a:lstStyle/>
          <a:p>
            <a:pPr indent="0" marL="0">
              <a:buNone/>
            </a:pPr>
            <a:r>
              <a:rPr lang="en-US" sz="1400" dirty="0">
                <a:solidFill>
                  <a:schemeClr val="tx1"/>
                </a:solidFill>
              </a:rPr>
              <a:t>Pernyataan dan catatan penggunaan AI</a:t>
            </a:r>
            <a:endParaRPr lang="en-US" sz="1400" dirty="0"/>
          </a:p>
        </p:txBody>
      </p:sp>
      <p:sp>
        <p:nvSpPr>
          <p:cNvPr id="14" name="Output card Data &amp; Privacy Plan"/>
          <p:cNvSpPr/>
          <p:nvPr/>
        </p:nvSpPr>
        <p:spPr>
          <a:xfrm>
            <a:off x="4663440" y="1280160"/>
            <a:ext cx="1920240" cy="2514600"/>
          </a:xfrm>
          <a:prstGeom prst="roundRect">
            <a:avLst>
              <a:gd name="adj" fmla="val 3810"/>
            </a:avLst>
          </a:prstGeom>
          <a:solidFill>
            <a:schemeClr val="bg1"/>
          </a:solidFill>
          <a:ln/>
          <a:effectLst>
            <a:outerShdw sx="100000" sy="100000" kx="0" ky="0" algn="bl" rotWithShape="0" blurRad="76200" dist="25400" dir="5400000">
              <a:srgbClr val="000000">
                <a:alpha val="12000"/>
              </a:srgbClr>
            </a:outerShdw>
          </a:effectLst>
        </p:spPr>
      </p:sp>
      <p:sp>
        <p:nvSpPr>
          <p:cNvPr id="15" name="Output Data &amp; Privacy Plan circle"/>
          <p:cNvSpPr/>
          <p:nvPr/>
        </p:nvSpPr>
        <p:spPr>
          <a:xfrm>
            <a:off x="4846320" y="1463040"/>
            <a:ext cx="594360" cy="594360"/>
          </a:xfrm>
          <a:prstGeom prst="ellipse">
            <a:avLst/>
          </a:prstGeom>
          <a:solidFill>
            <a:schemeClr val="accent1"/>
          </a:solidFill>
          <a:ln/>
        </p:spPr>
      </p:sp>
      <p:pic>
        <p:nvPicPr>
          <p:cNvPr id="16" name="Output Data &amp; Privacy Plan icon" descr="Output Data &amp; Privacy Plan">    </p:cNvPr>
          <p:cNvPicPr>
            <a:picLocks noChangeAspect="1"/>
          </p:cNvPicPr>
          <p:nvPr/>
        </p:nvPicPr>
        <p:blipFill>
          <a:blip r:embed="rId3"/>
          <a:stretch>
            <a:fillRect/>
          </a:stretch>
        </p:blipFill>
        <p:spPr>
          <a:xfrm>
            <a:off x="4994910" y="1611630"/>
            <a:ext cx="297180" cy="297180"/>
          </a:xfrm>
          <a:prstGeom prst="rect">
            <a:avLst/>
          </a:prstGeom>
        </p:spPr>
      </p:pic>
      <p:sp>
        <p:nvSpPr>
          <p:cNvPr id="17" name="Text 12"/>
          <p:cNvSpPr txBox="1"/>
          <p:nvPr/>
        </p:nvSpPr>
        <p:spPr>
          <a:xfrm>
            <a:off x="4846320" y="2194560"/>
            <a:ext cx="1600200" cy="640080"/>
          </a:xfrm>
          <a:prstGeom prst="rect">
            <a:avLst/>
          </a:prstGeom>
          <a:noFill/>
          <a:ln/>
        </p:spPr>
        <p:txBody>
          <a:bodyPr wrap="square" lIns="0" tIns="0" rIns="0" bIns="0" rtlCol="0" anchor="t"/>
          <a:lstStyle/>
          <a:p>
            <a:pPr indent="0" marL="0">
              <a:buNone/>
            </a:pPr>
            <a:r>
              <a:rPr lang="en-US" sz="1600" b="1" dirty="0">
                <a:solidFill>
                  <a:schemeClr val="tx2"/>
                </a:solidFill>
              </a:rPr>
              <a:t>Data &amp; Privacy Plan</a:t>
            </a:r>
            <a:endParaRPr lang="en-US" sz="1600" dirty="0"/>
          </a:p>
        </p:txBody>
      </p:sp>
      <p:sp>
        <p:nvSpPr>
          <p:cNvPr id="18" name="Text 13"/>
          <p:cNvSpPr txBox="1"/>
          <p:nvPr/>
        </p:nvSpPr>
        <p:spPr>
          <a:xfrm>
            <a:off x="4846320" y="2834640"/>
            <a:ext cx="1600200" cy="868680"/>
          </a:xfrm>
          <a:prstGeom prst="rect">
            <a:avLst/>
          </a:prstGeom>
          <a:noFill/>
          <a:ln/>
        </p:spPr>
        <p:txBody>
          <a:bodyPr wrap="square" lIns="0" tIns="0" rIns="0" bIns="0" rtlCol="0" anchor="t"/>
          <a:lstStyle/>
          <a:p>
            <a:pPr indent="0" marL="0">
              <a:buNone/>
            </a:pPr>
            <a:r>
              <a:rPr lang="en-US" sz="1400" dirty="0">
                <a:solidFill>
                  <a:schemeClr val="tx1"/>
                </a:solidFill>
              </a:rPr>
              <a:t>Pengelolaan data riset dan data responden</a:t>
            </a:r>
            <a:endParaRPr lang="en-US" sz="1400" dirty="0"/>
          </a:p>
        </p:txBody>
      </p:sp>
      <p:sp>
        <p:nvSpPr>
          <p:cNvPr id="19" name="Output card 90-Day Research Roadmap"/>
          <p:cNvSpPr/>
          <p:nvPr/>
        </p:nvSpPr>
        <p:spPr>
          <a:xfrm>
            <a:off x="6766560" y="1280160"/>
            <a:ext cx="1920240" cy="2514600"/>
          </a:xfrm>
          <a:prstGeom prst="roundRect">
            <a:avLst>
              <a:gd name="adj" fmla="val 3810"/>
            </a:avLst>
          </a:prstGeom>
          <a:solidFill>
            <a:schemeClr val="bg1"/>
          </a:solidFill>
          <a:ln/>
          <a:effectLst>
            <a:outerShdw sx="100000" sy="100000" kx="0" ky="0" algn="bl" rotWithShape="0" blurRad="76200" dist="25400" dir="5400000">
              <a:srgbClr val="000000">
                <a:alpha val="12000"/>
              </a:srgbClr>
            </a:outerShdw>
          </a:effectLst>
        </p:spPr>
      </p:sp>
      <p:sp>
        <p:nvSpPr>
          <p:cNvPr id="20" name="Output 90-Day Research Roadmap circle"/>
          <p:cNvSpPr/>
          <p:nvPr/>
        </p:nvSpPr>
        <p:spPr>
          <a:xfrm>
            <a:off x="6949440" y="1463040"/>
            <a:ext cx="594360" cy="594360"/>
          </a:xfrm>
          <a:prstGeom prst="ellipse">
            <a:avLst/>
          </a:prstGeom>
          <a:solidFill>
            <a:schemeClr val="accent1"/>
          </a:solidFill>
          <a:ln/>
        </p:spPr>
      </p:sp>
      <p:pic>
        <p:nvPicPr>
          <p:cNvPr id="21" name="Output 90-Day Research Roadmap icon" descr="Output 90-Day Research Roadmap">    </p:cNvPr>
          <p:cNvPicPr>
            <a:picLocks noChangeAspect="1"/>
          </p:cNvPicPr>
          <p:nvPr/>
        </p:nvPicPr>
        <p:blipFill>
          <a:blip r:embed="rId4"/>
          <a:stretch>
            <a:fillRect/>
          </a:stretch>
        </p:blipFill>
        <p:spPr>
          <a:xfrm>
            <a:off x="7098030" y="1611630"/>
            <a:ext cx="297180" cy="297180"/>
          </a:xfrm>
          <a:prstGeom prst="rect">
            <a:avLst/>
          </a:prstGeom>
        </p:spPr>
      </p:pic>
      <p:sp>
        <p:nvSpPr>
          <p:cNvPr id="22" name="Text 16"/>
          <p:cNvSpPr txBox="1"/>
          <p:nvPr/>
        </p:nvSpPr>
        <p:spPr>
          <a:xfrm>
            <a:off x="6949440" y="2194560"/>
            <a:ext cx="1600200" cy="640080"/>
          </a:xfrm>
          <a:prstGeom prst="rect">
            <a:avLst/>
          </a:prstGeom>
          <a:noFill/>
          <a:ln/>
        </p:spPr>
        <p:txBody>
          <a:bodyPr wrap="square" lIns="0" tIns="0" rIns="0" bIns="0" rtlCol="0" anchor="t"/>
          <a:lstStyle/>
          <a:p>
            <a:pPr indent="0" marL="0">
              <a:buNone/>
            </a:pPr>
            <a:r>
              <a:rPr lang="en-US" sz="1600" b="1" dirty="0">
                <a:solidFill>
                  <a:schemeClr val="tx2"/>
                </a:solidFill>
              </a:rPr>
              <a:t>90-Day Research Roadmap</a:t>
            </a:r>
            <a:endParaRPr lang="en-US" sz="1600" dirty="0"/>
          </a:p>
        </p:txBody>
      </p:sp>
      <p:sp>
        <p:nvSpPr>
          <p:cNvPr id="23" name="Text 17"/>
          <p:cNvSpPr txBox="1"/>
          <p:nvPr/>
        </p:nvSpPr>
        <p:spPr>
          <a:xfrm>
            <a:off x="6949440" y="2834640"/>
            <a:ext cx="1600200" cy="868680"/>
          </a:xfrm>
          <a:prstGeom prst="rect">
            <a:avLst/>
          </a:prstGeom>
          <a:noFill/>
          <a:ln/>
        </p:spPr>
        <p:txBody>
          <a:bodyPr wrap="square" lIns="0" tIns="0" rIns="0" bIns="0" rtlCol="0" anchor="t"/>
          <a:lstStyle/>
          <a:p>
            <a:pPr indent="0" marL="0">
              <a:buNone/>
            </a:pPr>
            <a:r>
              <a:rPr lang="en-US" sz="1400" dirty="0">
                <a:solidFill>
                  <a:schemeClr val="tx1"/>
                </a:solidFill>
              </a:rPr>
              <a:t>Target jurnal, hibah, dan linimasa</a:t>
            </a:r>
            <a:endParaRPr lang="en-US" sz="1400" dirty="0"/>
          </a:p>
        </p:txBody>
      </p:sp>
      <p:sp>
        <p:nvSpPr>
          <p:cNvPr id="24" name="Text 18"/>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500" b="1" dirty="0">
                <a:solidFill>
                  <a:schemeClr val="tx2"/>
                </a:solidFill>
              </a:rPr>
              <a:t>Outcome: </a:t>
            </a:r>
            <a:pPr indent="0" marL="0">
              <a:buNone/>
            </a:pPr>
            <a:r>
              <a:rPr lang="en-US" sz="1500" dirty="0">
                <a:solidFill>
                  <a:schemeClr val="tx1"/>
                </a:solidFill>
              </a:rPr>
              <a:t>peserta menghasilkan output riset nyata dan mampu menjelaskan secara transparan bagaimana AI dipakai.</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INTEGRITAS RISET</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AI Membantu, Peneliti Bertanggung Jawab</a:t>
            </a:r>
            <a:endParaRPr lang="en-US" sz="3000" dirty="0"/>
          </a:p>
        </p:txBody>
      </p:sp>
      <p:sp>
        <p:nvSpPr>
          <p:cNvPr id="4" name="Guardrail 1 circle"/>
          <p:cNvSpPr/>
          <p:nvPr/>
        </p:nvSpPr>
        <p:spPr>
          <a:xfrm>
            <a:off x="457200" y="1371600"/>
            <a:ext cx="685800" cy="685800"/>
          </a:xfrm>
          <a:prstGeom prst="ellipse">
            <a:avLst/>
          </a:prstGeom>
          <a:solidFill>
            <a:schemeClr val="tx2"/>
          </a:solidFill>
          <a:ln/>
        </p:spPr>
      </p:sp>
      <p:pic>
        <p:nvPicPr>
          <p:cNvPr id="5" name="Guardrail 1 icon" descr="Guardrail 1">    </p:cNvPr>
          <p:cNvPicPr>
            <a:picLocks noChangeAspect="1"/>
          </p:cNvPicPr>
          <p:nvPr/>
        </p:nvPicPr>
        <p:blipFill>
          <a:blip r:embed="rId1"/>
          <a:stretch>
            <a:fillRect/>
          </a:stretch>
        </p:blipFill>
        <p:spPr>
          <a:xfrm>
            <a:off x="628650" y="1543050"/>
            <a:ext cx="342900" cy="342900"/>
          </a:xfrm>
          <a:prstGeom prst="rect">
            <a:avLst/>
          </a:prstGeom>
        </p:spPr>
      </p:pic>
      <p:sp>
        <p:nvSpPr>
          <p:cNvPr id="6" name="Text 3"/>
          <p:cNvSpPr txBox="1"/>
          <p:nvPr/>
        </p:nvSpPr>
        <p:spPr>
          <a:xfrm>
            <a:off x="1325880" y="1371600"/>
            <a:ext cx="3108960" cy="365760"/>
          </a:xfrm>
          <a:prstGeom prst="rect">
            <a:avLst/>
          </a:prstGeom>
          <a:noFill/>
          <a:ln/>
        </p:spPr>
        <p:txBody>
          <a:bodyPr wrap="square" lIns="0" tIns="0" rIns="0" bIns="0" rtlCol="0" anchor="t"/>
          <a:lstStyle/>
          <a:p>
            <a:pPr indent="0" marL="0">
              <a:buNone/>
            </a:pPr>
            <a:r>
              <a:rPr lang="en-US" sz="1700" b="1" dirty="0">
                <a:solidFill>
                  <a:schemeClr val="tx2"/>
                </a:solidFill>
              </a:rPr>
              <a:t>AI bukan penulis</a:t>
            </a:r>
            <a:endParaRPr lang="en-US" sz="1700" dirty="0"/>
          </a:p>
        </p:txBody>
      </p:sp>
      <p:sp>
        <p:nvSpPr>
          <p:cNvPr id="7" name="Text 4"/>
          <p:cNvSpPr txBox="1"/>
          <p:nvPr/>
        </p:nvSpPr>
        <p:spPr>
          <a:xfrm>
            <a:off x="1325880" y="1755648"/>
            <a:ext cx="3108960" cy="685800"/>
          </a:xfrm>
          <a:prstGeom prst="rect">
            <a:avLst/>
          </a:prstGeom>
          <a:noFill/>
          <a:ln/>
        </p:spPr>
        <p:txBody>
          <a:bodyPr wrap="square" lIns="0" tIns="0" rIns="0" bIns="0" rtlCol="0" anchor="t"/>
          <a:lstStyle/>
          <a:p>
            <a:pPr indent="0" marL="0">
              <a:buNone/>
            </a:pPr>
            <a:r>
              <a:rPr lang="en-US" sz="1400" dirty="0">
                <a:solidFill>
                  <a:schemeClr val="tx1"/>
                </a:solidFill>
              </a:rPr>
              <a:t>Sejalan dengan posisi COPE dan kebijakan penerbit besar</a:t>
            </a:r>
            <a:endParaRPr lang="en-US" sz="1400" dirty="0"/>
          </a:p>
        </p:txBody>
      </p:sp>
      <p:sp>
        <p:nvSpPr>
          <p:cNvPr id="8" name="Guardrail 2 circle"/>
          <p:cNvSpPr/>
          <p:nvPr/>
        </p:nvSpPr>
        <p:spPr>
          <a:xfrm>
            <a:off x="4663440" y="1371600"/>
            <a:ext cx="685800" cy="685800"/>
          </a:xfrm>
          <a:prstGeom prst="ellipse">
            <a:avLst/>
          </a:prstGeom>
          <a:solidFill>
            <a:schemeClr val="tx2"/>
          </a:solidFill>
          <a:ln/>
        </p:spPr>
      </p:sp>
      <p:pic>
        <p:nvPicPr>
          <p:cNvPr id="9" name="Guardrail 2 icon" descr="Guardrail 2">    </p:cNvPr>
          <p:cNvPicPr>
            <a:picLocks noChangeAspect="1"/>
          </p:cNvPicPr>
          <p:nvPr/>
        </p:nvPicPr>
        <p:blipFill>
          <a:blip r:embed="rId2"/>
          <a:stretch>
            <a:fillRect/>
          </a:stretch>
        </p:blipFill>
        <p:spPr>
          <a:xfrm>
            <a:off x="4834890" y="1543050"/>
            <a:ext cx="342900" cy="342900"/>
          </a:xfrm>
          <a:prstGeom prst="rect">
            <a:avLst/>
          </a:prstGeom>
        </p:spPr>
      </p:pic>
      <p:sp>
        <p:nvSpPr>
          <p:cNvPr id="10" name="Text 6"/>
          <p:cNvSpPr txBox="1"/>
          <p:nvPr/>
        </p:nvSpPr>
        <p:spPr>
          <a:xfrm>
            <a:off x="5532120" y="1371600"/>
            <a:ext cx="3108960" cy="365760"/>
          </a:xfrm>
          <a:prstGeom prst="rect">
            <a:avLst/>
          </a:prstGeom>
          <a:noFill/>
          <a:ln/>
        </p:spPr>
        <p:txBody>
          <a:bodyPr wrap="square" lIns="0" tIns="0" rIns="0" bIns="0" rtlCol="0" anchor="t"/>
          <a:lstStyle/>
          <a:p>
            <a:pPr indent="0" marL="0">
              <a:buNone/>
            </a:pPr>
            <a:r>
              <a:rPr lang="en-US" sz="1700" b="1" dirty="0">
                <a:solidFill>
                  <a:schemeClr val="tx2"/>
                </a:solidFill>
              </a:rPr>
              <a:t>Ungkapkan penggunaan AI</a:t>
            </a:r>
            <a:endParaRPr lang="en-US" sz="1700" dirty="0"/>
          </a:p>
        </p:txBody>
      </p:sp>
      <p:sp>
        <p:nvSpPr>
          <p:cNvPr id="11" name="Text 7"/>
          <p:cNvSpPr txBox="1"/>
          <p:nvPr/>
        </p:nvSpPr>
        <p:spPr>
          <a:xfrm>
            <a:off x="5532120" y="1755648"/>
            <a:ext cx="3108960" cy="685800"/>
          </a:xfrm>
          <a:prstGeom prst="rect">
            <a:avLst/>
          </a:prstGeom>
          <a:noFill/>
          <a:ln/>
        </p:spPr>
        <p:txBody>
          <a:bodyPr wrap="square" lIns="0" tIns="0" rIns="0" bIns="0" rtlCol="0" anchor="t"/>
          <a:lstStyle/>
          <a:p>
            <a:pPr indent="0" marL="0">
              <a:buNone/>
            </a:pPr>
            <a:r>
              <a:rPr lang="en-US" sz="1400" dirty="0">
                <a:solidFill>
                  <a:schemeClr val="tx1"/>
                </a:solidFill>
              </a:rPr>
              <a:t>Sesuai ketentuan jurnal atau lembaga pemberi hibah</a:t>
            </a:r>
            <a:endParaRPr lang="en-US" sz="1400" dirty="0"/>
          </a:p>
        </p:txBody>
      </p:sp>
      <p:sp>
        <p:nvSpPr>
          <p:cNvPr id="12" name="Guardrail 3 circle"/>
          <p:cNvSpPr/>
          <p:nvPr/>
        </p:nvSpPr>
        <p:spPr>
          <a:xfrm>
            <a:off x="457200" y="2834640"/>
            <a:ext cx="685800" cy="685800"/>
          </a:xfrm>
          <a:prstGeom prst="ellipse">
            <a:avLst/>
          </a:prstGeom>
          <a:solidFill>
            <a:schemeClr val="tx2"/>
          </a:solidFill>
          <a:ln/>
        </p:spPr>
      </p:sp>
      <p:pic>
        <p:nvPicPr>
          <p:cNvPr id="13" name="Guardrail 3 icon" descr="Guardrail 3">    </p:cNvPr>
          <p:cNvPicPr>
            <a:picLocks noChangeAspect="1"/>
          </p:cNvPicPr>
          <p:nvPr/>
        </p:nvPicPr>
        <p:blipFill>
          <a:blip r:embed="rId3"/>
          <a:stretch>
            <a:fillRect/>
          </a:stretch>
        </p:blipFill>
        <p:spPr>
          <a:xfrm>
            <a:off x="628650" y="3006090"/>
            <a:ext cx="342900" cy="342900"/>
          </a:xfrm>
          <a:prstGeom prst="rect">
            <a:avLst/>
          </a:prstGeom>
        </p:spPr>
      </p:pic>
      <p:sp>
        <p:nvSpPr>
          <p:cNvPr id="14" name="Text 9"/>
          <p:cNvSpPr txBox="1"/>
          <p:nvPr/>
        </p:nvSpPr>
        <p:spPr>
          <a:xfrm>
            <a:off x="1325880" y="2834640"/>
            <a:ext cx="3108960" cy="365760"/>
          </a:xfrm>
          <a:prstGeom prst="rect">
            <a:avLst/>
          </a:prstGeom>
          <a:noFill/>
          <a:ln/>
        </p:spPr>
        <p:txBody>
          <a:bodyPr wrap="square" lIns="0" tIns="0" rIns="0" bIns="0" rtlCol="0" anchor="t"/>
          <a:lstStyle/>
          <a:p>
            <a:pPr indent="0" marL="0">
              <a:buNone/>
            </a:pPr>
            <a:r>
              <a:rPr lang="en-US" sz="1700" b="1" dirty="0">
                <a:solidFill>
                  <a:schemeClr val="tx2"/>
                </a:solidFill>
              </a:rPr>
              <a:t>Verifikasi sumber dan angka</a:t>
            </a:r>
            <a:endParaRPr lang="en-US" sz="1700" dirty="0"/>
          </a:p>
        </p:txBody>
      </p:sp>
      <p:sp>
        <p:nvSpPr>
          <p:cNvPr id="15" name="Text 10"/>
          <p:cNvSpPr txBox="1"/>
          <p:nvPr/>
        </p:nvSpPr>
        <p:spPr>
          <a:xfrm>
            <a:off x="1325880" y="3218688"/>
            <a:ext cx="3108960" cy="685800"/>
          </a:xfrm>
          <a:prstGeom prst="rect">
            <a:avLst/>
          </a:prstGeom>
          <a:noFill/>
          <a:ln/>
        </p:spPr>
        <p:txBody>
          <a:bodyPr wrap="square" lIns="0" tIns="0" rIns="0" bIns="0" rtlCol="0" anchor="t"/>
          <a:lstStyle/>
          <a:p>
            <a:pPr indent="0" marL="0">
              <a:buNone/>
            </a:pPr>
            <a:r>
              <a:rPr lang="en-US" sz="1400" dirty="0">
                <a:solidFill>
                  <a:schemeClr val="tx1"/>
                </a:solidFill>
              </a:rPr>
              <a:t>Tidak ada referensi atau hasil yang dipakai tanpa dicek</a:t>
            </a:r>
            <a:endParaRPr lang="en-US" sz="1400" dirty="0"/>
          </a:p>
        </p:txBody>
      </p:sp>
      <p:sp>
        <p:nvSpPr>
          <p:cNvPr id="16" name="Guardrail 4 circle"/>
          <p:cNvSpPr/>
          <p:nvPr/>
        </p:nvSpPr>
        <p:spPr>
          <a:xfrm>
            <a:off x="4663440" y="2834640"/>
            <a:ext cx="685800" cy="685800"/>
          </a:xfrm>
          <a:prstGeom prst="ellipse">
            <a:avLst/>
          </a:prstGeom>
          <a:solidFill>
            <a:schemeClr val="tx2"/>
          </a:solidFill>
          <a:ln/>
        </p:spPr>
      </p:sp>
      <p:pic>
        <p:nvPicPr>
          <p:cNvPr id="17" name="Guardrail 4 icon" descr="Guardrail 4">    </p:cNvPr>
          <p:cNvPicPr>
            <a:picLocks noChangeAspect="1"/>
          </p:cNvPicPr>
          <p:nvPr/>
        </p:nvPicPr>
        <p:blipFill>
          <a:blip r:embed="rId4"/>
          <a:stretch>
            <a:fillRect/>
          </a:stretch>
        </p:blipFill>
        <p:spPr>
          <a:xfrm>
            <a:off x="4834890" y="3006090"/>
            <a:ext cx="342900" cy="342900"/>
          </a:xfrm>
          <a:prstGeom prst="rect">
            <a:avLst/>
          </a:prstGeom>
        </p:spPr>
      </p:pic>
      <p:sp>
        <p:nvSpPr>
          <p:cNvPr id="18" name="Text 12"/>
          <p:cNvSpPr txBox="1"/>
          <p:nvPr/>
        </p:nvSpPr>
        <p:spPr>
          <a:xfrm>
            <a:off x="5532120" y="2834640"/>
            <a:ext cx="3108960" cy="365760"/>
          </a:xfrm>
          <a:prstGeom prst="rect">
            <a:avLst/>
          </a:prstGeom>
          <a:noFill/>
          <a:ln/>
        </p:spPr>
        <p:txBody>
          <a:bodyPr wrap="square" lIns="0" tIns="0" rIns="0" bIns="0" rtlCol="0" anchor="t"/>
          <a:lstStyle/>
          <a:p>
            <a:pPr indent="0" marL="0">
              <a:buNone/>
            </a:pPr>
            <a:r>
              <a:rPr lang="en-US" sz="1700" b="1" dirty="0">
                <a:solidFill>
                  <a:schemeClr val="tx2"/>
                </a:solidFill>
              </a:rPr>
              <a:t>Lindungi data responden</a:t>
            </a:r>
            <a:endParaRPr lang="en-US" sz="1700" dirty="0"/>
          </a:p>
        </p:txBody>
      </p:sp>
      <p:sp>
        <p:nvSpPr>
          <p:cNvPr id="19" name="Text 13"/>
          <p:cNvSpPr txBox="1"/>
          <p:nvPr/>
        </p:nvSpPr>
        <p:spPr>
          <a:xfrm>
            <a:off x="5532120" y="3218688"/>
            <a:ext cx="3108960" cy="685800"/>
          </a:xfrm>
          <a:prstGeom prst="rect">
            <a:avLst/>
          </a:prstGeom>
          <a:noFill/>
          <a:ln/>
        </p:spPr>
        <p:txBody>
          <a:bodyPr wrap="square" lIns="0" tIns="0" rIns="0" bIns="0" rtlCol="0" anchor="t"/>
          <a:lstStyle/>
          <a:p>
            <a:pPr indent="0" marL="0">
              <a:buNone/>
            </a:pPr>
            <a:r>
              <a:rPr lang="en-US" sz="1400" dirty="0">
                <a:solidFill>
                  <a:schemeClr val="tx1"/>
                </a:solidFill>
              </a:rPr>
              <a:t>Tidak mengunggah data identitas ke tools AI publik</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03 · PROGRAM REPORTING</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Visibilitas Penuh untuk UT</a:t>
            </a:r>
            <a:endParaRPr lang="en-US" sz="3000" dirty="0"/>
          </a:p>
        </p:txBody>
      </p:sp>
      <p:sp>
        <p:nvSpPr>
          <p:cNvPr id="4" name="Report card Partisipasi"/>
          <p:cNvSpPr/>
          <p:nvPr/>
        </p:nvSpPr>
        <p:spPr>
          <a:xfrm>
            <a:off x="457200" y="1280160"/>
            <a:ext cx="1920240" cy="2103120"/>
          </a:xfrm>
          <a:prstGeom prst="roundRect">
            <a:avLst>
              <a:gd name="adj" fmla="val 3810"/>
            </a:avLst>
          </a:prstGeom>
          <a:solidFill>
            <a:schemeClr val="bg2"/>
          </a:solidFill>
          <a:ln/>
        </p:spPr>
      </p:sp>
      <p:sp>
        <p:nvSpPr>
          <p:cNvPr id="5" name="Report Partisipasi circle"/>
          <p:cNvSpPr/>
          <p:nvPr/>
        </p:nvSpPr>
        <p:spPr>
          <a:xfrm>
            <a:off x="640080" y="1463040"/>
            <a:ext cx="548640" cy="548640"/>
          </a:xfrm>
          <a:prstGeom prst="ellipse">
            <a:avLst/>
          </a:prstGeom>
          <a:solidFill>
            <a:schemeClr val="accent2"/>
          </a:solidFill>
          <a:ln/>
        </p:spPr>
      </p:sp>
      <p:pic>
        <p:nvPicPr>
          <p:cNvPr id="6" name="Report Partisipasi icon" descr="Report Partisipasi">    </p:cNvPr>
          <p:cNvPicPr>
            <a:picLocks noChangeAspect="1"/>
          </p:cNvPicPr>
          <p:nvPr/>
        </p:nvPicPr>
        <p:blipFill>
          <a:blip r:embed="rId1"/>
          <a:stretch>
            <a:fillRect/>
          </a:stretch>
        </p:blipFill>
        <p:spPr>
          <a:xfrm>
            <a:off x="777240" y="1600200"/>
            <a:ext cx="274320" cy="274320"/>
          </a:xfrm>
          <a:prstGeom prst="rect">
            <a:avLst/>
          </a:prstGeom>
        </p:spPr>
      </p:pic>
      <p:sp>
        <p:nvSpPr>
          <p:cNvPr id="7" name="Text 4"/>
          <p:cNvSpPr txBox="1"/>
          <p:nvPr/>
        </p:nvSpPr>
        <p:spPr>
          <a:xfrm>
            <a:off x="640080" y="2148840"/>
            <a:ext cx="1600200" cy="365760"/>
          </a:xfrm>
          <a:prstGeom prst="rect">
            <a:avLst/>
          </a:prstGeom>
          <a:noFill/>
          <a:ln/>
        </p:spPr>
        <p:txBody>
          <a:bodyPr wrap="square" lIns="0" tIns="0" rIns="0" bIns="0" rtlCol="0" anchor="t"/>
          <a:lstStyle/>
          <a:p>
            <a:pPr indent="0" marL="0">
              <a:buNone/>
            </a:pPr>
            <a:r>
              <a:rPr lang="en-US" sz="1600" b="1" dirty="0">
                <a:solidFill>
                  <a:schemeClr val="tx2"/>
                </a:solidFill>
              </a:rPr>
              <a:t>Partisipasi</a:t>
            </a:r>
            <a:endParaRPr lang="en-US" sz="1600" dirty="0"/>
          </a:p>
        </p:txBody>
      </p:sp>
      <p:sp>
        <p:nvSpPr>
          <p:cNvPr id="8" name="Text 5"/>
          <p:cNvSpPr txBox="1"/>
          <p:nvPr/>
        </p:nvSpPr>
        <p:spPr>
          <a:xfrm>
            <a:off x="640080" y="2514600"/>
            <a:ext cx="1600200" cy="822960"/>
          </a:xfrm>
          <a:prstGeom prst="rect">
            <a:avLst/>
          </a:prstGeom>
          <a:noFill/>
          <a:ln/>
        </p:spPr>
        <p:txBody>
          <a:bodyPr wrap="square" lIns="0" tIns="0" rIns="0" bIns="0" rtlCol="0" anchor="t"/>
          <a:lstStyle/>
          <a:p>
            <a:pPr indent="0" marL="0">
              <a:buNone/>
            </a:pPr>
            <a:r>
              <a:rPr lang="en-US" sz="1400" dirty="0">
                <a:solidFill>
                  <a:schemeClr val="tx1"/>
                </a:solidFill>
              </a:rPr>
              <a:t>Registrasi, kehadiran, dan penyelesaian per jalur</a:t>
            </a:r>
            <a:endParaRPr lang="en-US" sz="1400" dirty="0"/>
          </a:p>
        </p:txBody>
      </p:sp>
      <p:sp>
        <p:nvSpPr>
          <p:cNvPr id="9" name="Report card Readiness"/>
          <p:cNvSpPr/>
          <p:nvPr/>
        </p:nvSpPr>
        <p:spPr>
          <a:xfrm>
            <a:off x="2560320" y="1280160"/>
            <a:ext cx="1920240" cy="2103120"/>
          </a:xfrm>
          <a:prstGeom prst="roundRect">
            <a:avLst>
              <a:gd name="adj" fmla="val 3810"/>
            </a:avLst>
          </a:prstGeom>
          <a:solidFill>
            <a:schemeClr val="bg2"/>
          </a:solidFill>
          <a:ln/>
        </p:spPr>
      </p:sp>
      <p:sp>
        <p:nvSpPr>
          <p:cNvPr id="10" name="Report Readiness circle"/>
          <p:cNvSpPr/>
          <p:nvPr/>
        </p:nvSpPr>
        <p:spPr>
          <a:xfrm>
            <a:off x="2743200" y="1463040"/>
            <a:ext cx="548640" cy="548640"/>
          </a:xfrm>
          <a:prstGeom prst="ellipse">
            <a:avLst/>
          </a:prstGeom>
          <a:solidFill>
            <a:schemeClr val="accent2"/>
          </a:solidFill>
          <a:ln/>
        </p:spPr>
      </p:sp>
      <p:pic>
        <p:nvPicPr>
          <p:cNvPr id="11" name="Report Readiness icon" descr="Report Readiness">    </p:cNvPr>
          <p:cNvPicPr>
            <a:picLocks noChangeAspect="1"/>
          </p:cNvPicPr>
          <p:nvPr/>
        </p:nvPicPr>
        <p:blipFill>
          <a:blip r:embed="rId2"/>
          <a:stretch>
            <a:fillRect/>
          </a:stretch>
        </p:blipFill>
        <p:spPr>
          <a:xfrm>
            <a:off x="2880360" y="1600200"/>
            <a:ext cx="274320" cy="274320"/>
          </a:xfrm>
          <a:prstGeom prst="rect">
            <a:avLst/>
          </a:prstGeom>
        </p:spPr>
      </p:pic>
      <p:sp>
        <p:nvSpPr>
          <p:cNvPr id="12" name="Text 8"/>
          <p:cNvSpPr txBox="1"/>
          <p:nvPr/>
        </p:nvSpPr>
        <p:spPr>
          <a:xfrm>
            <a:off x="2743200" y="2148840"/>
            <a:ext cx="1600200" cy="365760"/>
          </a:xfrm>
          <a:prstGeom prst="rect">
            <a:avLst/>
          </a:prstGeom>
          <a:noFill/>
          <a:ln/>
        </p:spPr>
        <p:txBody>
          <a:bodyPr wrap="square" lIns="0" tIns="0" rIns="0" bIns="0" rtlCol="0" anchor="t"/>
          <a:lstStyle/>
          <a:p>
            <a:pPr indent="0" marL="0">
              <a:buNone/>
            </a:pPr>
            <a:r>
              <a:rPr lang="en-US" sz="1600" b="1" dirty="0">
                <a:solidFill>
                  <a:schemeClr val="tx2"/>
                </a:solidFill>
              </a:rPr>
              <a:t>Readiness</a:t>
            </a:r>
            <a:endParaRPr lang="en-US" sz="1600" dirty="0"/>
          </a:p>
        </p:txBody>
      </p:sp>
      <p:sp>
        <p:nvSpPr>
          <p:cNvPr id="13" name="Text 9"/>
          <p:cNvSpPr txBox="1"/>
          <p:nvPr/>
        </p:nvSpPr>
        <p:spPr>
          <a:xfrm>
            <a:off x="2743200" y="2514600"/>
            <a:ext cx="1600200" cy="822960"/>
          </a:xfrm>
          <a:prstGeom prst="rect">
            <a:avLst/>
          </a:prstGeom>
          <a:noFill/>
          <a:ln/>
        </p:spPr>
        <p:txBody>
          <a:bodyPr wrap="square" lIns="0" tIns="0" rIns="0" bIns="0" rtlCol="0" anchor="t"/>
          <a:lstStyle/>
          <a:p>
            <a:pPr indent="0" marL="0">
              <a:buNone/>
            </a:pPr>
            <a:r>
              <a:rPr lang="en-US" sz="1400" dirty="0">
                <a:solidFill>
                  <a:schemeClr val="tx1"/>
                </a:solidFill>
              </a:rPr>
              <a:t>Perubahan skor baseline ke endline per dimensi</a:t>
            </a:r>
            <a:endParaRPr lang="en-US" sz="1400" dirty="0"/>
          </a:p>
        </p:txBody>
      </p:sp>
      <p:sp>
        <p:nvSpPr>
          <p:cNvPr id="14" name="Report card Output Riset"/>
          <p:cNvSpPr/>
          <p:nvPr/>
        </p:nvSpPr>
        <p:spPr>
          <a:xfrm>
            <a:off x="4663440" y="1280160"/>
            <a:ext cx="1920240" cy="2103120"/>
          </a:xfrm>
          <a:prstGeom prst="roundRect">
            <a:avLst>
              <a:gd name="adj" fmla="val 3810"/>
            </a:avLst>
          </a:prstGeom>
          <a:solidFill>
            <a:schemeClr val="bg2"/>
          </a:solidFill>
          <a:ln/>
        </p:spPr>
      </p:sp>
      <p:sp>
        <p:nvSpPr>
          <p:cNvPr id="15" name="Report Output Riset circle"/>
          <p:cNvSpPr/>
          <p:nvPr/>
        </p:nvSpPr>
        <p:spPr>
          <a:xfrm>
            <a:off x="4846320" y="1463040"/>
            <a:ext cx="548640" cy="548640"/>
          </a:xfrm>
          <a:prstGeom prst="ellipse">
            <a:avLst/>
          </a:prstGeom>
          <a:solidFill>
            <a:schemeClr val="accent2"/>
          </a:solidFill>
          <a:ln/>
        </p:spPr>
      </p:sp>
      <p:pic>
        <p:nvPicPr>
          <p:cNvPr id="16" name="Report Output Riset icon" descr="Report Output Riset">    </p:cNvPr>
          <p:cNvPicPr>
            <a:picLocks noChangeAspect="1"/>
          </p:cNvPicPr>
          <p:nvPr/>
        </p:nvPicPr>
        <p:blipFill>
          <a:blip r:embed="rId3"/>
          <a:stretch>
            <a:fillRect/>
          </a:stretch>
        </p:blipFill>
        <p:spPr>
          <a:xfrm>
            <a:off x="4983480" y="1600200"/>
            <a:ext cx="274320" cy="274320"/>
          </a:xfrm>
          <a:prstGeom prst="rect">
            <a:avLst/>
          </a:prstGeom>
        </p:spPr>
      </p:pic>
      <p:sp>
        <p:nvSpPr>
          <p:cNvPr id="17" name="Text 12"/>
          <p:cNvSpPr txBox="1"/>
          <p:nvPr/>
        </p:nvSpPr>
        <p:spPr>
          <a:xfrm>
            <a:off x="4846320" y="2148840"/>
            <a:ext cx="1600200" cy="365760"/>
          </a:xfrm>
          <a:prstGeom prst="rect">
            <a:avLst/>
          </a:prstGeom>
          <a:noFill/>
          <a:ln/>
        </p:spPr>
        <p:txBody>
          <a:bodyPr wrap="square" lIns="0" tIns="0" rIns="0" bIns="0" rtlCol="0" anchor="t"/>
          <a:lstStyle/>
          <a:p>
            <a:pPr indent="0" marL="0">
              <a:buNone/>
            </a:pPr>
            <a:r>
              <a:rPr lang="en-US" sz="1600" b="1" dirty="0">
                <a:solidFill>
                  <a:schemeClr val="tx2"/>
                </a:solidFill>
              </a:rPr>
              <a:t>Output Riset</a:t>
            </a:r>
            <a:endParaRPr lang="en-US" sz="1600" dirty="0"/>
          </a:p>
        </p:txBody>
      </p:sp>
      <p:sp>
        <p:nvSpPr>
          <p:cNvPr id="18" name="Text 13"/>
          <p:cNvSpPr txBox="1"/>
          <p:nvPr/>
        </p:nvSpPr>
        <p:spPr>
          <a:xfrm>
            <a:off x="4846320" y="2514600"/>
            <a:ext cx="1600200" cy="822960"/>
          </a:xfrm>
          <a:prstGeom prst="rect">
            <a:avLst/>
          </a:prstGeom>
          <a:noFill/>
          <a:ln/>
        </p:spPr>
        <p:txBody>
          <a:bodyPr wrap="square" lIns="0" tIns="0" rIns="0" bIns="0" rtlCol="0" anchor="t"/>
          <a:lstStyle/>
          <a:p>
            <a:pPr indent="0" marL="0">
              <a:buNone/>
            </a:pPr>
            <a:r>
              <a:rPr lang="en-US" sz="1400" dirty="0">
                <a:solidFill>
                  <a:schemeClr val="tx1"/>
                </a:solidFill>
              </a:rPr>
              <a:t>Jumlah draf artikel, proposal hibah, dan bab tesis</a:t>
            </a:r>
            <a:endParaRPr lang="en-US" sz="1400" dirty="0"/>
          </a:p>
        </p:txBody>
      </p:sp>
      <p:sp>
        <p:nvSpPr>
          <p:cNvPr id="19" name="Report card Integritas"/>
          <p:cNvSpPr/>
          <p:nvPr/>
        </p:nvSpPr>
        <p:spPr>
          <a:xfrm>
            <a:off x="6766560" y="1280160"/>
            <a:ext cx="1920240" cy="2103120"/>
          </a:xfrm>
          <a:prstGeom prst="roundRect">
            <a:avLst>
              <a:gd name="adj" fmla="val 3810"/>
            </a:avLst>
          </a:prstGeom>
          <a:solidFill>
            <a:schemeClr val="bg2"/>
          </a:solidFill>
          <a:ln/>
        </p:spPr>
      </p:sp>
      <p:sp>
        <p:nvSpPr>
          <p:cNvPr id="20" name="Report Integritas circle"/>
          <p:cNvSpPr/>
          <p:nvPr/>
        </p:nvSpPr>
        <p:spPr>
          <a:xfrm>
            <a:off x="6949440" y="1463040"/>
            <a:ext cx="548640" cy="548640"/>
          </a:xfrm>
          <a:prstGeom prst="ellipse">
            <a:avLst/>
          </a:prstGeom>
          <a:solidFill>
            <a:schemeClr val="accent2"/>
          </a:solidFill>
          <a:ln/>
        </p:spPr>
      </p:sp>
      <p:pic>
        <p:nvPicPr>
          <p:cNvPr id="21" name="Report Integritas icon" descr="Report Integritas">    </p:cNvPr>
          <p:cNvPicPr>
            <a:picLocks noChangeAspect="1"/>
          </p:cNvPicPr>
          <p:nvPr/>
        </p:nvPicPr>
        <p:blipFill>
          <a:blip r:embed="rId4"/>
          <a:stretch>
            <a:fillRect/>
          </a:stretch>
        </p:blipFill>
        <p:spPr>
          <a:xfrm>
            <a:off x="7086600" y="1600200"/>
            <a:ext cx="274320" cy="274320"/>
          </a:xfrm>
          <a:prstGeom prst="rect">
            <a:avLst/>
          </a:prstGeom>
        </p:spPr>
      </p:pic>
      <p:sp>
        <p:nvSpPr>
          <p:cNvPr id="22" name="Text 16"/>
          <p:cNvSpPr txBox="1"/>
          <p:nvPr/>
        </p:nvSpPr>
        <p:spPr>
          <a:xfrm>
            <a:off x="6949440" y="2148840"/>
            <a:ext cx="1600200" cy="365760"/>
          </a:xfrm>
          <a:prstGeom prst="rect">
            <a:avLst/>
          </a:prstGeom>
          <a:noFill/>
          <a:ln/>
        </p:spPr>
        <p:txBody>
          <a:bodyPr wrap="square" lIns="0" tIns="0" rIns="0" bIns="0" rtlCol="0" anchor="t"/>
          <a:lstStyle/>
          <a:p>
            <a:pPr indent="0" marL="0">
              <a:buNone/>
            </a:pPr>
            <a:r>
              <a:rPr lang="en-US" sz="1600" b="1" dirty="0">
                <a:solidFill>
                  <a:schemeClr val="tx2"/>
                </a:solidFill>
              </a:rPr>
              <a:t>Integritas</a:t>
            </a:r>
            <a:endParaRPr lang="en-US" sz="1600" dirty="0"/>
          </a:p>
        </p:txBody>
      </p:sp>
      <p:sp>
        <p:nvSpPr>
          <p:cNvPr id="23" name="Text 17"/>
          <p:cNvSpPr txBox="1"/>
          <p:nvPr/>
        </p:nvSpPr>
        <p:spPr>
          <a:xfrm>
            <a:off x="6949440" y="2514600"/>
            <a:ext cx="1600200" cy="822960"/>
          </a:xfrm>
          <a:prstGeom prst="rect">
            <a:avLst/>
          </a:prstGeom>
          <a:noFill/>
          <a:ln/>
        </p:spPr>
        <p:txBody>
          <a:bodyPr wrap="square" lIns="0" tIns="0" rIns="0" bIns="0" rtlCol="0" anchor="t"/>
          <a:lstStyle/>
          <a:p>
            <a:pPr indent="0" marL="0">
              <a:buNone/>
            </a:pPr>
            <a:r>
              <a:rPr lang="en-US" sz="1400" dirty="0">
                <a:solidFill>
                  <a:schemeClr val="tx1"/>
                </a:solidFill>
              </a:rPr>
              <a:t>Kelengkapan disclosure dan log penggunaan AI</a:t>
            </a:r>
            <a:endParaRPr lang="en-US" sz="1400" dirty="0"/>
          </a:p>
        </p:txBody>
      </p:sp>
      <p:sp>
        <p:nvSpPr>
          <p:cNvPr id="24" name="Timeline line"/>
          <p:cNvSpPr/>
          <p:nvPr/>
        </p:nvSpPr>
        <p:spPr>
          <a:xfrm>
            <a:off x="566928" y="3657600"/>
            <a:ext cx="7315200" cy="0"/>
          </a:xfrm>
          <a:prstGeom prst="line">
            <a:avLst/>
          </a:prstGeom>
          <a:noFill/>
          <a:ln w="19050">
            <a:solidFill>
              <a:schemeClr val="accent6"/>
            </a:solidFill>
            <a:prstDash val="solid"/>
          </a:ln>
        </p:spPr>
      </p:sp>
      <p:sp>
        <p:nvSpPr>
          <p:cNvPr id="25" name="Timeline dot 1"/>
          <p:cNvSpPr/>
          <p:nvPr/>
        </p:nvSpPr>
        <p:spPr>
          <a:xfrm>
            <a:off x="457200" y="3547872"/>
            <a:ext cx="219456" cy="219456"/>
          </a:xfrm>
          <a:prstGeom prst="ellipse">
            <a:avLst/>
          </a:prstGeom>
          <a:solidFill>
            <a:schemeClr val="accent1"/>
          </a:solidFill>
          <a:ln/>
        </p:spPr>
      </p:sp>
      <p:sp>
        <p:nvSpPr>
          <p:cNvPr id="26" name="Text 20"/>
          <p:cNvSpPr txBox="1"/>
          <p:nvPr/>
        </p:nvSpPr>
        <p:spPr>
          <a:xfrm>
            <a:off x="457200" y="3858768"/>
            <a:ext cx="2560320" cy="274320"/>
          </a:xfrm>
          <a:prstGeom prst="rect">
            <a:avLst/>
          </a:prstGeom>
          <a:noFill/>
          <a:ln/>
        </p:spPr>
        <p:txBody>
          <a:bodyPr wrap="square" lIns="0" tIns="0" rIns="0" bIns="0" rtlCol="0" anchor="t"/>
          <a:lstStyle/>
          <a:p>
            <a:pPr indent="0" marL="0">
              <a:buNone/>
            </a:pPr>
            <a:r>
              <a:rPr lang="en-US" sz="1400" b="1" dirty="0">
                <a:solidFill>
                  <a:schemeClr val="tx2"/>
                </a:solidFill>
              </a:rPr>
              <a:t>Laporan awal</a:t>
            </a:r>
            <a:endParaRPr lang="en-US" sz="1400" dirty="0"/>
          </a:p>
        </p:txBody>
      </p:sp>
      <p:sp>
        <p:nvSpPr>
          <p:cNvPr id="27" name="Text 21"/>
          <p:cNvSpPr txBox="1"/>
          <p:nvPr/>
        </p:nvSpPr>
        <p:spPr>
          <a:xfrm>
            <a:off x="457200" y="4133088"/>
            <a:ext cx="2560320" cy="411480"/>
          </a:xfrm>
          <a:prstGeom prst="rect">
            <a:avLst/>
          </a:prstGeom>
          <a:noFill/>
          <a:ln/>
        </p:spPr>
        <p:txBody>
          <a:bodyPr wrap="square" lIns="0" tIns="0" rIns="0" bIns="0" rtlCol="0" anchor="t"/>
          <a:lstStyle/>
          <a:p>
            <a:pPr indent="0" marL="0">
              <a:buNone/>
            </a:pPr>
            <a:r>
              <a:rPr lang="en-US" sz="1400" dirty="0">
                <a:solidFill>
                  <a:schemeClr val="tx1"/>
                </a:solidFill>
              </a:rPr>
              <a:t>Profil peserta &amp; baseline</a:t>
            </a:r>
            <a:endParaRPr lang="en-US" sz="1400" dirty="0"/>
          </a:p>
        </p:txBody>
      </p:sp>
      <p:sp>
        <p:nvSpPr>
          <p:cNvPr id="28" name="Timeline dot 2"/>
          <p:cNvSpPr/>
          <p:nvPr/>
        </p:nvSpPr>
        <p:spPr>
          <a:xfrm>
            <a:off x="3264408" y="3547872"/>
            <a:ext cx="219456" cy="219456"/>
          </a:xfrm>
          <a:prstGeom prst="ellipse">
            <a:avLst/>
          </a:prstGeom>
          <a:solidFill>
            <a:schemeClr val="accent1"/>
          </a:solidFill>
          <a:ln/>
        </p:spPr>
      </p:sp>
      <p:sp>
        <p:nvSpPr>
          <p:cNvPr id="29" name="Text 23"/>
          <p:cNvSpPr txBox="1"/>
          <p:nvPr/>
        </p:nvSpPr>
        <p:spPr>
          <a:xfrm>
            <a:off x="3264408" y="3858768"/>
            <a:ext cx="2560320" cy="274320"/>
          </a:xfrm>
          <a:prstGeom prst="rect">
            <a:avLst/>
          </a:prstGeom>
          <a:noFill/>
          <a:ln/>
        </p:spPr>
        <p:txBody>
          <a:bodyPr wrap="square" lIns="0" tIns="0" rIns="0" bIns="0" rtlCol="0" anchor="t"/>
          <a:lstStyle/>
          <a:p>
            <a:pPr indent="0" marL="0">
              <a:buNone/>
            </a:pPr>
            <a:r>
              <a:rPr lang="en-US" sz="1400" b="1" dirty="0">
                <a:solidFill>
                  <a:schemeClr val="tx2"/>
                </a:solidFill>
              </a:rPr>
              <a:t>Laporan progres</a:t>
            </a:r>
            <a:endParaRPr lang="en-US" sz="1400" dirty="0"/>
          </a:p>
        </p:txBody>
      </p:sp>
      <p:sp>
        <p:nvSpPr>
          <p:cNvPr id="30" name="Text 24"/>
          <p:cNvSpPr txBox="1"/>
          <p:nvPr/>
        </p:nvSpPr>
        <p:spPr>
          <a:xfrm>
            <a:off x="3264408" y="4133088"/>
            <a:ext cx="2560320" cy="411480"/>
          </a:xfrm>
          <a:prstGeom prst="rect">
            <a:avLst/>
          </a:prstGeom>
          <a:noFill/>
          <a:ln/>
        </p:spPr>
        <p:txBody>
          <a:bodyPr wrap="square" lIns="0" tIns="0" rIns="0" bIns="0" rtlCol="0" anchor="t"/>
          <a:lstStyle/>
          <a:p>
            <a:pPr indent="0" marL="0">
              <a:buNone/>
            </a:pPr>
            <a:r>
              <a:rPr lang="en-US" sz="1400" dirty="0">
                <a:solidFill>
                  <a:schemeClr val="tx1"/>
                </a:solidFill>
              </a:rPr>
              <a:t>Penyelesaian &amp; checkpoint</a:t>
            </a:r>
            <a:endParaRPr lang="en-US" sz="1400" dirty="0"/>
          </a:p>
        </p:txBody>
      </p:sp>
      <p:sp>
        <p:nvSpPr>
          <p:cNvPr id="31" name="Timeline dot 3"/>
          <p:cNvSpPr/>
          <p:nvPr/>
        </p:nvSpPr>
        <p:spPr>
          <a:xfrm>
            <a:off x="6071616" y="3547872"/>
            <a:ext cx="219456" cy="219456"/>
          </a:xfrm>
          <a:prstGeom prst="ellipse">
            <a:avLst/>
          </a:prstGeom>
          <a:solidFill>
            <a:schemeClr val="accent1"/>
          </a:solidFill>
          <a:ln/>
        </p:spPr>
      </p:sp>
      <p:sp>
        <p:nvSpPr>
          <p:cNvPr id="32" name="Text 26"/>
          <p:cNvSpPr txBox="1"/>
          <p:nvPr/>
        </p:nvSpPr>
        <p:spPr>
          <a:xfrm>
            <a:off x="6071616" y="3858768"/>
            <a:ext cx="2560320" cy="274320"/>
          </a:xfrm>
          <a:prstGeom prst="rect">
            <a:avLst/>
          </a:prstGeom>
          <a:noFill/>
          <a:ln/>
        </p:spPr>
        <p:txBody>
          <a:bodyPr wrap="square" lIns="0" tIns="0" rIns="0" bIns="0" rtlCol="0" anchor="t"/>
          <a:lstStyle/>
          <a:p>
            <a:pPr indent="0" marL="0">
              <a:buNone/>
            </a:pPr>
            <a:r>
              <a:rPr lang="en-US" sz="1400" b="1" dirty="0">
                <a:solidFill>
                  <a:schemeClr val="tx2"/>
                </a:solidFill>
              </a:rPr>
              <a:t>Laporan akhir</a:t>
            </a:r>
            <a:endParaRPr lang="en-US" sz="1400" dirty="0"/>
          </a:p>
        </p:txBody>
      </p:sp>
      <p:sp>
        <p:nvSpPr>
          <p:cNvPr id="33" name="Text 27"/>
          <p:cNvSpPr txBox="1"/>
          <p:nvPr/>
        </p:nvSpPr>
        <p:spPr>
          <a:xfrm>
            <a:off x="6071616" y="4133088"/>
            <a:ext cx="2560320" cy="411480"/>
          </a:xfrm>
          <a:prstGeom prst="rect">
            <a:avLst/>
          </a:prstGeom>
          <a:noFill/>
          <a:ln/>
        </p:spPr>
        <p:txBody>
          <a:bodyPr wrap="square" lIns="0" tIns="0" rIns="0" bIns="0" rtlCol="0" anchor="t"/>
          <a:lstStyle/>
          <a:p>
            <a:pPr indent="0" marL="0">
              <a:buNone/>
            </a:pPr>
            <a:r>
              <a:rPr lang="en-US" sz="1400" dirty="0">
                <a:solidFill>
                  <a:schemeClr val="tx1"/>
                </a:solidFill>
              </a:rPr>
              <a:t>Endline, output &amp; rekomendasi</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743200" cy="1005840"/>
          </a:xfrm>
          <a:prstGeom prst="rect">
            <a:avLst/>
          </a:prstGeom>
          <a:noFill/>
          <a:ln/>
        </p:spPr>
        <p:txBody>
          <a:bodyPr wrap="square" lIns="0" tIns="0" rIns="0" bIns="0"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04</a:t>
            </a:r>
            <a:endParaRPr lang="en-US" sz="6000" dirty="0"/>
          </a:p>
        </p:txBody>
      </p:sp>
      <p:sp>
        <p:nvSpPr>
          <p:cNvPr id="3" name="Text 0"/>
          <p:cNvSpPr/>
          <p:nvPr>
            <p:ph idx="101" type="title" hasCustomPrompt="1"/>
          </p:nvPr>
        </p:nvSpPr>
        <p:spPr>
          <a:xfrm>
            <a:off x="548640" y="2148840"/>
            <a:ext cx="8046720" cy="822960"/>
          </a:xfrm>
          <a:prstGeom prst="rect">
            <a:avLst/>
          </a:prstGeom>
          <a:noFill/>
          <a:ln/>
        </p:spPr>
        <p:txBody>
          <a:bodyPr wrap="square" lIns="0" tIns="0" rIns="0" bIns="0" rtlCol="0" anchor="t"/>
          <a:lstStyle/>
          <a:p>
            <a:pPr algn="l" indent="0" marL="0">
              <a:buNone/>
            </a:pPr>
            <a:r>
              <a:rPr lang="en-US" sz="3600" b="1" dirty="0">
                <a:solidFill>
                  <a:schemeClr val="bg1"/>
                </a:solidFill>
              </a:rPr>
              <a:t>Investasi</a:t>
            </a:r>
            <a:endParaRPr lang="en-US" sz="3600" dirty="0"/>
          </a:p>
        </p:txBody>
      </p:sp>
      <p:sp>
        <p:nvSpPr>
          <p:cNvPr id="4" name="Text 0"/>
          <p:cNvSpPr/>
          <p:nvPr>
            <p:ph idx="102" type="body" hasCustomPrompt="1"/>
          </p:nvPr>
        </p:nvSpPr>
        <p:spPr>
          <a:xfrm>
            <a:off x="548640" y="3017520"/>
            <a:ext cx="7315200" cy="822960"/>
          </a:xfrm>
          <a:prstGeom prst="rect">
            <a:avLst/>
          </a:prstGeom>
          <a:noFill/>
          <a:ln/>
        </p:spPr>
        <p:txBody>
          <a:bodyPr wrap="square" lIns="0" tIns="0" rIns="0" bIns="0" rtlCol="0" anchor="t"/>
          <a:lstStyle/>
          <a:p>
            <a:pPr algn="l" indent="0" marL="0">
              <a:buNone/>
            </a:pPr>
            <a:r>
              <a:rPr lang="en-US" sz="1800" dirty="0">
                <a:solidFill>
                  <a:schemeClr val="bg2"/>
                </a:solidFill>
              </a:rPr>
              <a:t>Skema implementasi dan cakupan program</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algn="l" indent="0" marL="0">
              <a:buNone/>
            </a:pPr>
            <a:r>
              <a:rPr lang="en-US" sz="1100" b="1" spc="100" kern="0" dirty="0">
                <a:solidFill>
                  <a:schemeClr val="accent2"/>
                </a:solidFill>
              </a:rPr>
              <a:t>04 · INVESTASI</a:t>
            </a:r>
            <a:endParaRPr lang="en-US" sz="1100" dirty="0"/>
          </a:p>
        </p:txBody>
      </p:sp>
      <p:sp>
        <p:nvSpPr>
          <p:cNvPr id="3" name="Text 0"/>
          <p:cNvSpPr/>
          <p:nvPr>
            <p:ph idx="101" type="title" hasCustomPrompt="1"/>
          </p:nvPr>
        </p:nvSpPr>
        <p:spPr>
          <a:xfrm>
            <a:off x="457200" y="45720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Program Investment</a:t>
            </a:r>
            <a:endParaRPr lang="en-US" sz="3000" dirty="0"/>
          </a:p>
        </p:txBody>
      </p:sp>
      <p:sp>
        <p:nvSpPr>
          <p:cNvPr id="4" name="Text 2"/>
          <p:cNvSpPr txBox="1"/>
          <p:nvPr/>
        </p:nvSpPr>
        <p:spPr>
          <a:xfrm>
            <a:off x="457200" y="1280160"/>
            <a:ext cx="4754880" cy="731520"/>
          </a:xfrm>
          <a:prstGeom prst="rect">
            <a:avLst/>
          </a:prstGeom>
          <a:noFill/>
          <a:ln/>
        </p:spPr>
        <p:txBody>
          <a:bodyPr wrap="square" lIns="0" tIns="0" rIns="0" bIns="0" rtlCol="0" anchor="t"/>
          <a:lstStyle/>
          <a:p>
            <a:pPr indent="0" marL="0">
              <a:buNone/>
            </a:pPr>
            <a:r>
              <a:rPr lang="en-US" sz="1500" dirty="0">
                <a:solidFill>
                  <a:schemeClr val="tx1"/>
                </a:solidFill>
              </a:rPr>
              <a:t>Investasi program ditanggung oleh Universitas Terbuka sebagai bagian dari inisiatif penguatan kapasitas riset berbasis AI.</a:t>
            </a:r>
            <a:endParaRPr lang="en-US" sz="1500" dirty="0"/>
          </a:p>
        </p:txBody>
      </p:sp>
      <p:sp>
        <p:nvSpPr>
          <p:cNvPr id="5" name="Text 3"/>
          <p:cNvSpPr txBox="1"/>
          <p:nvPr/>
        </p:nvSpPr>
        <p:spPr>
          <a:xfrm>
            <a:off x="457200" y="2148840"/>
            <a:ext cx="4754880" cy="274320"/>
          </a:xfrm>
          <a:prstGeom prst="rect">
            <a:avLst/>
          </a:prstGeom>
          <a:noFill/>
          <a:ln/>
        </p:spPr>
        <p:txBody>
          <a:bodyPr wrap="square" lIns="0" tIns="0" rIns="0" bIns="0" rtlCol="0" anchor="t"/>
          <a:lstStyle/>
          <a:p>
            <a:pPr indent="0" marL="0">
              <a:buNone/>
            </a:pPr>
            <a:r>
              <a:rPr lang="en-US" sz="1200" b="1" dirty="0">
                <a:solidFill>
                  <a:schemeClr val="accent2"/>
                </a:solidFill>
              </a:rPr>
              <a:t>INVESTMENT INCLUDES</a:t>
            </a:r>
            <a:endParaRPr lang="en-US" sz="1200" dirty="0"/>
          </a:p>
        </p:txBody>
      </p:sp>
      <p:sp>
        <p:nvSpPr>
          <p:cNvPr id="6" name="Text 4"/>
          <p:cNvSpPr txBox="1"/>
          <p:nvPr/>
        </p:nvSpPr>
        <p:spPr>
          <a:xfrm>
            <a:off x="457200" y="2468880"/>
            <a:ext cx="4754880" cy="2103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Desain program dan konten</a:t>
            </a:r>
            <a:endParaRPr lang="en-US" sz="1400" dirty="0"/>
          </a:p>
          <a:p>
            <a:pPr marL="342900" indent="-342900">
              <a:spcAft>
                <a:spcPts val="400"/>
              </a:spcAft>
              <a:buSzPct val="100000"/>
              <a:buChar char="•"/>
            </a:pPr>
            <a:r>
              <a:rPr lang="en-US" sz="1400" dirty="0">
                <a:solidFill>
                  <a:schemeClr val="tx1"/>
                </a:solidFill>
              </a:rPr>
              <a:t>Async learning dan live workshop</a:t>
            </a:r>
            <a:endParaRPr lang="en-US" sz="1400" dirty="0"/>
          </a:p>
          <a:p>
            <a:pPr marL="342900" indent="-342900">
              <a:spcAft>
                <a:spcPts val="400"/>
              </a:spcAft>
              <a:buSzPct val="100000"/>
              <a:buChar char="•"/>
            </a:pPr>
            <a:r>
              <a:rPr lang="en-US" sz="1400" dirty="0">
                <a:solidFill>
                  <a:schemeClr val="tx1"/>
                </a:solidFill>
              </a:rPr>
              <a:t>Research clinic dan mentoring</a:t>
            </a:r>
            <a:endParaRPr lang="en-US" sz="1400" dirty="0"/>
          </a:p>
          <a:p>
            <a:pPr marL="342900" indent="-342900">
              <a:spcAft>
                <a:spcPts val="400"/>
              </a:spcAft>
              <a:buSzPct val="100000"/>
              <a:buChar char="•"/>
            </a:pPr>
            <a:r>
              <a:rPr lang="en-US" sz="1400" dirty="0">
                <a:solidFill>
                  <a:schemeClr val="tx1"/>
                </a:solidFill>
              </a:rPr>
              <a:t>Panduan setup Claude Code, Zotero, Scite, Flourish</a:t>
            </a:r>
            <a:endParaRPr lang="en-US" sz="1400" dirty="0"/>
          </a:p>
          <a:p>
            <a:pPr marL="342900" indent="-342900">
              <a:spcAft>
                <a:spcPts val="400"/>
              </a:spcAft>
              <a:buSzPct val="100000"/>
              <a:buChar char="•"/>
            </a:pPr>
            <a:r>
              <a:rPr lang="en-US" sz="1400" dirty="0">
                <a:solidFill>
                  <a:schemeClr val="tx1"/>
                </a:solidFill>
              </a:rPr>
              <a:t>Assessment dan dukungan output riset</a:t>
            </a:r>
            <a:endParaRPr lang="en-US" sz="1400" dirty="0"/>
          </a:p>
          <a:p>
            <a:pPr marL="342900" indent="-342900">
              <a:spcAft>
                <a:spcPts val="400"/>
              </a:spcAft>
              <a:buSzPct val="100000"/>
              <a:buChar char="•"/>
            </a:pPr>
            <a:r>
              <a:rPr lang="en-US" sz="1400" dirty="0">
                <a:solidFill>
                  <a:schemeClr val="tx1"/>
                </a:solidFill>
              </a:rPr>
              <a:t>Program reporting</a:t>
            </a:r>
            <a:endParaRPr lang="en-US" sz="1400" dirty="0"/>
          </a:p>
        </p:txBody>
      </p:sp>
      <p:sp>
        <p:nvSpPr>
          <p:cNvPr id="7" name="Investment panel"/>
          <p:cNvSpPr/>
          <p:nvPr/>
        </p:nvSpPr>
        <p:spPr>
          <a:xfrm>
            <a:off x="5486400" y="1280160"/>
            <a:ext cx="3200400" cy="3246120"/>
          </a:xfrm>
          <a:prstGeom prst="roundRect">
            <a:avLst>
              <a:gd name="adj" fmla="val 2286"/>
            </a:avLst>
          </a:prstGeom>
          <a:solidFill>
            <a:schemeClr val="tx2"/>
          </a:solidFill>
          <a:ln/>
        </p:spPr>
      </p:sp>
      <p:sp>
        <p:nvSpPr>
          <p:cNvPr id="8" name="Text 6"/>
          <p:cNvSpPr txBox="1"/>
          <p:nvPr/>
        </p:nvSpPr>
        <p:spPr>
          <a:xfrm>
            <a:off x="5715000" y="1463040"/>
            <a:ext cx="2743200" cy="274320"/>
          </a:xfrm>
          <a:prstGeom prst="rect">
            <a:avLst/>
          </a:prstGeom>
          <a:noFill/>
          <a:ln/>
        </p:spPr>
        <p:txBody>
          <a:bodyPr wrap="square" lIns="0" tIns="0" rIns="0" bIns="0" rtlCol="0" anchor="t"/>
          <a:lstStyle/>
          <a:p>
            <a:pPr indent="0" marL="0">
              <a:buNone/>
            </a:pPr>
            <a:r>
              <a:rPr lang="en-US" sz="1200" b="1" dirty="0">
                <a:solidFill>
                  <a:schemeClr val="accent1"/>
                </a:solidFill>
              </a:rPr>
              <a:t>UT AI RESEARCH ACCELERATOR</a:t>
            </a:r>
            <a:endParaRPr lang="en-US" sz="1200" dirty="0"/>
          </a:p>
        </p:txBody>
      </p:sp>
      <p:sp>
        <p:nvSpPr>
          <p:cNvPr id="9" name="Text 7"/>
          <p:cNvSpPr txBox="1"/>
          <p:nvPr/>
        </p:nvSpPr>
        <p:spPr>
          <a:xfrm>
            <a:off x="5715000" y="1828800"/>
            <a:ext cx="2743200" cy="274320"/>
          </a:xfrm>
          <a:prstGeom prst="rect">
            <a:avLst/>
          </a:prstGeom>
          <a:noFill/>
          <a:ln/>
        </p:spPr>
        <p:txBody>
          <a:bodyPr wrap="square" lIns="0" tIns="0" rIns="0" bIns="0" rtlCol="0" anchor="t"/>
          <a:lstStyle/>
          <a:p>
            <a:pPr indent="0" marL="0">
              <a:buNone/>
            </a:pPr>
            <a:r>
              <a:rPr lang="en-US" sz="1400" dirty="0">
                <a:solidFill>
                  <a:schemeClr val="bg2"/>
                </a:solidFill>
              </a:rPr>
              <a:t>Cakupan program</a:t>
            </a:r>
            <a:endParaRPr lang="en-US" sz="1400" dirty="0"/>
          </a:p>
        </p:txBody>
      </p:sp>
      <p:sp>
        <p:nvSpPr>
          <p:cNvPr id="10" name="Text 8"/>
          <p:cNvSpPr txBox="1"/>
          <p:nvPr/>
        </p:nvSpPr>
        <p:spPr>
          <a:xfrm>
            <a:off x="5715000" y="2103120"/>
            <a:ext cx="274320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Hingga 300 peserta</a:t>
            </a:r>
            <a:endParaRPr lang="en-US" sz="2400" dirty="0"/>
          </a:p>
        </p:txBody>
      </p:sp>
      <p:sp>
        <p:nvSpPr>
          <p:cNvPr id="11" name="Text 9"/>
          <p:cNvSpPr txBox="1"/>
          <p:nvPr/>
        </p:nvSpPr>
        <p:spPr>
          <a:xfrm>
            <a:off x="5715000" y="2560320"/>
            <a:ext cx="2743200" cy="548640"/>
          </a:xfrm>
          <a:prstGeom prst="rect">
            <a:avLst/>
          </a:prstGeom>
          <a:noFill/>
          <a:ln/>
        </p:spPr>
        <p:txBody>
          <a:bodyPr wrap="square" lIns="0" tIns="0" rIns="0" bIns="0" rtlCol="0" anchor="t"/>
          <a:lstStyle/>
          <a:p>
            <a:pPr indent="0" marL="0">
              <a:buNone/>
            </a:pPr>
            <a:r>
              <a:rPr lang="en-US" sz="1400" dirty="0">
                <a:solidFill>
                  <a:schemeClr val="bg2"/>
                </a:solidFill>
              </a:rPr>
              <a:t>dosen, peneliti, dan mahasiswa pascasarjana</a:t>
            </a:r>
            <a:endParaRPr lang="en-US" sz="1400" dirty="0"/>
          </a:p>
        </p:txBody>
      </p:sp>
      <p:sp>
        <p:nvSpPr>
          <p:cNvPr id="12" name="Text 10"/>
          <p:cNvSpPr txBox="1"/>
          <p:nvPr/>
        </p:nvSpPr>
        <p:spPr>
          <a:xfrm>
            <a:off x="5715000" y="3246120"/>
            <a:ext cx="2743200" cy="274320"/>
          </a:xfrm>
          <a:prstGeom prst="rect">
            <a:avLst/>
          </a:prstGeom>
          <a:noFill/>
          <a:ln/>
        </p:spPr>
        <p:txBody>
          <a:bodyPr wrap="square" lIns="0" tIns="0" rIns="0" bIns="0" rtlCol="0" anchor="t"/>
          <a:lstStyle/>
          <a:p>
            <a:pPr indent="0" marL="0">
              <a:buNone/>
            </a:pPr>
            <a:r>
              <a:rPr lang="en-US" sz="1400" dirty="0">
                <a:solidFill>
                  <a:schemeClr val="bg2"/>
                </a:solidFill>
              </a:rPr>
              <a:t>Nilai investasi</a:t>
            </a:r>
            <a:endParaRPr lang="en-US" sz="1400" dirty="0"/>
          </a:p>
        </p:txBody>
      </p:sp>
      <p:sp>
        <p:nvSpPr>
          <p:cNvPr id="13" name="Text 11"/>
          <p:cNvSpPr txBox="1"/>
          <p:nvPr/>
        </p:nvSpPr>
        <p:spPr>
          <a:xfrm>
            <a:off x="5715000" y="3520440"/>
            <a:ext cx="2743200" cy="822960"/>
          </a:xfrm>
          <a:prstGeom prst="rect">
            <a:avLst/>
          </a:prstGeom>
          <a:noFill/>
          <a:ln/>
        </p:spPr>
        <p:txBody>
          <a:bodyPr wrap="square" lIns="0" tIns="0" rIns="0" bIns="0" rtlCol="0" anchor="t"/>
          <a:lstStyle/>
          <a:p>
            <a:pPr indent="0" marL="0">
              <a:buNone/>
            </a:pPr>
            <a:r>
              <a:rPr lang="en-US" sz="1500" b="1" dirty="0">
                <a:solidFill>
                  <a:schemeClr val="bg1"/>
                </a:solidFill>
              </a:rPr>
              <a:t>Disusun setelah konfirmasi jumlah peserta dan cakupan</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822960"/>
          </a:xfrm>
          <a:prstGeom prst="rect">
            <a:avLst/>
          </a:prstGeom>
          <a:noFill/>
          <a:ln/>
        </p:spPr>
        <p:txBody>
          <a:bodyPr wrap="square" lIns="0" tIns="0" rIns="0" bIns="0" rtlCol="0" anchor="t"/>
          <a:lstStyle/>
          <a:p>
            <a:pPr algn="l" indent="0" marL="0">
              <a:buNone/>
            </a:pPr>
            <a:r>
              <a:rPr lang="en-US" sz="3600" b="1" dirty="0">
                <a:solidFill>
                  <a:schemeClr val="bg1"/>
                </a:solidFill>
              </a:rPr>
              <a:t>Langkah Selanjutnya</a:t>
            </a:r>
            <a:endParaRPr lang="en-US" sz="3600" dirty="0"/>
          </a:p>
        </p:txBody>
      </p:sp>
      <p:sp>
        <p:nvSpPr>
          <p:cNvPr id="3" name="Text 0"/>
          <p:cNvSpPr/>
          <p:nvPr>
            <p:ph idx="101" type="body" hasCustomPrompt="1"/>
          </p:nvPr>
        </p:nvSpPr>
        <p:spPr>
          <a:xfrm>
            <a:off x="548640" y="1691640"/>
            <a:ext cx="8046720" cy="548640"/>
          </a:xfrm>
          <a:prstGeom prst="rect">
            <a:avLst/>
          </a:prstGeom>
          <a:noFill/>
          <a:ln/>
        </p:spPr>
        <p:txBody>
          <a:bodyPr wrap="square" lIns="0" tIns="0" rIns="0" bIns="0" rtlCol="0" anchor="t"/>
          <a:lstStyle/>
          <a:p>
            <a:pPr algn="l" indent="0" marL="0">
              <a:buNone/>
            </a:pPr>
            <a:r>
              <a:rPr lang="en-US" sz="1800" dirty="0">
                <a:solidFill>
                  <a:schemeClr val="accent1"/>
                </a:solidFill>
              </a:rPr>
              <a:t>Mari mulai dari pilot yang terukur</a:t>
            </a:r>
            <a:endParaRPr lang="en-US" sz="1800" dirty="0"/>
          </a:p>
        </p:txBody>
      </p:sp>
      <p:sp>
        <p:nvSpPr>
          <p:cNvPr id="4" name="Next step card 1"/>
          <p:cNvSpPr/>
          <p:nvPr/>
        </p:nvSpPr>
        <p:spPr>
          <a:xfrm>
            <a:off x="548640" y="2560320"/>
            <a:ext cx="1874520" cy="1783080"/>
          </a:xfrm>
          <a:prstGeom prst="roundRect">
            <a:avLst>
              <a:gd name="adj" fmla="val 4103"/>
            </a:avLst>
          </a:prstGeom>
          <a:solidFill>
            <a:schemeClr val="accent4"/>
          </a:solidFill>
          <a:ln/>
        </p:spPr>
      </p:sp>
      <p:sp>
        <p:nvSpPr>
          <p:cNvPr id="5" name="Text 3"/>
          <p:cNvSpPr txBox="1"/>
          <p:nvPr/>
        </p:nvSpPr>
        <p:spPr>
          <a:xfrm>
            <a:off x="731520" y="2743200"/>
            <a:ext cx="15544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731520" y="3246120"/>
            <a:ext cx="1554480" cy="548640"/>
          </a:xfrm>
          <a:prstGeom prst="rect">
            <a:avLst/>
          </a:prstGeom>
          <a:noFill/>
          <a:ln/>
        </p:spPr>
        <p:txBody>
          <a:bodyPr wrap="square" lIns="0" tIns="0" rIns="0" bIns="0" rtlCol="0" anchor="t"/>
          <a:lstStyle/>
          <a:p>
            <a:pPr indent="0" marL="0">
              <a:buNone/>
            </a:pPr>
            <a:r>
              <a:rPr lang="en-US" sz="1600" b="1" dirty="0">
                <a:solidFill>
                  <a:schemeClr val="bg1"/>
                </a:solidFill>
              </a:rPr>
              <a:t>Diskusi kebutuhan</a:t>
            </a:r>
            <a:endParaRPr lang="en-US" sz="1600" dirty="0"/>
          </a:p>
        </p:txBody>
      </p:sp>
      <p:sp>
        <p:nvSpPr>
          <p:cNvPr id="7" name="Text 5"/>
          <p:cNvSpPr txBox="1"/>
          <p:nvPr/>
        </p:nvSpPr>
        <p:spPr>
          <a:xfrm>
            <a:off x="731520" y="3794760"/>
            <a:ext cx="1554480" cy="457200"/>
          </a:xfrm>
          <a:prstGeom prst="rect">
            <a:avLst/>
          </a:prstGeom>
          <a:noFill/>
          <a:ln/>
        </p:spPr>
        <p:txBody>
          <a:bodyPr wrap="square" lIns="0" tIns="0" rIns="0" bIns="0" rtlCol="0" anchor="t"/>
          <a:lstStyle/>
          <a:p>
            <a:pPr indent="0" marL="0">
              <a:buNone/>
            </a:pPr>
            <a:r>
              <a:rPr lang="en-US" sz="1400" dirty="0">
                <a:solidFill>
                  <a:schemeClr val="bg2"/>
                </a:solidFill>
              </a:rPr>
              <a:t>Prioritas bidang riset UT</a:t>
            </a:r>
            <a:endParaRPr lang="en-US" sz="1400" dirty="0"/>
          </a:p>
        </p:txBody>
      </p:sp>
      <p:sp>
        <p:nvSpPr>
          <p:cNvPr id="8" name="Next step card 2"/>
          <p:cNvSpPr/>
          <p:nvPr/>
        </p:nvSpPr>
        <p:spPr>
          <a:xfrm>
            <a:off x="2606040" y="2560320"/>
            <a:ext cx="1874520" cy="1783080"/>
          </a:xfrm>
          <a:prstGeom prst="roundRect">
            <a:avLst>
              <a:gd name="adj" fmla="val 4103"/>
            </a:avLst>
          </a:prstGeom>
          <a:solidFill>
            <a:schemeClr val="accent4"/>
          </a:solidFill>
          <a:ln/>
        </p:spPr>
      </p:sp>
      <p:sp>
        <p:nvSpPr>
          <p:cNvPr id="9" name="Text 7"/>
          <p:cNvSpPr txBox="1"/>
          <p:nvPr/>
        </p:nvSpPr>
        <p:spPr>
          <a:xfrm>
            <a:off x="2788920" y="2743200"/>
            <a:ext cx="15544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2788920" y="3246120"/>
            <a:ext cx="1554480" cy="548640"/>
          </a:xfrm>
          <a:prstGeom prst="rect">
            <a:avLst/>
          </a:prstGeom>
          <a:noFill/>
          <a:ln/>
        </p:spPr>
        <p:txBody>
          <a:bodyPr wrap="square" lIns="0" tIns="0" rIns="0" bIns="0" rtlCol="0" anchor="t"/>
          <a:lstStyle/>
          <a:p>
            <a:pPr indent="0" marL="0">
              <a:buNone/>
            </a:pPr>
            <a:r>
              <a:rPr lang="en-US" sz="1600" b="1" dirty="0">
                <a:solidFill>
                  <a:schemeClr val="bg1"/>
                </a:solidFill>
              </a:rPr>
              <a:t>Konfirmasi cakupan</a:t>
            </a:r>
            <a:endParaRPr lang="en-US" sz="1600" dirty="0"/>
          </a:p>
        </p:txBody>
      </p:sp>
      <p:sp>
        <p:nvSpPr>
          <p:cNvPr id="11" name="Text 9"/>
          <p:cNvSpPr txBox="1"/>
          <p:nvPr/>
        </p:nvSpPr>
        <p:spPr>
          <a:xfrm>
            <a:off x="2788920" y="3794760"/>
            <a:ext cx="1554480" cy="457200"/>
          </a:xfrm>
          <a:prstGeom prst="rect">
            <a:avLst/>
          </a:prstGeom>
          <a:noFill/>
          <a:ln/>
        </p:spPr>
        <p:txBody>
          <a:bodyPr wrap="square" lIns="0" tIns="0" rIns="0" bIns="0" rtlCol="0" anchor="t"/>
          <a:lstStyle/>
          <a:p>
            <a:pPr indent="0" marL="0">
              <a:buNone/>
            </a:pPr>
            <a:r>
              <a:rPr lang="en-US" sz="1400" dirty="0">
                <a:solidFill>
                  <a:schemeClr val="bg2"/>
                </a:solidFill>
              </a:rPr>
              <a:t>Jumlah peserta dan jadwal</a:t>
            </a:r>
            <a:endParaRPr lang="en-US" sz="1400" dirty="0"/>
          </a:p>
        </p:txBody>
      </p:sp>
      <p:sp>
        <p:nvSpPr>
          <p:cNvPr id="12" name="Next step card 3"/>
          <p:cNvSpPr/>
          <p:nvPr/>
        </p:nvSpPr>
        <p:spPr>
          <a:xfrm>
            <a:off x="4663440" y="2560320"/>
            <a:ext cx="1874520" cy="1783080"/>
          </a:xfrm>
          <a:prstGeom prst="roundRect">
            <a:avLst>
              <a:gd name="adj" fmla="val 4103"/>
            </a:avLst>
          </a:prstGeom>
          <a:solidFill>
            <a:schemeClr val="accent4"/>
          </a:solidFill>
          <a:ln/>
        </p:spPr>
      </p:sp>
      <p:sp>
        <p:nvSpPr>
          <p:cNvPr id="13" name="Text 11"/>
          <p:cNvSpPr txBox="1"/>
          <p:nvPr/>
        </p:nvSpPr>
        <p:spPr>
          <a:xfrm>
            <a:off x="4846320" y="2743200"/>
            <a:ext cx="15544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4846320" y="3246120"/>
            <a:ext cx="1554480" cy="548640"/>
          </a:xfrm>
          <a:prstGeom prst="rect">
            <a:avLst/>
          </a:prstGeom>
          <a:noFill/>
          <a:ln/>
        </p:spPr>
        <p:txBody>
          <a:bodyPr wrap="square" lIns="0" tIns="0" rIns="0" bIns="0" rtlCol="0" anchor="t"/>
          <a:lstStyle/>
          <a:p>
            <a:pPr indent="0" marL="0">
              <a:buNone/>
            </a:pPr>
            <a:r>
              <a:rPr lang="en-US" sz="1600" b="1" dirty="0">
                <a:solidFill>
                  <a:schemeClr val="bg1"/>
                </a:solidFill>
              </a:rPr>
              <a:t>Pilot batch</a:t>
            </a:r>
            <a:endParaRPr lang="en-US" sz="1600" dirty="0"/>
          </a:p>
        </p:txBody>
      </p:sp>
      <p:sp>
        <p:nvSpPr>
          <p:cNvPr id="15" name="Text 13"/>
          <p:cNvSpPr txBox="1"/>
          <p:nvPr/>
        </p:nvSpPr>
        <p:spPr>
          <a:xfrm>
            <a:off x="4846320" y="3794760"/>
            <a:ext cx="1554480" cy="457200"/>
          </a:xfrm>
          <a:prstGeom prst="rect">
            <a:avLst/>
          </a:prstGeom>
          <a:noFill/>
          <a:ln/>
        </p:spPr>
        <p:txBody>
          <a:bodyPr wrap="square" lIns="0" tIns="0" rIns="0" bIns="0" rtlCol="0" anchor="t"/>
          <a:lstStyle/>
          <a:p>
            <a:pPr indent="0" marL="0">
              <a:buNone/>
            </a:pPr>
            <a:r>
              <a:rPr lang="en-US" sz="1400" dirty="0">
                <a:solidFill>
                  <a:schemeClr val="bg2"/>
                </a:solidFill>
              </a:rPr>
              <a:t>±50 peserta, 1 siklus</a:t>
            </a:r>
            <a:endParaRPr lang="en-US" sz="1400" dirty="0"/>
          </a:p>
        </p:txBody>
      </p:sp>
      <p:sp>
        <p:nvSpPr>
          <p:cNvPr id="16" name="Next step card 4"/>
          <p:cNvSpPr/>
          <p:nvPr/>
        </p:nvSpPr>
        <p:spPr>
          <a:xfrm>
            <a:off x="6720840" y="2560320"/>
            <a:ext cx="1874520" cy="1783080"/>
          </a:xfrm>
          <a:prstGeom prst="roundRect">
            <a:avLst>
              <a:gd name="adj" fmla="val 4103"/>
            </a:avLst>
          </a:prstGeom>
          <a:solidFill>
            <a:schemeClr val="accent4"/>
          </a:solidFill>
          <a:ln/>
        </p:spPr>
      </p:sp>
      <p:sp>
        <p:nvSpPr>
          <p:cNvPr id="17" name="Text 15"/>
          <p:cNvSpPr txBox="1"/>
          <p:nvPr/>
        </p:nvSpPr>
        <p:spPr>
          <a:xfrm>
            <a:off x="6903720" y="2743200"/>
            <a:ext cx="15544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6903720" y="3246120"/>
            <a:ext cx="1554480" cy="548640"/>
          </a:xfrm>
          <a:prstGeom prst="rect">
            <a:avLst/>
          </a:prstGeom>
          <a:noFill/>
          <a:ln/>
        </p:spPr>
        <p:txBody>
          <a:bodyPr wrap="square" lIns="0" tIns="0" rIns="0" bIns="0" rtlCol="0" anchor="t"/>
          <a:lstStyle/>
          <a:p>
            <a:pPr indent="0" marL="0">
              <a:buNone/>
            </a:pPr>
            <a:r>
              <a:rPr lang="en-US" sz="1600" b="1" dirty="0">
                <a:solidFill>
                  <a:schemeClr val="bg1"/>
                </a:solidFill>
              </a:rPr>
              <a:t>Skala penuh</a:t>
            </a:r>
            <a:endParaRPr lang="en-US" sz="1600" dirty="0"/>
          </a:p>
        </p:txBody>
      </p:sp>
      <p:sp>
        <p:nvSpPr>
          <p:cNvPr id="19" name="Text 17"/>
          <p:cNvSpPr txBox="1"/>
          <p:nvPr/>
        </p:nvSpPr>
        <p:spPr>
          <a:xfrm>
            <a:off x="6903720" y="3794760"/>
            <a:ext cx="1554480" cy="457200"/>
          </a:xfrm>
          <a:prstGeom prst="rect">
            <a:avLst/>
          </a:prstGeom>
          <a:noFill/>
          <a:ln/>
        </p:spPr>
        <p:txBody>
          <a:bodyPr wrap="square" lIns="0" tIns="0" rIns="0" bIns="0" rtlCol="0" anchor="t"/>
          <a:lstStyle/>
          <a:p>
            <a:pPr indent="0" marL="0">
              <a:buNone/>
            </a:pPr>
            <a:r>
              <a:rPr lang="en-US" sz="1400" dirty="0">
                <a:solidFill>
                  <a:schemeClr val="bg2"/>
                </a:solidFill>
              </a:rPr>
              <a:t>Berdasarkan hasil pilot</a:t>
            </a:r>
            <a:endParaRPr lang="en-US" sz="1400" dirty="0"/>
          </a:p>
        </p:txBody>
      </p:sp>
    </p:spTree>
  </p:cSld>
  <p:clrMapOvr>
    <a:masterClrMapping/>
  </p:clrMapOvr>
</p:sld>
</file>

<file path=ppt/theme/theme1.xml><?xml version="1.0" encoding="utf-8"?>
<a:theme xmlns:a="http://schemas.openxmlformats.org/drawingml/2006/main" name="Research Ink">
  <a:themeElements>
    <a:clrScheme name="Research Ink">
      <a:dk1>
        <a:srgbClr val="1B1F24"/>
      </a:dk1>
      <a:lt1>
        <a:srgbClr val="FFFFFF"/>
      </a:lt1>
      <a:dk2>
        <a:srgbClr val="13343B"/>
      </a:dk2>
      <a:lt2>
        <a:srgbClr val="EEF4F3"/>
      </a:lt2>
      <a:accent1>
        <a:srgbClr val="F2A541"/>
      </a:accent1>
      <a:accent2>
        <a:srgbClr val="2A9D8F"/>
      </a:accent2>
      <a:accent3>
        <a:srgbClr val="E76F51"/>
      </a:accent3>
      <a:accent4>
        <a:srgbClr val="264653"/>
      </a:accent4>
      <a:accent5>
        <a:srgbClr val="8AB17D"/>
      </a:accent5>
      <a:accent6>
        <a:srgbClr val="6C757D"/>
      </a:accent6>
      <a:hlink>
        <a:srgbClr val="2A9D8F"/>
      </a:hlink>
      <a:folHlink>
        <a:srgbClr val="264653"/>
      </a:folHlink>
    </a:clrScheme>
    <a:fontScheme name="Resear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PT Pusat Inovasi Nusantara (IYKRA)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Research Accelerator — Universitas Terbuka</dc:title>
  <dc:subject>PptxGenJS Presentation</dc:subject>
  <dc:creator>IYKRA</dc:creator>
  <cp:lastModifiedBy>IYKRA</cp:lastModifiedBy>
  <cp:revision>1</cp:revision>
  <dcterms:created xsi:type="dcterms:W3CDTF">2026-10-05T10:15:48Z</dcterms:created>
  <dcterms:modified xsi:type="dcterms:W3CDTF">2026-10-05T10:15:48Z</dcterms:modified>
</cp:coreProperties>
</file>