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84e49072-79e7-05ed-1b9e-d748ce4972d3}">
          <p14:sldIdLst>
            <p14:sldId id="256"/>
            <p14:sldId id="257"/>
          </p14:sldIdLst>
        </p14:section>
        <p14:section name="01 Tentang IYKRA" id="{0011875f-8abf-4b46-c67b-2bd24d5c6835}">
          <p14:sldIdLst>
            <p14:sldId id="258"/>
            <p14:sldId id="259"/>
          </p14:sldIdLst>
        </p14:section>
        <p14:section name="02 Pendahuluan" id="{6844dacd-cb67-ce80-506e-e79909c20834}">
          <p14:sldIdLst>
            <p14:sldId id="260"/>
            <p14:sldId id="261"/>
            <p14:sldId id="262"/>
            <p14:sldId id="263"/>
          </p14:sldIdLst>
        </p14:section>
        <p14:section name="03 UT AI Research Accelerator" id="{d4d2d338-b81b-fced-e062-329822db4ceb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04 Investasi" id="{08259e5d-6c3c-75e7-5b1e-2cdeee874b09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334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3343B"/>
                </a:solidFill>
                <a:latin typeface="+mn-lt"/>
              </a:rPr>
              <a:t>Persentase peneliti (survei global)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6C757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Menggunakan AI</c:v>
                  </c:pt>
                  <c:pt idx="1">
                    <c:v>AI untuk riset &amp; publikasi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</c:v>
                </c:pt>
                <c:pt idx="1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Menggunakan AI</c:v>
                  </c:pt>
                  <c:pt idx="1">
                    <c:v>AI untuk riset &amp; publikasi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84</c:v>
                </c:pt>
                <c:pt idx="1">
                  <c:v>62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Pembukaan. Program ini adalah kelanjutan dari UT AI Career Accelerator, kini difokuskan pada riset akademik: bagaimana dosen, peneliti, dan mahasiswa pascasarjana memakai AI secara produktif, terverifikasi, dan sesuai etika riset.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Struktur deck mengikuti proposal UT AI Career Accelerator agar mudah dibandingkan.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Angka diambil dari proposal UT AI Career Accelerator (Januari 2026). Perbarui jika ada data terbaru.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Wiley ExplanAItions 2025, survei 2.430 peneliti (Agustus 2025). Penggunaan AI naik dari 57% (2024) ke 84% (2025); penggunaan untuk tugas riset dan publikasi naik dari 45% ke 62%. 85% merasa lebih efisien. 80% memakai tools umum seperti ChatGPT, hanya 25% pernah mencoba tools khusus riset.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Wiley ExplanAItions 2025: kekhawatiran akurasi/hallucination naik dari 51% ke 64%, privasi dan keamanan dari 47% ke 58%; 57% menyebut kurangnya pedoman dan pelatihan. Walters &amp; Wilder (2023), 'Fabrication and errors in the bibliographic citations generated by ChatGPT', Scientific Reports: 55% sitasi GPT-3.5 dan 18% sitasi GPT-4 fiktif.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Kerangka ini paralel dengan Understand–Apply–Solve–Reflect pada program karier, disesuaikan untuk siklus riset. Tahap VERIFY sengaja dibuat eksplisit karena risiko terbesar AI dalam riset adalah sumber dan angka yang tidak terverifikasi.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Strukturnya sejajar dengan program karier: assessment, fondasi, aplikasi, output, reporting. Bedanya, aplikasi dilakukan pada proyek riset nyata milik peserta.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 inti sama untuk semua jalur; kasus, contoh, dan output disesuaikan per jalur. Komposisi peserta per jalur dikonfirmasi bersama 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clinic adalah pembeda utama dari kursus AI umum: peserta membawa proyek riset sendiri dan mendapat umpan balik langsung.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butir untuk empat dimensi. Butir pengetahuan dan aplikasi disusun dalam dua versi paralel untuk baseline dan endline.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1 menyamakan fondasi. Modul integritas ditempatkan di awal, sebelum toolkit, agar praktik yang benar terbentuk sejak awal.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sesi live (alur riset dan demo) ditambah clinic kelompok kecil per bidang. Tahap VERIFY disorot karena di sinilah AI paling sering menyesatkan.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tools nyata yang umum dipakai; pilihan akhir disesuaikan dengan lisensi UT. Prinsipnya: AI boleh mempercepat setiap tahap, tetapi kolom kanan selalu dikerjakan oleh peneliti.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kasus untuk clinic. Pembagian peran ditekankan: AI mempercepat penelusuran, screening awal, dan ekstraksi; keputusan inklusi dan interpretasi tetap milik peneliti.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setara dengan Career Preparation pada program karier: mengubah pengalaman menjadi output yang bernilai, di sini berupa output riset dan dokumen integritas.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COPE Position Statement 'Authorship and AI tools' (2023): AI tidak dapat dicantumkan sebagai penulis; penggunaan AI harus diungkapkan. Penerbit besar seperti Springer Nature dan Elsevier menerapkan prinsip serupa. Cek kebijakan terbaru jurnal target sebelum sesi.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dan frekuensi laporan dapat diselaraskan dengan kebutuhan LPPM 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Usulan cakupan 300 peserta adalah asumsi awal untuk diskusi; research clinic membutuhkan kelompok kecil sehingga skalanya lebih kecil dari program karier (1.000 mahasiswa). Nilai investasi sengaja belum dicantumkan.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 Usulkan pilot kecil terlebih dahulu untuk menguji materi dan mengukur dampak sebelum skala penuh.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1206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© 2026 PT Pusat Inovasi Nusantara (IYKRA). Confidential and proprietary.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2743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1752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4663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© 2026 PT Pusat Inovasi Nusantara (IYKRA). Confidential and proprietary.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548640" y="4663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© 2026 PT Pusat Inovasi Nusantara (IYKRA). Confidential and proprietary.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00" kern="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© 2026 PT Pusat Inovasi Nusantara (IYKRA). Confidential and proprietary.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Research Accelerator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Dari Literasi AI menuju Dampak Riset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Program untuk dosen, peneliti, dan mahasiswa pascasarjana Universitas Terbuka · Oktober 2026</a:t>
            </a:r>
            <a:endParaRPr lang="en-US" sz="1800" dirty="0"/>
          </a:p>
        </p:txBody>
      </p:sp>
      <p:sp>
        <p:nvSpPr>
          <p:cNvPr id="4" name="Cover motif FaMagnifyingGlass circle"/>
          <p:cNvSpPr/>
          <p:nvPr/>
        </p:nvSpPr>
        <p:spPr>
          <a:xfrm>
            <a:off x="6537960" y="9144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ver motif FaMagnifyingGlass icon" descr="Cover motif 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43000"/>
            <a:ext cx="457200" cy="457200"/>
          </a:xfrm>
          <a:prstGeom prst="rect">
            <a:avLst/>
          </a:prstGeom>
        </p:spPr>
      </p:pic>
      <p:sp>
        <p:nvSpPr>
          <p:cNvPr id="6" name="Cover motif FaBookOpen circle"/>
          <p:cNvSpPr/>
          <p:nvPr/>
        </p:nvSpPr>
        <p:spPr>
          <a:xfrm>
            <a:off x="7635240" y="16002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Cover motif FaBookOpen icon" descr="Cover motif FaBook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0"/>
            <a:ext cx="457200" cy="457200"/>
          </a:xfrm>
          <a:prstGeom prst="rect">
            <a:avLst/>
          </a:prstGeom>
        </p:spPr>
      </p:pic>
      <p:sp>
        <p:nvSpPr>
          <p:cNvPr id="8" name="Cover motif FaChartColumn circle"/>
          <p:cNvSpPr/>
          <p:nvPr/>
        </p:nvSpPr>
        <p:spPr>
          <a:xfrm>
            <a:off x="653796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Cover motif FaChartColumn icon" descr="Cover motif FaChartColum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14600"/>
            <a:ext cx="457200" cy="457200"/>
          </a:xfrm>
          <a:prstGeom prst="rect">
            <a:avLst/>
          </a:prstGeom>
        </p:spPr>
      </p:pic>
      <p:sp>
        <p:nvSpPr>
          <p:cNvPr id="10" name="Cover motif FaPenNib circle"/>
          <p:cNvSpPr/>
          <p:nvPr/>
        </p:nvSpPr>
        <p:spPr>
          <a:xfrm>
            <a:off x="7635240" y="2971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Cover motif FaPenNib icon" descr="Cover motif FaPenNi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20040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DAFTAR ISI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Agenda</a:t>
            </a:r>
            <a:endParaRPr lang="en-US" sz="3000" dirty="0"/>
          </a:p>
        </p:txBody>
      </p:sp>
      <p:sp>
        <p:nvSpPr>
          <p:cNvPr id="4" name="Agenda card 01"/>
          <p:cNvSpPr/>
          <p:nvPr/>
        </p:nvSpPr>
        <p:spPr>
          <a:xfrm>
            <a:off x="457200" y="13258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5544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Tentang IYKRA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9476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Kapabilitas dan pengalaman kami dalam AI dan pengembangan talenta</a:t>
            </a:r>
            <a:endParaRPr lang="en-US" sz="1400" dirty="0"/>
          </a:p>
        </p:txBody>
      </p:sp>
      <p:sp>
        <p:nvSpPr>
          <p:cNvPr id="8" name="Agenda card 02"/>
          <p:cNvSpPr/>
          <p:nvPr/>
        </p:nvSpPr>
        <p:spPr>
          <a:xfrm>
            <a:off x="4663440" y="13258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544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5544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Pendahuluan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19476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mengubah cara riset dilakukan, dan kesiapan peneliti tertinggal</a:t>
            </a:r>
            <a:endParaRPr lang="en-US" sz="1400" dirty="0"/>
          </a:p>
        </p:txBody>
      </p:sp>
      <p:sp>
        <p:nvSpPr>
          <p:cNvPr id="12" name="Agenda card 03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1546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UT AI Research Accelerator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5478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Program dari literasi AI hingga output riset siap publikasi</a:t>
            </a:r>
            <a:endParaRPr lang="en-US" sz="1400" dirty="0"/>
          </a:p>
        </p:txBody>
      </p:sp>
      <p:sp>
        <p:nvSpPr>
          <p:cNvPr id="16" name="Agenda card 04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15468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31546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Investasi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35478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Skema implementasi dan cakupan program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Tentang IYKRA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17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Data, AI, dan pengembangan talenta, selalu dimulai dari kapabilitas manusia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01 · TENTANG IYKRA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 Tahun Membangun Talenta Data dan 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IYKRA adalah mitra solusi data, AI, dan teknologi yang membantu organisasi mengubah data menjadi insight, solusi digital, dan dampak bisnis yang terukur.</a:t>
            </a:r>
            <a:endParaRPr lang="en-US" sz="1500" dirty="0"/>
          </a:p>
        </p:txBody>
      </p:sp>
      <p:sp>
        <p:nvSpPr>
          <p:cNvPr id="5" name="Capability dot 1"/>
          <p:cNvSpPr/>
          <p:nvPr/>
        </p:nvSpPr>
        <p:spPr>
          <a:xfrm>
            <a:off x="457200" y="2468880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Business &amp; AI Advisory</a:t>
            </a:r>
            <a:endParaRPr lang="en-US" sz="1400" dirty="0"/>
          </a:p>
        </p:txBody>
      </p:sp>
      <p:sp>
        <p:nvSpPr>
          <p:cNvPr id="7" name="Capability dot 2"/>
          <p:cNvSpPr/>
          <p:nvPr/>
        </p:nvSpPr>
        <p:spPr>
          <a:xfrm>
            <a:off x="457200" y="2898648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8072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 &amp; AI Solution Delivery</a:t>
            </a:r>
            <a:endParaRPr lang="en-US" sz="1400" dirty="0"/>
          </a:p>
        </p:txBody>
      </p:sp>
      <p:sp>
        <p:nvSpPr>
          <p:cNvPr id="9" name="Capability dot 3"/>
          <p:cNvSpPr/>
          <p:nvPr/>
        </p:nvSpPr>
        <p:spPr>
          <a:xfrm>
            <a:off x="457200" y="3328416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People &amp; Capability Development</a:t>
            </a:r>
            <a:endParaRPr lang="en-US" sz="1400" dirty="0"/>
          </a:p>
        </p:txBody>
      </p:sp>
      <p:sp>
        <p:nvSpPr>
          <p:cNvPr id="11" name="Capability dot 4"/>
          <p:cNvSpPr/>
          <p:nvPr/>
        </p:nvSpPr>
        <p:spPr>
          <a:xfrm>
            <a:off x="457200" y="3758184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666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Managed Service &amp; Talent Support</a:t>
            </a:r>
            <a:endParaRPr lang="en-US" sz="1400" dirty="0"/>
          </a:p>
        </p:txBody>
      </p:sp>
      <p:sp>
        <p:nvSpPr>
          <p:cNvPr id="13" name="Capability dot 5"/>
          <p:cNvSpPr/>
          <p:nvPr/>
        </p:nvSpPr>
        <p:spPr>
          <a:xfrm>
            <a:off x="457200" y="4187952"/>
            <a:ext cx="164592" cy="16459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09651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Product Innovation</a:t>
            </a:r>
            <a:endParaRPr lang="en-US" sz="1400" dirty="0"/>
          </a:p>
        </p:txBody>
      </p:sp>
      <p:sp>
        <p:nvSpPr>
          <p:cNvPr id="15" name="Stat card Tahun beroperasi"/>
          <p:cNvSpPr/>
          <p:nvPr/>
        </p:nvSpPr>
        <p:spPr>
          <a:xfrm>
            <a:off x="4663440" y="1280160"/>
            <a:ext cx="18745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9+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194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Tahun beroperasi</a:t>
            </a:r>
            <a:endParaRPr lang="en-US" sz="1400" dirty="0"/>
          </a:p>
        </p:txBody>
      </p:sp>
      <p:sp>
        <p:nvSpPr>
          <p:cNvPr id="18" name="Stat card Klien enterprise"/>
          <p:cNvSpPr/>
          <p:nvPr/>
        </p:nvSpPr>
        <p:spPr>
          <a:xfrm>
            <a:off x="6720840" y="1280160"/>
            <a:ext cx="18745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0372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90+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1945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Klien enterprise</a:t>
            </a:r>
            <a:endParaRPr lang="en-US" sz="1400" dirty="0"/>
          </a:p>
        </p:txBody>
      </p:sp>
      <p:sp>
        <p:nvSpPr>
          <p:cNvPr id="21" name="Stat card Proyek"/>
          <p:cNvSpPr/>
          <p:nvPr/>
        </p:nvSpPr>
        <p:spPr>
          <a:xfrm>
            <a:off x="4663440" y="2926080"/>
            <a:ext cx="18745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46320" y="3154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3840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Proyek</a:t>
            </a:r>
            <a:endParaRPr lang="en-US" sz="1400" dirty="0"/>
          </a:p>
        </p:txBody>
      </p:sp>
      <p:sp>
        <p:nvSpPr>
          <p:cNvPr id="24" name="Stat card Talenta dikembangkan"/>
          <p:cNvSpPr/>
          <p:nvPr/>
        </p:nvSpPr>
        <p:spPr>
          <a:xfrm>
            <a:off x="6720840" y="2926080"/>
            <a:ext cx="18745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903720" y="3154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4.500+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38404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Talenta dikembangkan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Pendahuluan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17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AI sudah masuk ke setiap tahap riset, tetapi kesiapan peneliti belum mengikuti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02 · PENDAHULUAN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Adopsi AI di Kalangan Peneliti Melonjak</a:t>
            </a:r>
            <a:endParaRPr lang="en-US" sz="3000" dirty="0"/>
          </a:p>
        </p:txBody>
      </p:sp>
      <p:graphicFrame>
        <p:nvGraphicFramePr>
          <p:cNvPr id="4" name="Chart AI adoption 2024 vs 2025" descr=""/>
          <p:cNvGraphicFramePr/>
          <p:nvPr/>
        </p:nvGraphicFramePr>
        <p:xfrm>
          <a:off x="457200" y="1234440"/>
          <a:ext cx="45720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llout efficiency"/>
          <p:cNvSpPr/>
          <p:nvPr/>
        </p:nvSpPr>
        <p:spPr>
          <a:xfrm>
            <a:off x="5349240" y="1234440"/>
            <a:ext cx="333756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577840" y="1371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peneliti merasa AI meningkatkan efisiensi kerja mereka</a:t>
            </a:r>
            <a:endParaRPr lang="en-US" sz="1400" dirty="0"/>
          </a:p>
        </p:txBody>
      </p:sp>
      <p:sp>
        <p:nvSpPr>
          <p:cNvPr id="8" name="Callout specialised tools"/>
          <p:cNvSpPr/>
          <p:nvPr/>
        </p:nvSpPr>
        <p:spPr>
          <a:xfrm>
            <a:off x="5349240" y="2926080"/>
            <a:ext cx="33375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577840" y="3063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37033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yang pernah mencoba tools AI khusus riset; 80% masih memakai chatbot umum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02 · PENDAHULUAN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Adopsi Cepat, Kesiapan Tertinggal</a:t>
            </a:r>
            <a:endParaRPr lang="en-US" sz="3000" dirty="0"/>
          </a:p>
        </p:txBody>
      </p:sp>
      <p:sp>
        <p:nvSpPr>
          <p:cNvPr id="4" name="Gap card 1"/>
          <p:cNvSpPr/>
          <p:nvPr/>
        </p:nvSpPr>
        <p:spPr>
          <a:xfrm>
            <a:off x="457200" y="128016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Gap 1 circl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Gap 1 icon" descr="Ga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031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69748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khawatir soal akurasi dan hallucination AI</a:t>
            </a:r>
            <a:endParaRPr lang="en-US" sz="1400" dirty="0"/>
          </a:p>
        </p:txBody>
      </p:sp>
      <p:sp>
        <p:nvSpPr>
          <p:cNvPr id="9" name="Gap card 2"/>
          <p:cNvSpPr/>
          <p:nvPr/>
        </p:nvSpPr>
        <p:spPr>
          <a:xfrm>
            <a:off x="2560320" y="128016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Gap 2 circle"/>
          <p:cNvSpPr/>
          <p:nvPr/>
        </p:nvSpPr>
        <p:spPr>
          <a:xfrm>
            <a:off x="2743200" y="14630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Gap 2 icon" descr="Gap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002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21031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69748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khawatir soal privasi dan keamanan data</a:t>
            </a:r>
            <a:endParaRPr lang="en-US" sz="1400" dirty="0"/>
          </a:p>
        </p:txBody>
      </p:sp>
      <p:sp>
        <p:nvSpPr>
          <p:cNvPr id="14" name="Gap card 3"/>
          <p:cNvSpPr/>
          <p:nvPr/>
        </p:nvSpPr>
        <p:spPr>
          <a:xfrm>
            <a:off x="4663440" y="128016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5" name="Gap 3 circle"/>
          <p:cNvSpPr/>
          <p:nvPr/>
        </p:nvSpPr>
        <p:spPr>
          <a:xfrm>
            <a:off x="484632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Gap 3 icon" descr="Gap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6002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46320" y="21031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3200" dirty="0"/>
          </a:p>
        </p:txBody>
      </p:sp>
      <p:sp>
        <p:nvSpPr>
          <p:cNvPr id="18" name="Text 13"/>
          <p:cNvSpPr txBox="1"/>
          <p:nvPr/>
        </p:nvSpPr>
        <p:spPr>
          <a:xfrm>
            <a:off x="4846320" y="269748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menyebut kurangnya pedoman dan pelatihan sebagai hambatan utama</a:t>
            </a:r>
            <a:endParaRPr lang="en-US" sz="1400" dirty="0"/>
          </a:p>
        </p:txBody>
      </p:sp>
      <p:sp>
        <p:nvSpPr>
          <p:cNvPr id="19" name="Gap card 4"/>
          <p:cNvSpPr/>
          <p:nvPr/>
        </p:nvSpPr>
        <p:spPr>
          <a:xfrm>
            <a:off x="6766560" y="1280160"/>
            <a:ext cx="1920240" cy="23317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0" name="Gap 4 circle"/>
          <p:cNvSpPr/>
          <p:nvPr/>
        </p:nvSpPr>
        <p:spPr>
          <a:xfrm>
            <a:off x="69494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Gap 4 icon" descr="Gap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6002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9440" y="210312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3200" dirty="0"/>
          </a:p>
        </p:txBody>
      </p:sp>
      <p:sp>
        <p:nvSpPr>
          <p:cNvPr id="23" name="Text 17"/>
          <p:cNvSpPr txBox="1"/>
          <p:nvPr/>
        </p:nvSpPr>
        <p:spPr>
          <a:xfrm>
            <a:off x="6949440" y="269748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sitasi buatan GPT-3.5 terbukti fiktif (GPT-4: 18%)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Artinya: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kebutuhannya bukan sekadar akses ke AI, melainkan kemampuan memakai AI secara benar, terverifikasi, dan sesuai etika riset.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43891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Sumber: Wiley ExplanAItions 2025; Walters &amp; Wilder (2023), Scientific Reports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02 · PENDAHULUAN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Dari Pengguna AI menjadi Peneliti AI-Ready</a:t>
            </a:r>
            <a:endParaRPr lang="en-US" sz="3000" dirty="0"/>
          </a:p>
        </p:txBody>
      </p:sp>
      <p:sp>
        <p:nvSpPr>
          <p:cNvPr id="4" name="Framework card UNDERSTAND"/>
          <p:cNvSpPr/>
          <p:nvPr/>
        </p:nvSpPr>
        <p:spPr>
          <a:xfrm>
            <a:off x="457200" y="1325880"/>
            <a:ext cx="1920240" cy="30175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Framework UNDERSTAND circle"/>
          <p:cNvSpPr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Framework UNDERSTAND icon" descr="Framework UNDERST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66878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00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UNDERSTAND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7432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Memahami cara kerja AI, batasannya, dan kebijakan penggunaannya dalam riset</a:t>
            </a:r>
            <a:endParaRPr lang="en-US" sz="1400" dirty="0"/>
          </a:p>
        </p:txBody>
      </p:sp>
      <p:sp>
        <p:nvSpPr>
          <p:cNvPr id="10" name="Framework card APPLY"/>
          <p:cNvSpPr/>
          <p:nvPr/>
        </p:nvSpPr>
        <p:spPr>
          <a:xfrm>
            <a:off x="2560320" y="1325880"/>
            <a:ext cx="1920240" cy="30175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1" name="Framework APPLY circle"/>
          <p:cNvSpPr/>
          <p:nvPr/>
        </p:nvSpPr>
        <p:spPr>
          <a:xfrm>
            <a:off x="2743200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Framework APPLY icon" descr="Framework APP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6687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1600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APPLY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2743200" y="27432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Menggunakan tools AI yang tepat di setiap tahap riset</a:t>
            </a:r>
            <a:endParaRPr lang="en-US" sz="1400" dirty="0"/>
          </a:p>
        </p:txBody>
      </p:sp>
      <p:sp>
        <p:nvSpPr>
          <p:cNvPr id="16" name="Framework card VERIFY"/>
          <p:cNvSpPr/>
          <p:nvPr/>
        </p:nvSpPr>
        <p:spPr>
          <a:xfrm>
            <a:off x="4663440" y="1325880"/>
            <a:ext cx="1920240" cy="30175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7" name="Framework VERIFY circle"/>
          <p:cNvSpPr/>
          <p:nvPr/>
        </p:nvSpPr>
        <p:spPr>
          <a:xfrm>
            <a:off x="4846320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Framework VERIFY icon" descr="Framework VERIF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40" y="166878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69280" y="1600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VERIFY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4846320" y="27432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Memvalidasi sumber, data, dan hasil analisis dari AI</a:t>
            </a:r>
            <a:endParaRPr lang="en-US" sz="1400" dirty="0"/>
          </a:p>
        </p:txBody>
      </p:sp>
      <p:sp>
        <p:nvSpPr>
          <p:cNvPr id="22" name="Framework card PUBLISH"/>
          <p:cNvSpPr/>
          <p:nvPr/>
        </p:nvSpPr>
        <p:spPr>
          <a:xfrm>
            <a:off x="6766560" y="1325880"/>
            <a:ext cx="1920240" cy="30175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3" name="Framework PUBLISH circle"/>
          <p:cNvSpPr/>
          <p:nvPr/>
        </p:nvSpPr>
        <p:spPr>
          <a:xfrm>
            <a:off x="6949440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Framework PUBLISH icon" descr="Framework PUBLIS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6878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772400" y="1600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6949440" y="274320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Menghasilkan output riset yang transparan dan siap publikasi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UT AI Research Accelerator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17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Program dari literasi AI hingga output riset yang siap publikasi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PROGRAM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Lima Komponen Program</a:t>
            </a:r>
            <a:endParaRPr lang="en-US" sz="3000" dirty="0"/>
          </a:p>
        </p:txBody>
      </p:sp>
      <p:sp>
        <p:nvSpPr>
          <p:cNvPr id="4" name="Component 01 circle"/>
          <p:cNvSpPr/>
          <p:nvPr/>
        </p:nvSpPr>
        <p:spPr>
          <a:xfrm>
            <a:off x="457200" y="12801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Component 01 icon" descr="Component 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4058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325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3441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Research AI Readiness Assessment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617720" y="12801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Mengukur baseline pengetahuan, penggunaan, dan pemahaman integritas riset terkait AI</a:t>
            </a:r>
            <a:endParaRPr lang="en-US" sz="1400" dirty="0"/>
          </a:p>
        </p:txBody>
      </p:sp>
      <p:sp>
        <p:nvSpPr>
          <p:cNvPr id="9" name="Component 02 circle"/>
          <p:cNvSpPr/>
          <p:nvPr/>
        </p:nvSpPr>
        <p:spPr>
          <a:xfrm>
            <a:off x="457200" y="1947672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Component 02 icon" descr="Component 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073402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19933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645920" y="2011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Research Foundations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194767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Fondasi AI untuk riset: cara kerja, kebijakan, prompting, dan toolkit riset</a:t>
            </a:r>
            <a:endParaRPr lang="en-US" sz="1400" dirty="0"/>
          </a:p>
        </p:txBody>
      </p:sp>
      <p:sp>
        <p:nvSpPr>
          <p:cNvPr id="14" name="Component 03 circle"/>
          <p:cNvSpPr/>
          <p:nvPr/>
        </p:nvSpPr>
        <p:spPr>
          <a:xfrm>
            <a:off x="457200" y="2615184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Component 03 icon" descr="Component 0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2740914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43000" y="266090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645920" y="267919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AI-Assisted Research Clinic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7720" y="2615184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Menerapkan AI pada proyek riset peserta, dari pertanyaan riset hingga draf</a:t>
            </a:r>
            <a:endParaRPr lang="en-US" sz="1400" dirty="0"/>
          </a:p>
        </p:txBody>
      </p:sp>
      <p:sp>
        <p:nvSpPr>
          <p:cNvPr id="19" name="Component 04 circle"/>
          <p:cNvSpPr/>
          <p:nvPr/>
        </p:nvSpPr>
        <p:spPr>
          <a:xfrm>
            <a:off x="457200" y="3282696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Component 04 icon" descr="Component 0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30" y="3408426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43000" y="332841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645920" y="33467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Research Output &amp; Integrity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4617720" y="328269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Mengubah hasil kerja menjadi output riset yang transparan dan siap publikasi</a:t>
            </a:r>
            <a:endParaRPr lang="en-US" sz="1400" dirty="0"/>
          </a:p>
        </p:txBody>
      </p:sp>
      <p:sp>
        <p:nvSpPr>
          <p:cNvPr id="24" name="Component 05 circle"/>
          <p:cNvSpPr/>
          <p:nvPr/>
        </p:nvSpPr>
        <p:spPr>
          <a:xfrm>
            <a:off x="457200" y="3950208"/>
            <a:ext cx="502920" cy="5029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5" name="Component 05 icon" descr="Component 0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" y="4075938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143000" y="399592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1645920" y="4014216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Program Reporting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Laporan partisipasi, perkembangan kemampuan, dan output riset untuk 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PESERTA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Tiga Jalur Peserta</a:t>
            </a:r>
            <a:endParaRPr lang="en-US" sz="3000" dirty="0"/>
          </a:p>
        </p:txBody>
      </p:sp>
      <p:sp>
        <p:nvSpPr>
          <p:cNvPr id="4" name="Track card Dosen &amp; Peneliti"/>
          <p:cNvSpPr/>
          <p:nvPr/>
        </p:nvSpPr>
        <p:spPr>
          <a:xfrm>
            <a:off x="457200" y="1280160"/>
            <a:ext cx="2624328" cy="3154680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rack Dosen &amp; Peneliti circle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Track Dosen &amp; Peneliti icon" descr="Track Dosen &amp; Peneli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6230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194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Dosen &amp; Peneliti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Fokus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0632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Hibah, publikasi jurnal, dan pengabdian masyarakat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67588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Output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9044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 artikel atau proposal hibah</a:t>
            </a:r>
            <a:endParaRPr lang="en-US" sz="1400" dirty="0"/>
          </a:p>
        </p:txBody>
      </p:sp>
      <p:sp>
        <p:nvSpPr>
          <p:cNvPr id="12" name="Track card Mahasiswa Pascasarjana"/>
          <p:cNvSpPr/>
          <p:nvPr/>
        </p:nvSpPr>
        <p:spPr>
          <a:xfrm>
            <a:off x="3264408" y="1280160"/>
            <a:ext cx="2624328" cy="3154680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ck Mahasiswa Pascasarjana circle"/>
          <p:cNvSpPr/>
          <p:nvPr/>
        </p:nvSpPr>
        <p:spPr>
          <a:xfrm>
            <a:off x="3493008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Track Mahasiswa Pascasarjana icon" descr="Track Mahasiswa Pascasarja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3028" y="162306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493008" y="2194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Mahasiswa Pascasarjana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493008" y="2834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Fokus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493008" y="30632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Tesis dan disertasi: tinjauan pustaka, metode, dan analisis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67588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Output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493008" y="39044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Bab tinjauan pustaka atau rancangan metode</a:t>
            </a:r>
            <a:endParaRPr lang="en-US" sz="1400" dirty="0"/>
          </a:p>
        </p:txBody>
      </p:sp>
      <p:sp>
        <p:nvSpPr>
          <p:cNvPr id="20" name="Track card Mahasiswa Tugas Akhir S1"/>
          <p:cNvSpPr/>
          <p:nvPr/>
        </p:nvSpPr>
        <p:spPr>
          <a:xfrm>
            <a:off x="6071616" y="1280160"/>
            <a:ext cx="2624328" cy="3154680"/>
          </a:xfrm>
          <a:prstGeom prst="roundRect">
            <a:avLst>
              <a:gd name="adj" fmla="val 2787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rack Mahasiswa Tugas Akhir S1 circle"/>
          <p:cNvSpPr/>
          <p:nvPr/>
        </p:nvSpPr>
        <p:spPr>
          <a:xfrm>
            <a:off x="6300216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Track Mahasiswa Tugas Akhir S1 icon" descr="Track Mahasiswa Tugas Akhir S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623060"/>
            <a:ext cx="320040" cy="3200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300216" y="21945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Mahasiswa Tugas Akhir S1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6300216" y="2834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Fokus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6300216" y="30632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Karya ilmiah dan tugas akhir program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0216" y="367588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Output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6300216" y="39044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Proposal penelitian yang lebih kuat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LEARNING MODEL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Fleksibel, Terstruktur, Berbasis Proyek Riset</a:t>
            </a:r>
            <a:endParaRPr lang="en-US" sz="3000" dirty="0"/>
          </a:p>
        </p:txBody>
      </p:sp>
      <p:sp>
        <p:nvSpPr>
          <p:cNvPr id="4" name="Model card ASYNCHRONOUS"/>
          <p:cNvSpPr/>
          <p:nvPr/>
        </p:nvSpPr>
        <p:spPr>
          <a:xfrm>
            <a:off x="457200" y="1280160"/>
            <a:ext cx="262432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5" name="Model ASYNCHRONOUS circle"/>
          <p:cNvSpPr/>
          <p:nvPr/>
        </p:nvSpPr>
        <p:spPr>
          <a:xfrm>
            <a:off x="685800" y="14630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6" name="Model ASYNCHRONOUS icon" descr="Model ASYNCHRONO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ASYNCHRONOUS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09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Self-paced Learning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Video &amp; bahan bacaan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Latihan dengan tools AI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Kuis pemahaman</a:t>
            </a:r>
            <a:endParaRPr lang="en-US" sz="1400" dirty="0"/>
          </a:p>
        </p:txBody>
      </p:sp>
      <p:sp>
        <p:nvSpPr>
          <p:cNvPr id="10" name="Model card LIVE"/>
          <p:cNvSpPr/>
          <p:nvPr/>
        </p:nvSpPr>
        <p:spPr>
          <a:xfrm>
            <a:off x="3264408" y="1280160"/>
            <a:ext cx="262432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11" name="Model LIVE circle"/>
          <p:cNvSpPr/>
          <p:nvPr/>
        </p:nvSpPr>
        <p:spPr>
          <a:xfrm>
            <a:off x="3493008" y="14630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Model LIVE icon" descr="Model L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60020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78808" y="14813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LIVE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178808" y="1709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Interactive Workshop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493008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Demo alur riset dengan AI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Praktik terpandu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Diskusi &amp; tanya jawab</a:t>
            </a:r>
            <a:endParaRPr lang="en-US" sz="1400" dirty="0"/>
          </a:p>
        </p:txBody>
      </p:sp>
      <p:sp>
        <p:nvSpPr>
          <p:cNvPr id="16" name="Model card CLINIC"/>
          <p:cNvSpPr/>
          <p:nvPr/>
        </p:nvSpPr>
        <p:spPr>
          <a:xfrm>
            <a:off x="6071616" y="1280160"/>
            <a:ext cx="262432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17" name="Model CLINIC circle"/>
          <p:cNvSpPr/>
          <p:nvPr/>
        </p:nvSpPr>
        <p:spPr>
          <a:xfrm>
            <a:off x="6300216" y="14630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Model CLINIC icon" descr="Model CLINI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60020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986016" y="14813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CLINIC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986016" y="170992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Research Mentoring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300216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Kelompok kecil per bidang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Review proyek peserta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Umpan balik dari mentor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39776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BERBASIS PROYEK NYATA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4206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Peserta bekerja pada riset mereka sendiri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4663440" y="39776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SESUAI ETIKA RISET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4663440" y="4206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Selaras dengan kebijakan penerbit dan integritas akademik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ASSESSMENT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Research AI Readiness Assessment</a:t>
            </a:r>
            <a:endParaRPr lang="en-US" sz="3000" dirty="0"/>
          </a:p>
        </p:txBody>
      </p:sp>
      <p:sp>
        <p:nvSpPr>
          <p:cNvPr id="4" name="Stage dot BASELINE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98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BASELINE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8191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Kondisi awal sebelum program</a:t>
            </a:r>
            <a:endParaRPr lang="en-US" sz="1400" dirty="0"/>
          </a:p>
        </p:txBody>
      </p:sp>
      <p:sp>
        <p:nvSpPr>
          <p:cNvPr id="8" name="Stage dot CHECKPOINT"/>
          <p:cNvSpPr/>
          <p:nvPr/>
        </p:nvSpPr>
        <p:spPr>
          <a:xfrm>
            <a:off x="457200" y="235915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359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CHECKPOINT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6609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Perkembangan setelah fondasi</a:t>
            </a:r>
            <a:endParaRPr lang="en-US" sz="1400" dirty="0"/>
          </a:p>
        </p:txBody>
      </p:sp>
      <p:sp>
        <p:nvSpPr>
          <p:cNvPr id="12" name="Stage dot ENDLINE"/>
          <p:cNvSpPr/>
          <p:nvPr/>
        </p:nvSpPr>
        <p:spPr>
          <a:xfrm>
            <a:off x="457200" y="3438144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4381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456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ENDLINE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37398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Perubahan dibanding baseline</a:t>
            </a:r>
            <a:endParaRPr lang="en-US" sz="1400" dirty="0"/>
          </a:p>
        </p:txBody>
      </p:sp>
      <p:sp>
        <p:nvSpPr>
          <p:cNvPr id="16" name="Question card AI Knowledge"/>
          <p:cNvSpPr/>
          <p:nvPr/>
        </p:nvSpPr>
        <p:spPr>
          <a:xfrm>
            <a:off x="3474720" y="128016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5760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AI Knowledge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171907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Manakah cara paling tepat memverifikasi referensi yang disarankan AI?</a:t>
            </a:r>
            <a:endParaRPr lang="en-US" sz="1400" dirty="0"/>
          </a:p>
        </p:txBody>
      </p:sp>
      <p:sp>
        <p:nvSpPr>
          <p:cNvPr id="19" name="Question card AI Usage in Research"/>
          <p:cNvSpPr/>
          <p:nvPr/>
        </p:nvSpPr>
        <p:spPr>
          <a:xfrm>
            <a:off x="6126480" y="128016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936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AI Usage in Research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71907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Dalam 30 hari terakhir, seberapa sering Anda memakai AI untuk mencari atau merangkum literatur?</a:t>
            </a:r>
            <a:endParaRPr lang="en-US" sz="1400" dirty="0"/>
          </a:p>
        </p:txBody>
      </p:sp>
      <p:sp>
        <p:nvSpPr>
          <p:cNvPr id="22" name="Question card Research Integrity"/>
          <p:cNvSpPr/>
          <p:nvPr/>
        </p:nvSpPr>
        <p:spPr>
          <a:xfrm>
            <a:off x="3474720" y="292608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5760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Research Integrity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Apakah Anda tahu kebijakan jurnal target Anda tentang pengungkapan penggunaan AI?</a:t>
            </a:r>
            <a:endParaRPr lang="en-US" sz="1400" dirty="0"/>
          </a:p>
        </p:txBody>
      </p:sp>
      <p:sp>
        <p:nvSpPr>
          <p:cNvPr id="25" name="Question card AI Application"/>
          <p:cNvSpPr/>
          <p:nvPr/>
        </p:nvSpPr>
        <p:spPr>
          <a:xfrm>
            <a:off x="6126480" y="292608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09360" y="3063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AI Application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3364992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Anda perlu meninjau 20 artikel. Alur penggunaan AI mana yang paling tepat?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PHASE 1 · ±6 JAM · ASYNCHRONOUS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Research Foundations</a:t>
            </a:r>
            <a:endParaRPr lang="en-US" sz="3000" dirty="0"/>
          </a:p>
        </p:txBody>
      </p:sp>
      <p:sp>
        <p:nvSpPr>
          <p:cNvPr id="4" name="Module card AI &amp; LLM untuk Riset"/>
          <p:cNvSpPr/>
          <p:nvPr/>
        </p:nvSpPr>
        <p:spPr>
          <a:xfrm>
            <a:off x="457200" y="128016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Module AI &amp; LLM untuk Riset circle"/>
          <p:cNvSpPr/>
          <p:nvPr/>
        </p:nvSpPr>
        <p:spPr>
          <a:xfrm>
            <a:off x="685800" y="1554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Module AI &amp; LLM untuk Riset icon" descr="Module AI &amp; LLM untuk Ris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7145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01  AI &amp; LLM untuk Riset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847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Cara kerja, kemampuan, batasan, hallucination</a:t>
            </a:r>
            <a:endParaRPr lang="en-US" sz="1400" dirty="0"/>
          </a:p>
        </p:txBody>
      </p:sp>
      <p:sp>
        <p:nvSpPr>
          <p:cNvPr id="9" name="Module card Integritas &amp; Kebijakan AI"/>
          <p:cNvSpPr/>
          <p:nvPr/>
        </p:nvSpPr>
        <p:spPr>
          <a:xfrm>
            <a:off x="4663440" y="128016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0" name="Module Integritas &amp; Kebijakan AI circle"/>
          <p:cNvSpPr/>
          <p:nvPr/>
        </p:nvSpPr>
        <p:spPr>
          <a:xfrm>
            <a:off x="4892040" y="15544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Module Integritas &amp; Kebijakan AI icon" descr="Module Integritas &amp; Kebijakan A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60" y="17145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1463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02  Integritas &amp; Kebijakan AI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715000" y="18470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Disclosure, plagiarisme, kebijakan penerbit, data responden</a:t>
            </a:r>
            <a:endParaRPr lang="en-US" sz="1400" dirty="0"/>
          </a:p>
        </p:txBody>
      </p:sp>
      <p:sp>
        <p:nvSpPr>
          <p:cNvPr id="14" name="Module card Prompting untuk Riset"/>
          <p:cNvSpPr/>
          <p:nvPr/>
        </p:nvSpPr>
        <p:spPr>
          <a:xfrm>
            <a:off x="457200" y="265176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5" name="Module Prompting untuk Riset circle"/>
          <p:cNvSpPr/>
          <p:nvPr/>
        </p:nvSpPr>
        <p:spPr>
          <a:xfrm>
            <a:off x="685800" y="2926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Module Prompting untuk Riset icon" descr="Module Prompting untuk Ri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30861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03  Prompting untuk Riset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508760" y="32186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Struktur prompt, konteks, iterasi, prompt bertahap</a:t>
            </a:r>
            <a:endParaRPr lang="en-US" sz="1400" dirty="0"/>
          </a:p>
        </p:txBody>
      </p:sp>
      <p:sp>
        <p:nvSpPr>
          <p:cNvPr id="19" name="Module card Research AI Toolkit"/>
          <p:cNvSpPr/>
          <p:nvPr/>
        </p:nvSpPr>
        <p:spPr>
          <a:xfrm>
            <a:off x="4663440" y="265176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0" name="Module Research AI Toolkit circle"/>
          <p:cNvSpPr/>
          <p:nvPr/>
        </p:nvSpPr>
        <p:spPr>
          <a:xfrm>
            <a:off x="4892040" y="2926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Module Research AI Toolkit icon" descr="Module Research AI Toolki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308610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04  Research AI Toolkit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715000" y="32186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Pencarian literatur, referensi, analisis data, penulisan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Learning output: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peserta memakai AI untuk riset secara efektif, kritis, dan sesuai etika akademik.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PHASE 2 · ±6 JAM · LIVE + CLINIC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AI-Assisted Research Clinic</a:t>
            </a:r>
            <a:endParaRPr lang="en-US" sz="3000" dirty="0"/>
          </a:p>
        </p:txBody>
      </p:sp>
      <p:sp>
        <p:nvSpPr>
          <p:cNvPr id="4" name="Step card QUESTION"/>
          <p:cNvSpPr/>
          <p:nvPr/>
        </p:nvSpPr>
        <p:spPr>
          <a:xfrm>
            <a:off x="457200" y="1280160"/>
            <a:ext cx="2624328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4813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QUESTION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385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Merumuskan pertanyaan dan celah riset</a:t>
            </a:r>
            <a:endParaRPr lang="en-US" sz="1400" dirty="0"/>
          </a:p>
        </p:txBody>
      </p:sp>
      <p:sp>
        <p:nvSpPr>
          <p:cNvPr id="8" name="Step card LITERATURE"/>
          <p:cNvSpPr/>
          <p:nvPr/>
        </p:nvSpPr>
        <p:spPr>
          <a:xfrm>
            <a:off x="3264408" y="1280160"/>
            <a:ext cx="2624328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4173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950208" y="14813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LITERATURE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9385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Menelusuri dan memetakan literatur</a:t>
            </a:r>
            <a:endParaRPr lang="en-US" sz="1400" dirty="0"/>
          </a:p>
        </p:txBody>
      </p:sp>
      <p:sp>
        <p:nvSpPr>
          <p:cNvPr id="12" name="Step card METHOD"/>
          <p:cNvSpPr/>
          <p:nvPr/>
        </p:nvSpPr>
        <p:spPr>
          <a:xfrm>
            <a:off x="6071616" y="1280160"/>
            <a:ext cx="2624328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54496" y="14173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757416" y="14813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METHOD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54496" y="19385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Merancang metode dan instrumen</a:t>
            </a:r>
            <a:endParaRPr lang="en-US" sz="1400" dirty="0"/>
          </a:p>
        </p:txBody>
      </p:sp>
      <p:sp>
        <p:nvSpPr>
          <p:cNvPr id="16" name="Step card ANALYZE"/>
          <p:cNvSpPr/>
          <p:nvPr/>
        </p:nvSpPr>
        <p:spPr>
          <a:xfrm>
            <a:off x="457200" y="2697480"/>
            <a:ext cx="2624328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28346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986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ANALYZE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355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Mengolah data kuantitatif dan kualitatif</a:t>
            </a:r>
            <a:endParaRPr lang="en-US" sz="1400" dirty="0"/>
          </a:p>
        </p:txBody>
      </p:sp>
      <p:sp>
        <p:nvSpPr>
          <p:cNvPr id="20" name="Step card VERIFY"/>
          <p:cNvSpPr/>
          <p:nvPr/>
        </p:nvSpPr>
        <p:spPr>
          <a:xfrm>
            <a:off x="3264408" y="2697480"/>
            <a:ext cx="2624328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47288" y="28346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3950208" y="28986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VERIFY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447288" y="3355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Memeriksa sumber, hasil, dan bias</a:t>
            </a:r>
            <a:endParaRPr lang="en-US" sz="1400" dirty="0"/>
          </a:p>
        </p:txBody>
      </p:sp>
      <p:sp>
        <p:nvSpPr>
          <p:cNvPr id="24" name="Step card WRITE"/>
          <p:cNvSpPr/>
          <p:nvPr/>
        </p:nvSpPr>
        <p:spPr>
          <a:xfrm>
            <a:off x="6071616" y="2697480"/>
            <a:ext cx="2624328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54496" y="28346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6757416" y="289864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WRITE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254496" y="335584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Menyusun draf dan pernyataan penggunaan AI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Output: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setiap peserta memajukan satu proyek riset nyata dengan bantuan AI yang terdokumentasi dan terverifikasi.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PHASE 2 · TOOLKIT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Tools per Tahap Riset dan Apa yang Diverifikasi</a:t>
            </a:r>
            <a:endParaRPr lang="en-US" sz="3000" dirty="0"/>
          </a:p>
        </p:txBody>
      </p:sp>
      <p:graphicFrame>
        <p:nvGraphicFramePr>
          <p:cNvPr id="17" name="Too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Tahap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Contoh tools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Wajib diverifikasi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Literatur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Semantic Scholar, Elicit, Consensus, Scite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Sumber benar-benar ada dan isinya sesuai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Membaca &amp; merangkum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NotebookLM, chatbot AI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Ringkasan sesuai teks asli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Analisis data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Spreadsheet, Python/R dengan asisten AI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Hitungan ulang dan asumsi statistik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Analisis kualitatif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Fitur AI di ATLAS.ti atau NVivo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Konsistensi koding dan interpretasi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Penulisan &amp; referensi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Zotero, chatbot untuk penyuntingan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Orisinalitas, sitasi, disclosure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4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Tools dapat disesuaikan dengan langganan dan lisensi yang dimiliki UT.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CASE EXAMPLE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Tinjauan Pustaka Sistematis dengan AI</a:t>
            </a:r>
            <a:endParaRPr lang="en-US" sz="3000" dirty="0"/>
          </a:p>
        </p:txBody>
      </p:sp>
      <p:sp>
        <p:nvSpPr>
          <p:cNvPr id="4" name="Case problem panel"/>
          <p:cNvSpPr/>
          <p:nvPr/>
        </p:nvSpPr>
        <p:spPr>
          <a:xfrm>
            <a:off x="457200" y="1280160"/>
            <a:ext cx="2834640" cy="320040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PROBLEM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Seorang dosen ingin memetakan riset tentang pembelajaran jarak jauh di Indonesia periode 2020–2025.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Output: draf tinjauan pustaka dengan diagram PRISMA dan pernyataan penggunaan AI</a:t>
            </a:r>
            <a:endParaRPr lang="en-US" sz="1400" dirty="0"/>
          </a:p>
        </p:txBody>
      </p:sp>
      <p:sp>
        <p:nvSpPr>
          <p:cNvPr id="8" name="Case step dot 1"/>
          <p:cNvSpPr/>
          <p:nvPr/>
        </p:nvSpPr>
        <p:spPr>
          <a:xfrm>
            <a:off x="3520440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0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RUMUSKAN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6276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Pertanyaan dan kriteria inklusi</a:t>
            </a:r>
            <a:endParaRPr lang="en-US" sz="1400" dirty="0"/>
          </a:p>
        </p:txBody>
      </p:sp>
      <p:sp>
        <p:nvSpPr>
          <p:cNvPr id="12" name="Case step dot 2"/>
          <p:cNvSpPr/>
          <p:nvPr/>
        </p:nvSpPr>
        <p:spPr>
          <a:xfrm>
            <a:off x="6126480" y="1325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TELUSURI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6276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Scopus, Garuda, dan pencarian berbasis AI</a:t>
            </a:r>
            <a:endParaRPr lang="en-US" sz="1400" dirty="0"/>
          </a:p>
        </p:txBody>
      </p:sp>
      <p:sp>
        <p:nvSpPr>
          <p:cNvPr id="16" name="Case step dot 3"/>
          <p:cNvSpPr/>
          <p:nvPr/>
        </p:nvSpPr>
        <p:spPr>
          <a:xfrm>
            <a:off x="3520440" y="24231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2044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SARING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114800" y="272491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membantu screening; peneliti memutuskan</a:t>
            </a:r>
            <a:endParaRPr lang="en-US" sz="1400" dirty="0"/>
          </a:p>
        </p:txBody>
      </p:sp>
      <p:sp>
        <p:nvSpPr>
          <p:cNvPr id="20" name="Case step dot 4"/>
          <p:cNvSpPr/>
          <p:nvPr/>
        </p:nvSpPr>
        <p:spPr>
          <a:xfrm>
            <a:off x="6126480" y="24231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2648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EKSTRAKSI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272491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Tabel temuan dengan bantuan NotebookLM</a:t>
            </a:r>
            <a:endParaRPr lang="en-US" sz="1400" dirty="0"/>
          </a:p>
        </p:txBody>
      </p:sp>
      <p:sp>
        <p:nvSpPr>
          <p:cNvPr id="24" name="Case step dot 5"/>
          <p:cNvSpPr/>
          <p:nvPr/>
        </p:nvSpPr>
        <p:spPr>
          <a:xfrm>
            <a:off x="3520440" y="35204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204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11480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VERIFIKASI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0" y="382219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Cek DOI dan baca ulang sampel artikel</a:t>
            </a:r>
            <a:endParaRPr lang="en-US" sz="1400" dirty="0"/>
          </a:p>
        </p:txBody>
      </p:sp>
      <p:sp>
        <p:nvSpPr>
          <p:cNvPr id="28" name="Case step dot 6"/>
          <p:cNvSpPr/>
          <p:nvPr/>
        </p:nvSpPr>
        <p:spPr>
          <a:xfrm>
            <a:off x="6126480" y="35204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264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720840" y="3520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SINTESIS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382219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Draf, diagram PRISMA, dan disclosure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PHASE 3 · ±2 JAM · ASYNC + KONSULTASI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Research Output &amp; Integrity</a:t>
            </a:r>
            <a:endParaRPr lang="en-US" sz="3000" dirty="0"/>
          </a:p>
        </p:txBody>
      </p:sp>
      <p:sp>
        <p:nvSpPr>
          <p:cNvPr id="4" name="Output card Research Output"/>
          <p:cNvSpPr/>
          <p:nvPr/>
        </p:nvSpPr>
        <p:spPr>
          <a:xfrm>
            <a:off x="457200" y="128016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Output Research Output circle"/>
          <p:cNvSpPr/>
          <p:nvPr/>
        </p:nvSpPr>
        <p:spPr>
          <a:xfrm>
            <a:off x="640080" y="1463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Output Research Output icon" descr="Output Research Outp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670" y="161163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945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Research Output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346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 artikel, proposal hibah, atau bab tesis</a:t>
            </a:r>
            <a:endParaRPr lang="en-US" sz="1400" dirty="0"/>
          </a:p>
        </p:txBody>
      </p:sp>
      <p:sp>
        <p:nvSpPr>
          <p:cNvPr id="9" name="Output card AI Disclosure &amp; Log"/>
          <p:cNvSpPr/>
          <p:nvPr/>
        </p:nvSpPr>
        <p:spPr>
          <a:xfrm>
            <a:off x="2560320" y="128016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Output AI Disclosure &amp; Log circle"/>
          <p:cNvSpPr/>
          <p:nvPr/>
        </p:nvSpPr>
        <p:spPr>
          <a:xfrm>
            <a:off x="2743200" y="1463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Output AI Disclosure &amp; Log icon" descr="Output AI Disclosure &amp; 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1790" y="161163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21945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Disclosure &amp; Log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8346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Pernyataan dan catatan penggunaan AI</a:t>
            </a:r>
            <a:endParaRPr lang="en-US" sz="1400" dirty="0"/>
          </a:p>
        </p:txBody>
      </p:sp>
      <p:sp>
        <p:nvSpPr>
          <p:cNvPr id="14" name="Output card Data &amp; Privacy Plan"/>
          <p:cNvSpPr/>
          <p:nvPr/>
        </p:nvSpPr>
        <p:spPr>
          <a:xfrm>
            <a:off x="4663440" y="128016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Output Data &amp; Privacy Plan circle"/>
          <p:cNvSpPr/>
          <p:nvPr/>
        </p:nvSpPr>
        <p:spPr>
          <a:xfrm>
            <a:off x="4846320" y="1463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Output Data &amp; Privacy Plan icon" descr="Output Data &amp; Privacy Pl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910" y="161163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46320" y="21945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 &amp; Privacy Plan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846320" y="28346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Pengelolaan data riset dan data responden</a:t>
            </a:r>
            <a:endParaRPr lang="en-US" sz="1400" dirty="0"/>
          </a:p>
        </p:txBody>
      </p:sp>
      <p:sp>
        <p:nvSpPr>
          <p:cNvPr id="19" name="Output card 90-Day Research Roadmap"/>
          <p:cNvSpPr/>
          <p:nvPr/>
        </p:nvSpPr>
        <p:spPr>
          <a:xfrm>
            <a:off x="6766560" y="1280160"/>
            <a:ext cx="1920240" cy="25146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Output 90-Day Research Roadmap circle"/>
          <p:cNvSpPr/>
          <p:nvPr/>
        </p:nvSpPr>
        <p:spPr>
          <a:xfrm>
            <a:off x="6949440" y="14630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Output 90-Day Research Roadmap icon" descr="Output 90-Day Research Roadm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30" y="1611630"/>
            <a:ext cx="297180" cy="2971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9440" y="21945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90-Day Research Roadmap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949440" y="283464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Target jurnal, hibah, dan linimasa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Outcome: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peserta menghasilkan output riset nyata dan mampu menjelaskan secara transparan bagaimana AI dipakai.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INTEGRITAS RISET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Membantu, Peneliti Bertanggung Jawab</a:t>
            </a:r>
            <a:endParaRPr lang="en-US" sz="3000" dirty="0"/>
          </a:p>
        </p:txBody>
      </p:sp>
      <p:sp>
        <p:nvSpPr>
          <p:cNvPr id="4" name="Guardrail 1 circle"/>
          <p:cNvSpPr/>
          <p:nvPr/>
        </p:nvSpPr>
        <p:spPr>
          <a:xfrm>
            <a:off x="457200" y="13716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Guardrail 1 icon" descr="Guardrail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5430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bukan penulis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Sejalan dengan posisi COPE dan kebijakan penerbit besar</a:t>
            </a:r>
            <a:endParaRPr lang="en-US" sz="1400" dirty="0"/>
          </a:p>
        </p:txBody>
      </p:sp>
      <p:sp>
        <p:nvSpPr>
          <p:cNvPr id="8" name="Guardrail 2 circle"/>
          <p:cNvSpPr/>
          <p:nvPr/>
        </p:nvSpPr>
        <p:spPr>
          <a:xfrm>
            <a:off x="4663440" y="137160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9" name="Guardrail 2 icon" descr="Guardrail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1543050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53212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Ungkapkan penggunaan AI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532120" y="175564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Sesuai ketentuan jurnal atau lembaga pemberi hibah</a:t>
            </a:r>
            <a:endParaRPr lang="en-US" sz="1400" dirty="0"/>
          </a:p>
        </p:txBody>
      </p:sp>
      <p:sp>
        <p:nvSpPr>
          <p:cNvPr id="12" name="Guardrail 3 circle"/>
          <p:cNvSpPr/>
          <p:nvPr/>
        </p:nvSpPr>
        <p:spPr>
          <a:xfrm>
            <a:off x="457200" y="2834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3" name="Guardrail 3 icon" descr="Guardrail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3006090"/>
            <a:ext cx="342900" cy="342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Verifikasi sumber dan angka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321868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Tidak ada referensi atau hasil yang dipakai tanpa dicek</a:t>
            </a:r>
            <a:endParaRPr lang="en-US" sz="1400" dirty="0"/>
          </a:p>
        </p:txBody>
      </p:sp>
      <p:sp>
        <p:nvSpPr>
          <p:cNvPr id="16" name="Guardrail 4 circle"/>
          <p:cNvSpPr/>
          <p:nvPr/>
        </p:nvSpPr>
        <p:spPr>
          <a:xfrm>
            <a:off x="4663440" y="283464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Guardrail 4 icon" descr="Guardrail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4890" y="3006090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3212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Lindungi data responden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532120" y="321868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Tidak mengunggah data identitas ke tools AI publik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03 · PROGRAM REPORTING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Visibilitas Penuh untuk UT</a:t>
            </a:r>
            <a:endParaRPr lang="en-US" sz="3000" dirty="0"/>
          </a:p>
        </p:txBody>
      </p:sp>
      <p:sp>
        <p:nvSpPr>
          <p:cNvPr id="4" name="Report card Partisipasi"/>
          <p:cNvSpPr/>
          <p:nvPr/>
        </p:nvSpPr>
        <p:spPr>
          <a:xfrm>
            <a:off x="457200" y="128016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Report Partisipasi circle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Report Partisipasi icon" descr="Report Partisip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148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Partisipasi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Registrasi, kehadiran, dan penyelesaian per jalur</a:t>
            </a:r>
            <a:endParaRPr lang="en-US" sz="1400" dirty="0"/>
          </a:p>
        </p:txBody>
      </p:sp>
      <p:sp>
        <p:nvSpPr>
          <p:cNvPr id="9" name="Report card Readiness"/>
          <p:cNvSpPr/>
          <p:nvPr/>
        </p:nvSpPr>
        <p:spPr>
          <a:xfrm>
            <a:off x="2560320" y="128016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0" name="Report Readiness circle"/>
          <p:cNvSpPr/>
          <p:nvPr/>
        </p:nvSpPr>
        <p:spPr>
          <a:xfrm>
            <a:off x="2743200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Report Readiness icon" descr="Report Readin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002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2148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Readiness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Perubahan skor baseline ke endline per dimensi</a:t>
            </a:r>
            <a:endParaRPr lang="en-US" sz="1400" dirty="0"/>
          </a:p>
        </p:txBody>
      </p:sp>
      <p:sp>
        <p:nvSpPr>
          <p:cNvPr id="14" name="Report card Output Riset"/>
          <p:cNvSpPr/>
          <p:nvPr/>
        </p:nvSpPr>
        <p:spPr>
          <a:xfrm>
            <a:off x="4663440" y="128016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5" name="Report Output Riset circle"/>
          <p:cNvSpPr/>
          <p:nvPr/>
        </p:nvSpPr>
        <p:spPr>
          <a:xfrm>
            <a:off x="4846320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Report Output Riset icon" descr="Report Output Ris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6002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846320" y="2148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Output Riset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846320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Jumlah draf artikel, proposal hibah, dan bab tesis</a:t>
            </a:r>
            <a:endParaRPr lang="en-US" sz="1400" dirty="0"/>
          </a:p>
        </p:txBody>
      </p:sp>
      <p:sp>
        <p:nvSpPr>
          <p:cNvPr id="19" name="Report card Integritas"/>
          <p:cNvSpPr/>
          <p:nvPr/>
        </p:nvSpPr>
        <p:spPr>
          <a:xfrm>
            <a:off x="6766560" y="128016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20" name="Report Integritas circle"/>
          <p:cNvSpPr/>
          <p:nvPr/>
        </p:nvSpPr>
        <p:spPr>
          <a:xfrm>
            <a:off x="6949440" y="14630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Report Integritas icon" descr="Report Integrit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16002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9440" y="2148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Integritas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949440" y="251460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Kelengkapan disclosure dan log penggunaan AI</a:t>
            </a:r>
            <a:endParaRPr lang="en-US" sz="1400" dirty="0"/>
          </a:p>
        </p:txBody>
      </p:sp>
      <p:sp>
        <p:nvSpPr>
          <p:cNvPr id="24" name="Timeline line"/>
          <p:cNvSpPr/>
          <p:nvPr/>
        </p:nvSpPr>
        <p:spPr>
          <a:xfrm>
            <a:off x="566928" y="3657600"/>
            <a:ext cx="731520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5" name="Timeline dot 1"/>
          <p:cNvSpPr/>
          <p:nvPr/>
        </p:nvSpPr>
        <p:spPr>
          <a:xfrm>
            <a:off x="457200" y="354787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457200" y="3858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Laporan awal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133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Profil peserta &amp; baseline</a:t>
            </a:r>
            <a:endParaRPr lang="en-US" sz="1400" dirty="0"/>
          </a:p>
        </p:txBody>
      </p:sp>
      <p:sp>
        <p:nvSpPr>
          <p:cNvPr id="28" name="Timeline dot 2"/>
          <p:cNvSpPr/>
          <p:nvPr/>
        </p:nvSpPr>
        <p:spPr>
          <a:xfrm>
            <a:off x="3264408" y="354787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3264408" y="3858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Laporan progres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3264408" y="4133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Penyelesaian &amp; checkpoint</a:t>
            </a:r>
            <a:endParaRPr lang="en-US" sz="1400" dirty="0"/>
          </a:p>
        </p:txBody>
      </p:sp>
      <p:sp>
        <p:nvSpPr>
          <p:cNvPr id="31" name="Timeline dot 3"/>
          <p:cNvSpPr/>
          <p:nvPr/>
        </p:nvSpPr>
        <p:spPr>
          <a:xfrm>
            <a:off x="6071616" y="3547872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6071616" y="38587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Laporan akhir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071616" y="41330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Endline, output &amp; rekomendasi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48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Investasi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017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Skema implementasi dan cakupan program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04 · INVESTASI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Program Investment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Investasi program ditanggung oleh Universitas Terbuka sebagai bagian dari inisiatif penguatan kapasitas riset berbasis AI.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48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INVESTMENT INCLUDES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Desain program dan konten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Async learning dan live workshop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Research clinic dan mentoring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Assessment baseline, checkpoint, endline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Dukungan output riset dan integritas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Program reporting</a:t>
            </a:r>
            <a:endParaRPr lang="en-US" sz="1400" dirty="0"/>
          </a:p>
        </p:txBody>
      </p:sp>
      <p:sp>
        <p:nvSpPr>
          <p:cNvPr id="7" name="Investment panel"/>
          <p:cNvSpPr/>
          <p:nvPr/>
        </p:nvSpPr>
        <p:spPr>
          <a:xfrm>
            <a:off x="5486400" y="1280160"/>
            <a:ext cx="3200400" cy="324612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1500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UT AI RESEARCH ACCELERATOR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71500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Cakupan program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71500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Hingga 300 peserta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715000" y="2560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dosen, peneliti, dan mahasiswa pascasarjana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Nilai investasi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3520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Disusun setelah konfirmasi jumlah peserta dan cakupan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Langkah Selanjutnya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Mari mulai dari pilot yang terukur</a:t>
            </a:r>
            <a:endParaRPr lang="en-US" sz="1800" dirty="0"/>
          </a:p>
        </p:txBody>
      </p:sp>
      <p:sp>
        <p:nvSpPr>
          <p:cNvPr id="4" name="Next step card 1"/>
          <p:cNvSpPr/>
          <p:nvPr/>
        </p:nvSpPr>
        <p:spPr>
          <a:xfrm>
            <a:off x="548640" y="2560320"/>
            <a:ext cx="1874520" cy="1783080"/>
          </a:xfrm>
          <a:prstGeom prst="roundRect">
            <a:avLst>
              <a:gd name="adj" fmla="val 4103"/>
            </a:avLst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743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Diskusi kebutuhan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Prioritas bidang riset UT</a:t>
            </a:r>
            <a:endParaRPr lang="en-US" sz="1400" dirty="0"/>
          </a:p>
        </p:txBody>
      </p:sp>
      <p:sp>
        <p:nvSpPr>
          <p:cNvPr id="8" name="Next step card 2"/>
          <p:cNvSpPr/>
          <p:nvPr/>
        </p:nvSpPr>
        <p:spPr>
          <a:xfrm>
            <a:off x="2606040" y="2560320"/>
            <a:ext cx="1874520" cy="1783080"/>
          </a:xfrm>
          <a:prstGeom prst="roundRect">
            <a:avLst>
              <a:gd name="adj" fmla="val 4103"/>
            </a:avLst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88920" y="2743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Konfirmasi cakupan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Jumlah peserta dan jadwal</a:t>
            </a:r>
            <a:endParaRPr lang="en-US" sz="1400" dirty="0"/>
          </a:p>
        </p:txBody>
      </p:sp>
      <p:sp>
        <p:nvSpPr>
          <p:cNvPr id="12" name="Next step card 3"/>
          <p:cNvSpPr/>
          <p:nvPr/>
        </p:nvSpPr>
        <p:spPr>
          <a:xfrm>
            <a:off x="4663440" y="2560320"/>
            <a:ext cx="1874520" cy="1783080"/>
          </a:xfrm>
          <a:prstGeom prst="roundRect">
            <a:avLst>
              <a:gd name="adj" fmla="val 4103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743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Pilot batch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±50 peserta, 1 siklus</a:t>
            </a:r>
            <a:endParaRPr lang="en-US" sz="1400" dirty="0"/>
          </a:p>
        </p:txBody>
      </p:sp>
      <p:sp>
        <p:nvSpPr>
          <p:cNvPr id="16" name="Next step card 4"/>
          <p:cNvSpPr/>
          <p:nvPr/>
        </p:nvSpPr>
        <p:spPr>
          <a:xfrm>
            <a:off x="6720840" y="2560320"/>
            <a:ext cx="1874520" cy="1783080"/>
          </a:xfrm>
          <a:prstGeom prst="roundRect">
            <a:avLst>
              <a:gd name="adj" fmla="val 4103"/>
            </a:avLst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03720" y="2743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246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Skala penuh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37947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Berdasarkan hasil pilot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earch Ink">
  <a:themeElements>
    <a:clrScheme name="Research Ink">
      <a:dk1>
        <a:srgbClr val="1B1F24"/>
      </a:dk1>
      <a:lt1>
        <a:srgbClr val="FFFFFF"/>
      </a:lt1>
      <a:dk2>
        <a:srgbClr val="13343B"/>
      </a:dk2>
      <a:lt2>
        <a:srgbClr val="EEF4F3"/>
      </a:lt2>
      <a:accent1>
        <a:srgbClr val="F2A541"/>
      </a:accent1>
      <a:accent2>
        <a:srgbClr val="2A9D8F"/>
      </a:accent2>
      <a:accent3>
        <a:srgbClr val="E76F51"/>
      </a:accent3>
      <a:accent4>
        <a:srgbClr val="264653"/>
      </a:accent4>
      <a:accent5>
        <a:srgbClr val="8AB17D"/>
      </a:accent5>
      <a:accent6>
        <a:srgbClr val="6C757D"/>
      </a:accent6>
      <a:hlink>
        <a:srgbClr val="2A9D8F"/>
      </a:hlink>
      <a:folHlink>
        <a:srgbClr val="264653"/>
      </a:folHlink>
    </a:clrScheme>
    <a:fontScheme name="Research In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PT Pusat Inovasi Nusantara (IYKRA)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Research Accelerator — Universitas Terbuka</dc:title>
  <dc:subject>PptxGenJS Presentation</dc:subject>
  <dc:creator>IYKRA</dc:creator>
  <cp:lastModifiedBy>IYKRA</cp:lastModifiedBy>
  <cp:revision>1</cp:revision>
  <dcterms:created xsi:type="dcterms:W3CDTF">2026-10-05T09:39:51Z</dcterms:created>
  <dcterms:modified xsi:type="dcterms:W3CDTF">2026-10-05T09:39:51Z</dcterms:modified>
</cp:coreProperties>
</file>